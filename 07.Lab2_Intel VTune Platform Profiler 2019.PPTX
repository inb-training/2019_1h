
<file path=[Content_Types].xml><?xml version="1.0" encoding="utf-8"?>
<Types xmlns="http://schemas.openxmlformats.org/package/2006/content-types">
  <Default Extension="png" ContentType="image/png"/>
  <Default Extension="tmp"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1"/>
  </p:sldMasterIdLst>
  <p:notesMasterIdLst>
    <p:notesMasterId r:id="rId38"/>
  </p:notesMasterIdLst>
  <p:sldIdLst>
    <p:sldId id="256" r:id="rId2"/>
    <p:sldId id="333" r:id="rId3"/>
    <p:sldId id="258" r:id="rId4"/>
    <p:sldId id="326" r:id="rId5"/>
    <p:sldId id="264" r:id="rId6"/>
    <p:sldId id="265" r:id="rId7"/>
    <p:sldId id="261" r:id="rId8"/>
    <p:sldId id="262" r:id="rId9"/>
    <p:sldId id="267" r:id="rId10"/>
    <p:sldId id="269" r:id="rId11"/>
    <p:sldId id="270" r:id="rId12"/>
    <p:sldId id="327" r:id="rId13"/>
    <p:sldId id="271" r:id="rId14"/>
    <p:sldId id="307" r:id="rId15"/>
    <p:sldId id="286" r:id="rId16"/>
    <p:sldId id="331" r:id="rId17"/>
    <p:sldId id="295" r:id="rId18"/>
    <p:sldId id="332" r:id="rId19"/>
    <p:sldId id="297" r:id="rId20"/>
    <p:sldId id="298" r:id="rId21"/>
    <p:sldId id="299" r:id="rId22"/>
    <p:sldId id="300" r:id="rId23"/>
    <p:sldId id="301" r:id="rId24"/>
    <p:sldId id="302" r:id="rId25"/>
    <p:sldId id="303" r:id="rId26"/>
    <p:sldId id="304" r:id="rId27"/>
    <p:sldId id="305" r:id="rId28"/>
    <p:sldId id="306" r:id="rId29"/>
    <p:sldId id="317" r:id="rId30"/>
    <p:sldId id="318" r:id="rId31"/>
    <p:sldId id="319" r:id="rId32"/>
    <p:sldId id="320" r:id="rId33"/>
    <p:sldId id="321" r:id="rId34"/>
    <p:sldId id="323" r:id="rId35"/>
    <p:sldId id="325" r:id="rId36"/>
    <p:sldId id="257" r:id="rId37"/>
  </p:sldIdLst>
  <p:sldSz cx="12192000" cy="6858000"/>
  <p:notesSz cx="6858000" cy="9144000"/>
  <p:embeddedFontLst>
    <p:embeddedFont>
      <p:font typeface="Calibri" panose="020F0502020204030204" pitchFamily="34" charset="0"/>
      <p:regular r:id="rId39"/>
      <p:bold r:id="rId40"/>
      <p:italic r:id="rId41"/>
      <p:boldItalic r:id="rId42"/>
    </p:embeddedFont>
    <p:embeddedFont>
      <p:font typeface="Consolas" panose="020B0609020204030204" pitchFamily="49" charset="0"/>
      <p:regular r:id="rId43"/>
      <p:bold r:id="rId44"/>
      <p:italic r:id="rId45"/>
      <p:boldItalic r:id="rId46"/>
    </p:embeddedFont>
    <p:embeddedFont>
      <p:font typeface="Intel Clear" panose="020B0604020203020204" pitchFamily="34" charset="0"/>
      <p:regular r:id="rId47"/>
      <p:bold r:id="rId48"/>
      <p:italic r:id="rId49"/>
      <p:boldItalic r:id="rId50"/>
    </p:embeddedFont>
    <p:embeddedFont>
      <p:font typeface="Intel Clear Pro" panose="020B0804020202060201" pitchFamily="34" charset="0"/>
      <p:bold r:id="rId5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16BFC39-56C5-472B-BEFC-CC68A3D7879E}">
          <p14:sldIdLst>
            <p14:sldId id="256"/>
            <p14:sldId id="333"/>
            <p14:sldId id="258"/>
            <p14:sldId id="326"/>
          </p14:sldIdLst>
        </p14:section>
        <p14:section name="VTune Performance Analysis" id="{13A4B7F5-4D26-4F35-B243-3B6641D8EAC6}">
          <p14:sldIdLst>
            <p14:sldId id="264"/>
            <p14:sldId id="265"/>
          </p14:sldIdLst>
        </p14:section>
        <p14:section name="Platform Profiler" id="{86661528-FEB6-4978-B47B-7AAA5208DF71}">
          <p14:sldIdLst>
            <p14:sldId id="261"/>
            <p14:sldId id="262"/>
            <p14:sldId id="267"/>
            <p14:sldId id="269"/>
            <p14:sldId id="270"/>
            <p14:sldId id="327"/>
            <p14:sldId id="271"/>
          </p14:sldIdLst>
        </p14:section>
        <p14:section name="Using VPP - Collection - Viewing" id="{C025BCB4-EC1E-43A7-9574-71CB3DD9C14C}">
          <p14:sldIdLst>
            <p14:sldId id="307"/>
            <p14:sldId id="286"/>
            <p14:sldId id="331"/>
            <p14:sldId id="295"/>
            <p14:sldId id="332"/>
            <p14:sldId id="297"/>
            <p14:sldId id="298"/>
            <p14:sldId id="299"/>
            <p14:sldId id="300"/>
            <p14:sldId id="301"/>
            <p14:sldId id="302"/>
            <p14:sldId id="303"/>
            <p14:sldId id="304"/>
            <p14:sldId id="305"/>
            <p14:sldId id="306"/>
          </p14:sldIdLst>
        </p14:section>
        <p14:section name="High Level Explanation of Metrics" id="{CB7EE2DE-B5A7-426E-B419-AC6A06D8C172}">
          <p14:sldIdLst>
            <p14:sldId id="317"/>
            <p14:sldId id="318"/>
            <p14:sldId id="319"/>
            <p14:sldId id="320"/>
            <p14:sldId id="321"/>
            <p14:sldId id="323"/>
            <p14:sldId id="325"/>
            <p14:sldId id="257"/>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AEE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025" autoAdjust="0"/>
    <p:restoredTop sz="61259" autoAdjust="0"/>
  </p:normalViewPr>
  <p:slideViewPr>
    <p:cSldViewPr snapToGrid="0">
      <p:cViewPr varScale="1">
        <p:scale>
          <a:sx n="56" d="100"/>
          <a:sy n="56" d="100"/>
        </p:scale>
        <p:origin x="1566" y="6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4.fntdata"/><Relationship Id="rId47" Type="http://schemas.openxmlformats.org/officeDocument/2006/relationships/font" Target="fonts/font9.fntdata"/><Relationship Id="rId50" Type="http://schemas.openxmlformats.org/officeDocument/2006/relationships/font" Target="fonts/font12.fntdata"/><Relationship Id="rId55"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46"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3.fntdata"/><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2.fntdata"/><Relationship Id="rId45" Type="http://schemas.openxmlformats.org/officeDocument/2006/relationships/font" Target="fonts/font7.fntdata"/><Relationship Id="rId5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6.fntdata"/><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5.fntdata"/><Relationship Id="rId48" Type="http://schemas.openxmlformats.org/officeDocument/2006/relationships/font" Target="fonts/font10.fntdata"/><Relationship Id="rId8" Type="http://schemas.openxmlformats.org/officeDocument/2006/relationships/slide" Target="slides/slide7.xml"/><Relationship Id="rId51" Type="http://schemas.openxmlformats.org/officeDocument/2006/relationships/font" Target="fonts/font13.fntdata"/><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E5B754-A23F-49A0-8808-8ACCF2B08C36}" type="datetimeFigureOut">
              <a:rPr lang="en-US" smtClean="0"/>
              <a:t>4/24/2019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38352C-43DB-4136-ADAA-5F6039D770E9}" type="slidenum">
              <a:rPr lang="en-US" smtClean="0"/>
              <a:t>‹#›</a:t>
            </a:fld>
            <a:endParaRPr lang="en-US"/>
          </a:p>
        </p:txBody>
      </p:sp>
    </p:spTree>
    <p:extLst>
      <p:ext uri="{BB962C8B-B14F-4D97-AF65-F5344CB8AC3E}">
        <p14:creationId xmlns:p14="http://schemas.microsoft.com/office/powerpoint/2010/main" val="42027559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238352C-43DB-4136-ADAA-5F6039D770E9}" type="slidenum">
              <a:rPr lang="en-US" smtClean="0"/>
              <a:t>3</a:t>
            </a:fld>
            <a:endParaRPr lang="en-US"/>
          </a:p>
        </p:txBody>
      </p:sp>
    </p:spTree>
    <p:extLst>
      <p:ext uri="{BB962C8B-B14F-4D97-AF65-F5344CB8AC3E}">
        <p14:creationId xmlns:p14="http://schemas.microsoft.com/office/powerpoint/2010/main" val="21627730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61C8689-8455-3546-ADF9-3B7273760F66}" type="slidenum">
              <a:rPr lang="en-US" smtClean="0">
                <a:solidFill>
                  <a:prstClr val="black"/>
                </a:solidFill>
              </a:rPr>
              <a:pPr/>
              <a:t>5</a:t>
            </a:fld>
            <a:endParaRPr lang="en-US" dirty="0">
              <a:solidFill>
                <a:prstClr val="black"/>
              </a:solidFill>
            </a:endParaRPr>
          </a:p>
        </p:txBody>
      </p:sp>
    </p:spTree>
    <p:extLst>
      <p:ext uri="{BB962C8B-B14F-4D97-AF65-F5344CB8AC3E}">
        <p14:creationId xmlns:p14="http://schemas.microsoft.com/office/powerpoint/2010/main" val="4292005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a:t>
            </a:r>
            <a:r>
              <a:rPr lang="en-US" baseline="0" dirty="0"/>
              <a:t> optimize your next hardware configuration, run your target workloads and see where the system is limited.  Do you have sufficient headroom for applications to evolve?</a:t>
            </a:r>
          </a:p>
          <a:p>
            <a:r>
              <a:rPr lang="en-US" baseline="0" dirty="0"/>
              <a:t>For example, PPE will return metrics on memory capacity for both the OS an the application.  Are you near the limit or do you have headroom for growth?  Same thing with I/O bandwidth – are you near the limit of I/O?  What is the processor utilization?  If it is high, you may want a system with more cores to give you room for growth.</a:t>
            </a:r>
            <a:endParaRPr lang="en-US" dirty="0"/>
          </a:p>
        </p:txBody>
      </p:sp>
      <p:sp>
        <p:nvSpPr>
          <p:cNvPr id="4" name="Slide Number Placeholder 3"/>
          <p:cNvSpPr>
            <a:spLocks noGrp="1"/>
          </p:cNvSpPr>
          <p:nvPr>
            <p:ph type="sldNum" sz="quarter" idx="10"/>
          </p:nvPr>
        </p:nvSpPr>
        <p:spPr/>
        <p:txBody>
          <a:bodyPr/>
          <a:lstStyle/>
          <a:p>
            <a:fld id="{D61C8689-8455-3546-ADF9-3B7273760F66}" type="slidenum">
              <a:rPr lang="en-US" smtClean="0"/>
              <a:pPr/>
              <a:t>6</a:t>
            </a:fld>
            <a:endParaRPr lang="en-US" dirty="0"/>
          </a:p>
        </p:txBody>
      </p:sp>
    </p:spTree>
    <p:extLst>
      <p:ext uri="{BB962C8B-B14F-4D97-AF65-F5344CB8AC3E}">
        <p14:creationId xmlns:p14="http://schemas.microsoft.com/office/powerpoint/2010/main" val="1853554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61C8689-8455-3546-ADF9-3B7273760F66}" type="slidenum">
              <a:rPr lang="en-US" smtClean="0"/>
              <a:pPr/>
              <a:t>7</a:t>
            </a:fld>
            <a:endParaRPr lang="en-US" dirty="0"/>
          </a:p>
        </p:txBody>
      </p:sp>
    </p:spTree>
    <p:extLst>
      <p:ext uri="{BB962C8B-B14F-4D97-AF65-F5344CB8AC3E}">
        <p14:creationId xmlns:p14="http://schemas.microsoft.com/office/powerpoint/2010/main" val="28305300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61C8689-8455-3546-ADF9-3B7273760F66}" type="slidenum">
              <a:rPr lang="en-US" smtClean="0"/>
              <a:pPr/>
              <a:t>8</a:t>
            </a:fld>
            <a:endParaRPr lang="en-US" dirty="0"/>
          </a:p>
        </p:txBody>
      </p:sp>
    </p:spTree>
    <p:extLst>
      <p:ext uri="{BB962C8B-B14F-4D97-AF65-F5344CB8AC3E}">
        <p14:creationId xmlns:p14="http://schemas.microsoft.com/office/powerpoint/2010/main" val="17425845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238352C-43DB-4136-ADAA-5F6039D770E9}" type="slidenum">
              <a:rPr lang="en-US" smtClean="0"/>
              <a:t>10</a:t>
            </a:fld>
            <a:endParaRPr lang="en-US"/>
          </a:p>
        </p:txBody>
      </p:sp>
    </p:spTree>
    <p:extLst>
      <p:ext uri="{BB962C8B-B14F-4D97-AF65-F5344CB8AC3E}">
        <p14:creationId xmlns:p14="http://schemas.microsoft.com/office/powerpoint/2010/main" val="19283255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238352C-43DB-4136-ADAA-5F6039D770E9}" type="slidenum">
              <a:rPr lang="en-US" smtClean="0"/>
              <a:t>12</a:t>
            </a:fld>
            <a:endParaRPr lang="en-US"/>
          </a:p>
        </p:txBody>
      </p:sp>
    </p:spTree>
    <p:extLst>
      <p:ext uri="{BB962C8B-B14F-4D97-AF65-F5344CB8AC3E}">
        <p14:creationId xmlns:p14="http://schemas.microsoft.com/office/powerpoint/2010/main" val="7626753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Collector</a:t>
            </a:r>
            <a:r>
              <a:rPr lang="en-US" baseline="0" dirty="0"/>
              <a:t> defaults stored here:</a:t>
            </a:r>
          </a:p>
          <a:p>
            <a:endParaRPr lang="en-US" baseline="0" dirty="0"/>
          </a:p>
          <a:p>
            <a:r>
              <a:rPr lang="en-US" dirty="0"/>
              <a:t>~/</a:t>
            </a:r>
            <a:r>
              <a:rPr lang="en-US" dirty="0" err="1"/>
              <a:t>vpp_collector_config</a:t>
            </a:r>
            <a:r>
              <a:rPr lang="en-US" dirty="0"/>
              <a:t>/</a:t>
            </a:r>
            <a:r>
              <a:rPr lang="en-US" dirty="0" err="1"/>
              <a:t>upload_defaults</a:t>
            </a:r>
            <a:endParaRPr lang="en-US" dirty="0"/>
          </a:p>
        </p:txBody>
      </p:sp>
      <p:sp>
        <p:nvSpPr>
          <p:cNvPr id="4" name="Slide Number Placeholder 3"/>
          <p:cNvSpPr>
            <a:spLocks noGrp="1"/>
          </p:cNvSpPr>
          <p:nvPr>
            <p:ph type="sldNum" sz="quarter" idx="10"/>
          </p:nvPr>
        </p:nvSpPr>
        <p:spPr/>
        <p:txBody>
          <a:bodyPr/>
          <a:lstStyle/>
          <a:p>
            <a:fld id="{2238352C-43DB-4136-ADAA-5F6039D770E9}" type="slidenum">
              <a:rPr lang="en-US" smtClean="0"/>
              <a:t>22</a:t>
            </a:fld>
            <a:endParaRPr lang="en-US"/>
          </a:p>
        </p:txBody>
      </p:sp>
    </p:spTree>
    <p:extLst>
      <p:ext uri="{BB962C8B-B14F-4D97-AF65-F5344CB8AC3E}">
        <p14:creationId xmlns:p14="http://schemas.microsoft.com/office/powerpoint/2010/main" val="283286651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2_Title Slide with Linear Gradient">
    <p:bg>
      <p:bgPr>
        <a:gradFill flip="none" rotWithShape="1">
          <a:gsLst>
            <a:gs pos="32000">
              <a:schemeClr val="tx2"/>
            </a:gs>
            <a:gs pos="95000">
              <a:srgbClr val="009FDF"/>
            </a:gs>
            <a:gs pos="78000">
              <a:srgbClr val="0071C5"/>
            </a:gs>
          </a:gsLst>
          <a:lin ang="19860000" scaled="0"/>
          <a:tileRect/>
        </a:gra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92916" y="3305897"/>
            <a:ext cx="10950515" cy="1470025"/>
          </a:xfrm>
        </p:spPr>
        <p:txBody>
          <a:bodyPr lIns="0" rIns="0" anchor="b" anchorCtr="0">
            <a:noAutofit/>
          </a:bodyPr>
          <a:lstStyle>
            <a:lvl1pPr>
              <a:lnSpc>
                <a:spcPct val="80000"/>
              </a:lnSpc>
              <a:defRPr sz="8666" b="0" spc="0" baseline="0">
                <a:solidFill>
                  <a:schemeClr val="bg1">
                    <a:alpha val="90000"/>
                  </a:schemeClr>
                </a:solidFill>
                <a:latin typeface="Intel Clear Pro" panose="020B0804020202060201" pitchFamily="34" charset="0"/>
                <a:cs typeface="Intel Clear Pro" panose="020B0804020202060201" pitchFamily="34" charset="0"/>
              </a:defRPr>
            </a:lvl1pPr>
          </a:lstStyle>
          <a:p>
            <a:r>
              <a:rPr lang="en-US" dirty="0"/>
              <a:t>65pt Intel Clear pro Title</a:t>
            </a:r>
            <a:br>
              <a:rPr lang="en-US" dirty="0"/>
            </a:br>
            <a:r>
              <a:rPr lang="en-US" dirty="0"/>
              <a:t>with Linear gradient</a:t>
            </a:r>
          </a:p>
        </p:txBody>
      </p:sp>
      <p:sp>
        <p:nvSpPr>
          <p:cNvPr id="3" name="Subtitle 2"/>
          <p:cNvSpPr>
            <a:spLocks noGrp="1"/>
          </p:cNvSpPr>
          <p:nvPr>
            <p:ph type="subTitle" idx="1" hasCustomPrompt="1"/>
          </p:nvPr>
        </p:nvSpPr>
        <p:spPr>
          <a:xfrm>
            <a:off x="607484" y="4657344"/>
            <a:ext cx="8440283" cy="1233813"/>
          </a:xfrm>
        </p:spPr>
        <p:txBody>
          <a:bodyPr lIns="0" rIns="0">
            <a:noAutofit/>
          </a:bodyPr>
          <a:lstStyle>
            <a:lvl1pPr marL="0" indent="0" algn="l">
              <a:buNone/>
              <a:defRPr sz="2133" b="0" i="0" baseline="0">
                <a:solidFill>
                  <a:schemeClr val="accent3"/>
                </a:solidFill>
                <a:latin typeface="Intel Clear"/>
                <a:cs typeface="Intel Clear"/>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dirty="0"/>
              <a:t>16pt Intel Clear Subhead, Date, Etc.</a:t>
            </a:r>
          </a:p>
        </p:txBody>
      </p:sp>
      <p:pic>
        <p:nvPicPr>
          <p:cNvPr id="6" name="Picture 2"/>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602397" y="510892"/>
            <a:ext cx="1664065" cy="11064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30938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Slide with Linear Gradient">
    <p:bg>
      <p:bgPr>
        <a:gradFill flip="none" rotWithShape="1">
          <a:gsLst>
            <a:gs pos="32000">
              <a:schemeClr val="tx2"/>
            </a:gs>
            <a:gs pos="95000">
              <a:srgbClr val="009FDF"/>
            </a:gs>
            <a:gs pos="78000">
              <a:srgbClr val="0071C5"/>
            </a:gs>
          </a:gsLst>
          <a:lin ang="19860000" scaled="0"/>
          <a:tileRect/>
        </a:gra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92916" y="3305897"/>
            <a:ext cx="10950515" cy="1470025"/>
          </a:xfrm>
        </p:spPr>
        <p:txBody>
          <a:bodyPr lIns="0" rIns="0" anchor="b" anchorCtr="0">
            <a:noAutofit/>
          </a:bodyPr>
          <a:lstStyle>
            <a:lvl1pPr>
              <a:lnSpc>
                <a:spcPct val="80000"/>
              </a:lnSpc>
              <a:defRPr sz="8666" b="0" spc="0" baseline="0">
                <a:solidFill>
                  <a:schemeClr val="bg1">
                    <a:alpha val="90000"/>
                  </a:schemeClr>
                </a:solidFill>
                <a:latin typeface="Intel Clear Pro" panose="020B0804020202060201" pitchFamily="34" charset="0"/>
                <a:cs typeface="Intel Clear Pro" panose="020B0804020202060201" pitchFamily="34" charset="0"/>
              </a:defRPr>
            </a:lvl1pPr>
          </a:lstStyle>
          <a:p>
            <a:r>
              <a:rPr lang="en-US" dirty="0"/>
              <a:t>65pt Intel Clear pro Title</a:t>
            </a:r>
            <a:br>
              <a:rPr lang="en-US" dirty="0"/>
            </a:br>
            <a:r>
              <a:rPr lang="en-US" dirty="0"/>
              <a:t>with Linear gradient</a:t>
            </a:r>
          </a:p>
        </p:txBody>
      </p:sp>
      <p:sp>
        <p:nvSpPr>
          <p:cNvPr id="3" name="Subtitle 2"/>
          <p:cNvSpPr>
            <a:spLocks noGrp="1"/>
          </p:cNvSpPr>
          <p:nvPr>
            <p:ph type="subTitle" idx="1" hasCustomPrompt="1"/>
          </p:nvPr>
        </p:nvSpPr>
        <p:spPr>
          <a:xfrm>
            <a:off x="607484" y="4657344"/>
            <a:ext cx="8440283" cy="1233813"/>
          </a:xfrm>
        </p:spPr>
        <p:txBody>
          <a:bodyPr lIns="0" rIns="0">
            <a:noAutofit/>
          </a:bodyPr>
          <a:lstStyle>
            <a:lvl1pPr marL="0" indent="0" algn="l">
              <a:buNone/>
              <a:defRPr sz="2133" b="0" i="0" baseline="0">
                <a:solidFill>
                  <a:schemeClr val="accent3"/>
                </a:solidFill>
                <a:latin typeface="Intel Clear"/>
                <a:cs typeface="Intel Clear"/>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dirty="0"/>
              <a:t>16pt Intel Clear Subhead, Date, Etc.</a:t>
            </a:r>
          </a:p>
        </p:txBody>
      </p:sp>
      <p:pic>
        <p:nvPicPr>
          <p:cNvPr id="5" name="Picture 4" descr="int_experience_hrz_wht_rgb_1500.png"/>
          <p:cNvPicPr>
            <a:picLocks noChangeAspect="1"/>
          </p:cNvPicPr>
          <p:nvPr/>
        </p:nvPicPr>
        <p:blipFill>
          <a:blip r:embed="rId2" cstate="print">
            <a:alphaModFix/>
            <a:extLst>
              <a:ext uri="{28A0092B-C50C-407E-A947-70E740481C1C}">
                <a14:useLocalDpi xmlns:a14="http://schemas.microsoft.com/office/drawing/2010/main" val="0"/>
              </a:ext>
            </a:extLst>
          </a:blip>
          <a:stretch>
            <a:fillRect/>
          </a:stretch>
        </p:blipFill>
        <p:spPr>
          <a:xfrm>
            <a:off x="614258" y="518971"/>
            <a:ext cx="2829021" cy="1183045"/>
          </a:xfrm>
          <a:prstGeom prst="rect">
            <a:avLst/>
          </a:prstGeom>
        </p:spPr>
      </p:pic>
    </p:spTree>
    <p:extLst>
      <p:ext uri="{BB962C8B-B14F-4D97-AF65-F5344CB8AC3E}">
        <p14:creationId xmlns:p14="http://schemas.microsoft.com/office/powerpoint/2010/main" val="26784299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with Image">
    <p:bg>
      <p:bgPr>
        <a:gradFill>
          <a:gsLst>
            <a:gs pos="30000">
              <a:schemeClr val="tx2"/>
            </a:gs>
            <a:gs pos="100000">
              <a:srgbClr val="009FDF"/>
            </a:gs>
            <a:gs pos="65000">
              <a:srgbClr val="0071C5"/>
            </a:gs>
          </a:gsLst>
          <a:lin ang="19860000" scaled="0"/>
        </a:gradFill>
        <a:effectLst/>
      </p:bgPr>
    </p:bg>
    <p:spTree>
      <p:nvGrpSpPr>
        <p:cNvPr id="1" name=""/>
        <p:cNvGrpSpPr/>
        <p:nvPr/>
      </p:nvGrpSpPr>
      <p:grpSpPr>
        <a:xfrm>
          <a:off x="0" y="0"/>
          <a:ext cx="0" cy="0"/>
          <a:chOff x="0" y="0"/>
          <a:chExt cx="0" cy="0"/>
        </a:xfrm>
      </p:grpSpPr>
      <p:sp>
        <p:nvSpPr>
          <p:cNvPr id="10" name="Picture Placeholder 8"/>
          <p:cNvSpPr>
            <a:spLocks noGrp="1"/>
          </p:cNvSpPr>
          <p:nvPr>
            <p:ph type="pic" sz="quarter" idx="13" hasCustomPrompt="1"/>
          </p:nvPr>
        </p:nvSpPr>
        <p:spPr>
          <a:xfrm>
            <a:off x="0" y="0"/>
            <a:ext cx="12192000" cy="6358467"/>
          </a:xfrm>
          <a:solidFill>
            <a:schemeClr val="bg2">
              <a:lumMod val="60000"/>
              <a:lumOff val="40000"/>
            </a:schemeClr>
          </a:solidFill>
        </p:spPr>
        <p:txBody>
          <a:bodyPr/>
          <a:lstStyle>
            <a:lvl1pPr marL="0" marR="0" indent="0" algn="l" defTabSz="609585" rtl="0" eaLnBrk="1" fontAlgn="auto" latinLnBrk="0" hangingPunct="1">
              <a:lnSpc>
                <a:spcPct val="100000"/>
              </a:lnSpc>
              <a:spcBef>
                <a:spcPts val="1600"/>
              </a:spcBef>
              <a:spcAft>
                <a:spcPts val="0"/>
              </a:spcAft>
              <a:buClrTx/>
              <a:buSzTx/>
              <a:buFont typeface="Wingdings" panose="05000000000000000000" pitchFamily="2" charset="2"/>
              <a:buNone/>
              <a:tabLst/>
              <a:defRPr baseline="0"/>
            </a:lvl1pPr>
          </a:lstStyle>
          <a:p>
            <a:r>
              <a:rPr lang="en-US" dirty="0"/>
              <a:t>Insert photo here. Drag picture to placeholder or click icon to add.</a:t>
            </a:r>
          </a:p>
        </p:txBody>
      </p:sp>
      <p:pic>
        <p:nvPicPr>
          <p:cNvPr id="9" name="Picture 2"/>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602397" y="510892"/>
            <a:ext cx="1664065" cy="1106467"/>
          </a:xfrm>
          <a:prstGeom prst="rect">
            <a:avLst/>
          </a:prstGeom>
          <a:noFill/>
          <a:extLst>
            <a:ext uri="{909E8E84-426E-40DD-AFC4-6F175D3DCCD1}">
              <a14:hiddenFill xmlns:a14="http://schemas.microsoft.com/office/drawing/2010/main">
                <a:solidFill>
                  <a:srgbClr val="FFFFFF"/>
                </a:solidFill>
              </a14:hiddenFill>
            </a:ext>
          </a:extLst>
        </p:spPr>
      </p:pic>
      <p:sp>
        <p:nvSpPr>
          <p:cNvPr id="13" name="Title 1"/>
          <p:cNvSpPr>
            <a:spLocks noGrp="1"/>
          </p:cNvSpPr>
          <p:nvPr>
            <p:ph type="ctrTitle" hasCustomPrompt="1"/>
          </p:nvPr>
        </p:nvSpPr>
        <p:spPr>
          <a:xfrm>
            <a:off x="592916" y="3305897"/>
            <a:ext cx="10950515" cy="1470025"/>
          </a:xfrm>
        </p:spPr>
        <p:txBody>
          <a:bodyPr lIns="0" rIns="0" anchor="b" anchorCtr="0">
            <a:noAutofit/>
          </a:bodyPr>
          <a:lstStyle>
            <a:lvl1pPr>
              <a:lnSpc>
                <a:spcPct val="80000"/>
              </a:lnSpc>
              <a:defRPr sz="8666" b="0" spc="0" baseline="0">
                <a:solidFill>
                  <a:schemeClr val="bg1">
                    <a:alpha val="90000"/>
                  </a:schemeClr>
                </a:solidFill>
                <a:latin typeface="Intel Clear Pro" panose="020B0804020202060201" pitchFamily="34" charset="0"/>
                <a:cs typeface="Intel Clear Pro" panose="020B0804020202060201" pitchFamily="34" charset="0"/>
              </a:defRPr>
            </a:lvl1pPr>
          </a:lstStyle>
          <a:p>
            <a:r>
              <a:rPr lang="en-US" dirty="0"/>
              <a:t>65pt Intel Clear pro Title</a:t>
            </a:r>
            <a:br>
              <a:rPr lang="en-US" dirty="0"/>
            </a:br>
            <a:r>
              <a:rPr lang="en-US" dirty="0"/>
              <a:t>with image</a:t>
            </a:r>
          </a:p>
        </p:txBody>
      </p:sp>
      <p:sp>
        <p:nvSpPr>
          <p:cNvPr id="14" name="Subtitle 2"/>
          <p:cNvSpPr>
            <a:spLocks noGrp="1"/>
          </p:cNvSpPr>
          <p:nvPr>
            <p:ph type="subTitle" idx="1" hasCustomPrompt="1"/>
          </p:nvPr>
        </p:nvSpPr>
        <p:spPr>
          <a:xfrm>
            <a:off x="607484" y="4657344"/>
            <a:ext cx="8440283" cy="1233813"/>
          </a:xfrm>
        </p:spPr>
        <p:txBody>
          <a:bodyPr lIns="0" rIns="0">
            <a:noAutofit/>
          </a:bodyPr>
          <a:lstStyle>
            <a:lvl1pPr marL="0" indent="0" algn="l">
              <a:buNone/>
              <a:defRPr sz="2133" b="0" i="0" baseline="0">
                <a:solidFill>
                  <a:schemeClr val="accent3"/>
                </a:solidFill>
                <a:latin typeface="Intel Clear"/>
                <a:cs typeface="Intel Clear"/>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dirty="0"/>
              <a:t>16pt Intel Clear Subhead, Date, Etc.</a:t>
            </a:r>
          </a:p>
        </p:txBody>
      </p:sp>
    </p:spTree>
    <p:extLst>
      <p:ext uri="{BB962C8B-B14F-4D97-AF65-F5344CB8AC3E}">
        <p14:creationId xmlns:p14="http://schemas.microsoft.com/office/powerpoint/2010/main" val="39115102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Bulleted Text">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07B074DC-53A4-4939-84C7-45108117554F}" type="slidenum">
              <a:rPr lang="en-US" smtClean="0"/>
              <a:t>‹#›</a:t>
            </a:fld>
            <a:endParaRPr lang="en-US"/>
          </a:p>
        </p:txBody>
      </p:sp>
      <p:sp>
        <p:nvSpPr>
          <p:cNvPr id="7" name="Title 6"/>
          <p:cNvSpPr>
            <a:spLocks noGrp="1"/>
          </p:cNvSpPr>
          <p:nvPr>
            <p:ph type="title" hasCustomPrompt="1"/>
          </p:nvPr>
        </p:nvSpPr>
        <p:spPr>
          <a:xfrm>
            <a:off x="607484" y="411797"/>
            <a:ext cx="10972800" cy="1158240"/>
          </a:xfrm>
        </p:spPr>
        <p:txBody>
          <a:bodyPr/>
          <a:lstStyle>
            <a:lvl1pPr>
              <a:defRPr b="0" i="0" baseline="0">
                <a:solidFill>
                  <a:schemeClr val="tx2"/>
                </a:solidFill>
                <a:latin typeface="Intel Clear"/>
                <a:cs typeface="Intel Clear"/>
              </a:defRPr>
            </a:lvl1pPr>
          </a:lstStyle>
          <a:p>
            <a:r>
              <a:rPr lang="en-US" dirty="0"/>
              <a:t>28pt Intel Clear Headline</a:t>
            </a:r>
          </a:p>
        </p:txBody>
      </p:sp>
      <p:sp>
        <p:nvSpPr>
          <p:cNvPr id="9" name="Content Placeholder 8"/>
          <p:cNvSpPr>
            <a:spLocks noGrp="1"/>
          </p:cNvSpPr>
          <p:nvPr>
            <p:ph sz="quarter" idx="13" hasCustomPrompt="1"/>
          </p:nvPr>
        </p:nvSpPr>
        <p:spPr>
          <a:xfrm>
            <a:off x="607484" y="1604434"/>
            <a:ext cx="10970683" cy="4567767"/>
          </a:xfrm>
        </p:spPr>
        <p:txBody>
          <a:bodyPr/>
          <a:lstStyle>
            <a:lvl1pPr>
              <a:defRPr>
                <a:solidFill>
                  <a:srgbClr val="0071C5"/>
                </a:solidFill>
              </a:defRPr>
            </a:lvl1pPr>
            <a:lvl2pPr>
              <a:defRPr sz="2400">
                <a:solidFill>
                  <a:schemeClr val="tx2"/>
                </a:solidFill>
              </a:defRPr>
            </a:lvl2pPr>
            <a:lvl3pPr>
              <a:defRPr sz="2400">
                <a:solidFill>
                  <a:schemeClr val="tx2"/>
                </a:solidFill>
              </a:defRPr>
            </a:lvl3pPr>
            <a:lvl4pPr>
              <a:defRPr sz="2133">
                <a:solidFill>
                  <a:schemeClr val="tx2"/>
                </a:solidFill>
              </a:defRPr>
            </a:lvl4pPr>
            <a:lvl5pPr>
              <a:defRPr>
                <a:solidFill>
                  <a:schemeClr val="tx2"/>
                </a:solidFill>
              </a:defRPr>
            </a:lvl5pPr>
          </a:lstStyle>
          <a:p>
            <a:pPr lvl="0"/>
            <a:r>
              <a:rPr lang="en-US" dirty="0"/>
              <a:t>18pt Intel Clear body text</a:t>
            </a:r>
          </a:p>
          <a:p>
            <a:pPr lvl="1"/>
            <a:r>
              <a:rPr lang="en-US" dirty="0"/>
              <a:t>18pt Intel Clear bullet one</a:t>
            </a:r>
          </a:p>
          <a:p>
            <a:pPr lvl="2"/>
            <a:r>
              <a:rPr lang="en-US" dirty="0"/>
              <a:t>18pt Intel Clear sub-bullet</a:t>
            </a:r>
          </a:p>
          <a:p>
            <a:pPr lvl="3"/>
            <a:r>
              <a:rPr lang="en-US" dirty="0"/>
              <a:t>16pt Intel Clear fourth level</a:t>
            </a:r>
          </a:p>
          <a:p>
            <a:pPr lvl="4"/>
            <a:r>
              <a:rPr lang="en-US" dirty="0" err="1"/>
              <a:t>14pt</a:t>
            </a:r>
            <a:r>
              <a:rPr lang="en-US" dirty="0"/>
              <a:t> Intel Clear fifth level</a:t>
            </a:r>
          </a:p>
        </p:txBody>
      </p:sp>
      <p:sp>
        <p:nvSpPr>
          <p:cNvPr id="8" name="Footer Placeholder 4"/>
          <p:cNvSpPr>
            <a:spLocks noGrp="1"/>
          </p:cNvSpPr>
          <p:nvPr>
            <p:ph type="ftr" sz="quarter" idx="3"/>
          </p:nvPr>
        </p:nvSpPr>
        <p:spPr>
          <a:xfrm>
            <a:off x="4165600" y="6432516"/>
            <a:ext cx="3860800" cy="365125"/>
          </a:xfrm>
          <a:prstGeom prst="rect">
            <a:avLst/>
          </a:prstGeom>
        </p:spPr>
        <p:txBody>
          <a:bodyPr vert="horz" lIns="91440" tIns="45720" rIns="91440" bIns="45720" rtlCol="0" anchor="ctr"/>
          <a:lstStyle>
            <a:lvl1pPr algn="ctr">
              <a:defRPr sz="1067">
                <a:solidFill>
                  <a:schemeClr val="bg1"/>
                </a:solidFill>
                <a:latin typeface="+mn-lt"/>
              </a:defRPr>
            </a:lvl1pPr>
          </a:lstStyle>
          <a:p>
            <a:r>
              <a:rPr lang="en-US"/>
              <a:t>Intel Confidential</a:t>
            </a:r>
          </a:p>
        </p:txBody>
      </p:sp>
    </p:spTree>
    <p:extLst>
      <p:ext uri="{BB962C8B-B14F-4D97-AF65-F5344CB8AC3E}">
        <p14:creationId xmlns:p14="http://schemas.microsoft.com/office/powerpoint/2010/main" val="39655689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wo Content with Image">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07B074DC-53A4-4939-84C7-45108117554F}" type="slidenum">
              <a:rPr lang="en-US" smtClean="0"/>
              <a:t>‹#›</a:t>
            </a:fld>
            <a:endParaRPr lang="en-US"/>
          </a:p>
        </p:txBody>
      </p:sp>
      <p:sp>
        <p:nvSpPr>
          <p:cNvPr id="15" name="Content Placeholder 2"/>
          <p:cNvSpPr>
            <a:spLocks noGrp="1"/>
          </p:cNvSpPr>
          <p:nvPr>
            <p:ph sz="half" idx="1" hasCustomPrompt="1"/>
          </p:nvPr>
        </p:nvSpPr>
        <p:spPr>
          <a:xfrm>
            <a:off x="607485" y="1604433"/>
            <a:ext cx="5342468" cy="4567767"/>
          </a:xfrm>
        </p:spPr>
        <p:txBody>
          <a:bodyPr vert="horz" lIns="0" tIns="0" rIns="0" bIns="0" rtlCol="0">
            <a:noAutofit/>
          </a:bodyPr>
          <a:lstStyle>
            <a:lvl1pPr>
              <a:defRPr lang="en-US" dirty="0" smtClean="0"/>
            </a:lvl1pPr>
            <a:lvl2pPr>
              <a:defRPr lang="en-US" dirty="0" smtClean="0">
                <a:solidFill>
                  <a:schemeClr val="tx2"/>
                </a:solidFill>
              </a:defRPr>
            </a:lvl2pPr>
            <a:lvl3pPr>
              <a:defRPr lang="en-US" sz="1867" dirty="0" smtClean="0">
                <a:solidFill>
                  <a:schemeClr val="tx2"/>
                </a:solidFill>
              </a:defRPr>
            </a:lvl3pPr>
            <a:lvl4pPr>
              <a:defRPr lang="en-US" sz="1600" dirty="0" smtClean="0">
                <a:solidFill>
                  <a:schemeClr val="tx2"/>
                </a:solidFill>
              </a:defRPr>
            </a:lvl4pPr>
            <a:lvl5pPr>
              <a:defRPr lang="en-US" sz="1600" dirty="0">
                <a:solidFill>
                  <a:schemeClr val="tx2"/>
                </a:solidFill>
              </a:defRPr>
            </a:lvl5pPr>
          </a:lstStyle>
          <a:p>
            <a:pPr marR="0" lvl="0" fontAlgn="auto">
              <a:lnSpc>
                <a:spcPct val="100000"/>
              </a:lnSpc>
              <a:buClrTx/>
              <a:buSzTx/>
              <a:tabLst/>
            </a:pPr>
            <a:r>
              <a:rPr lang="en-US" dirty="0"/>
              <a:t>18pt Intel Clear body text</a:t>
            </a:r>
          </a:p>
          <a:p>
            <a:pPr marR="0" lvl="1" fontAlgn="auto">
              <a:lnSpc>
                <a:spcPct val="100000"/>
              </a:lnSpc>
              <a:spcAft>
                <a:spcPts val="0"/>
              </a:spcAft>
              <a:buClrTx/>
              <a:buSzTx/>
              <a:tabLst/>
            </a:pPr>
            <a:r>
              <a:rPr lang="en-US" dirty="0"/>
              <a:t>16pt Intel Clear bullet one</a:t>
            </a:r>
          </a:p>
          <a:p>
            <a:pPr lvl="2"/>
            <a:r>
              <a:rPr lang="en-US" dirty="0" err="1"/>
              <a:t>14pt</a:t>
            </a:r>
            <a:r>
              <a:rPr lang="en-US" dirty="0"/>
              <a:t> Intel Clear third level</a:t>
            </a:r>
          </a:p>
          <a:p>
            <a:pPr lvl="3"/>
            <a:r>
              <a:rPr lang="en-US" dirty="0" err="1"/>
              <a:t>12pt</a:t>
            </a:r>
            <a:r>
              <a:rPr lang="en-US" dirty="0"/>
              <a:t> Intel Clear fourth level</a:t>
            </a:r>
          </a:p>
          <a:p>
            <a:pPr lvl="4"/>
            <a:r>
              <a:rPr lang="en-US" dirty="0" err="1"/>
              <a:t>12pt</a:t>
            </a:r>
            <a:r>
              <a:rPr lang="en-US" dirty="0"/>
              <a:t> Intel Clear fifth level</a:t>
            </a:r>
          </a:p>
        </p:txBody>
      </p:sp>
      <p:sp>
        <p:nvSpPr>
          <p:cNvPr id="8" name="Title 6"/>
          <p:cNvSpPr>
            <a:spLocks noGrp="1"/>
          </p:cNvSpPr>
          <p:nvPr>
            <p:ph type="title" hasCustomPrompt="1"/>
          </p:nvPr>
        </p:nvSpPr>
        <p:spPr>
          <a:xfrm>
            <a:off x="607484" y="411797"/>
            <a:ext cx="10972800" cy="1158240"/>
          </a:xfrm>
        </p:spPr>
        <p:txBody>
          <a:bodyPr/>
          <a:lstStyle>
            <a:lvl1pPr>
              <a:defRPr b="0" i="0" baseline="0">
                <a:solidFill>
                  <a:schemeClr val="tx2"/>
                </a:solidFill>
                <a:latin typeface="Intel Clear"/>
                <a:cs typeface="Intel Clear"/>
              </a:defRPr>
            </a:lvl1pPr>
          </a:lstStyle>
          <a:p>
            <a:r>
              <a:rPr lang="en-US" dirty="0"/>
              <a:t>28pt Intel Clear Headline</a:t>
            </a:r>
          </a:p>
        </p:txBody>
      </p:sp>
      <p:sp>
        <p:nvSpPr>
          <p:cNvPr id="9" name="Picture Placeholder 8"/>
          <p:cNvSpPr>
            <a:spLocks noGrp="1"/>
          </p:cNvSpPr>
          <p:nvPr>
            <p:ph type="pic" sz="quarter" idx="13"/>
          </p:nvPr>
        </p:nvSpPr>
        <p:spPr>
          <a:xfrm>
            <a:off x="6441018" y="1257907"/>
            <a:ext cx="4241497" cy="2227933"/>
          </a:xfrm>
          <a:solidFill>
            <a:schemeClr val="bg2">
              <a:lumMod val="60000"/>
              <a:lumOff val="40000"/>
            </a:schemeClr>
          </a:solidFill>
        </p:spPr>
        <p:txBody>
          <a:bodyPr/>
          <a:lstStyle>
            <a:lvl1pPr>
              <a:defRPr sz="2400">
                <a:latin typeface="Intel Clear"/>
              </a:defRPr>
            </a:lvl1pPr>
          </a:lstStyle>
          <a:p>
            <a:r>
              <a:rPr lang="en-US" sz="1467">
                <a:latin typeface="Arial"/>
              </a:rPr>
              <a:t>Click icon to add picture</a:t>
            </a:r>
            <a:endParaRPr lang="en-US" sz="1467" dirty="0">
              <a:latin typeface="Arial"/>
            </a:endParaRPr>
          </a:p>
        </p:txBody>
      </p:sp>
      <p:sp>
        <p:nvSpPr>
          <p:cNvPr id="10" name="Picture Placeholder 8"/>
          <p:cNvSpPr>
            <a:spLocks noGrp="1"/>
          </p:cNvSpPr>
          <p:nvPr>
            <p:ph type="pic" sz="quarter" idx="14"/>
          </p:nvPr>
        </p:nvSpPr>
        <p:spPr>
          <a:xfrm>
            <a:off x="6441018" y="3791863"/>
            <a:ext cx="4241497" cy="2227933"/>
          </a:xfrm>
          <a:solidFill>
            <a:schemeClr val="bg2">
              <a:lumMod val="60000"/>
              <a:lumOff val="40000"/>
            </a:schemeClr>
          </a:solidFill>
        </p:spPr>
        <p:txBody>
          <a:bodyPr/>
          <a:lstStyle>
            <a:lvl1pPr>
              <a:defRPr sz="2400">
                <a:latin typeface="Intel Clear"/>
              </a:defRPr>
            </a:lvl1pPr>
          </a:lstStyle>
          <a:p>
            <a:r>
              <a:rPr lang="en-US" sz="1467">
                <a:latin typeface="Arial"/>
              </a:rPr>
              <a:t>Click icon to add picture</a:t>
            </a:r>
            <a:endParaRPr lang="en-US" sz="1467" dirty="0">
              <a:latin typeface="Arial"/>
            </a:endParaRPr>
          </a:p>
        </p:txBody>
      </p:sp>
      <p:sp>
        <p:nvSpPr>
          <p:cNvPr id="11" name="Footer Placeholder 4"/>
          <p:cNvSpPr>
            <a:spLocks noGrp="1"/>
          </p:cNvSpPr>
          <p:nvPr>
            <p:ph type="ftr" sz="quarter" idx="3"/>
          </p:nvPr>
        </p:nvSpPr>
        <p:spPr>
          <a:xfrm>
            <a:off x="4165600" y="6432516"/>
            <a:ext cx="3860800" cy="365125"/>
          </a:xfrm>
          <a:prstGeom prst="rect">
            <a:avLst/>
          </a:prstGeom>
        </p:spPr>
        <p:txBody>
          <a:bodyPr vert="horz" lIns="91440" tIns="45720" rIns="91440" bIns="45720" rtlCol="0" anchor="ctr"/>
          <a:lstStyle>
            <a:lvl1pPr algn="ctr">
              <a:defRPr sz="1067">
                <a:solidFill>
                  <a:schemeClr val="bg1"/>
                </a:solidFill>
                <a:latin typeface="+mn-lt"/>
              </a:defRPr>
            </a:lvl1pPr>
          </a:lstStyle>
          <a:p>
            <a:r>
              <a:rPr lang="en-US"/>
              <a:t>Intel Confidential</a:t>
            </a:r>
          </a:p>
        </p:txBody>
      </p:sp>
    </p:spTree>
    <p:extLst>
      <p:ext uri="{BB962C8B-B14F-4D97-AF65-F5344CB8AC3E}">
        <p14:creationId xmlns:p14="http://schemas.microsoft.com/office/powerpoint/2010/main" val="40784001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07B074DC-53A4-4939-84C7-45108117554F}" type="slidenum">
              <a:rPr lang="en-US" smtClean="0"/>
              <a:t>‹#›</a:t>
            </a:fld>
            <a:endParaRPr lang="en-US"/>
          </a:p>
        </p:txBody>
      </p:sp>
      <p:sp>
        <p:nvSpPr>
          <p:cNvPr id="15" name="Content Placeholder 2"/>
          <p:cNvSpPr>
            <a:spLocks noGrp="1"/>
          </p:cNvSpPr>
          <p:nvPr>
            <p:ph sz="half" idx="1" hasCustomPrompt="1"/>
          </p:nvPr>
        </p:nvSpPr>
        <p:spPr>
          <a:xfrm>
            <a:off x="607485" y="1604433"/>
            <a:ext cx="5342468" cy="4567767"/>
          </a:xfrm>
        </p:spPr>
        <p:txBody>
          <a:bodyPr vert="horz" lIns="0" tIns="0" rIns="0" bIns="0" rtlCol="0">
            <a:noAutofit/>
          </a:bodyPr>
          <a:lstStyle>
            <a:lvl1pPr>
              <a:defRPr lang="en-US" dirty="0" smtClean="0"/>
            </a:lvl1pPr>
            <a:lvl2pPr>
              <a:defRPr lang="en-US" dirty="0" smtClean="0">
                <a:solidFill>
                  <a:schemeClr val="tx2"/>
                </a:solidFill>
              </a:defRPr>
            </a:lvl2pPr>
            <a:lvl3pPr>
              <a:defRPr lang="en-US" sz="1867" dirty="0" smtClean="0">
                <a:solidFill>
                  <a:schemeClr val="tx2"/>
                </a:solidFill>
              </a:defRPr>
            </a:lvl3pPr>
            <a:lvl4pPr>
              <a:defRPr lang="en-US" sz="1600" dirty="0" smtClean="0">
                <a:solidFill>
                  <a:schemeClr val="tx2"/>
                </a:solidFill>
              </a:defRPr>
            </a:lvl4pPr>
            <a:lvl5pPr>
              <a:defRPr lang="en-US" sz="1600" dirty="0">
                <a:solidFill>
                  <a:schemeClr val="tx2"/>
                </a:solidFill>
              </a:defRPr>
            </a:lvl5pPr>
          </a:lstStyle>
          <a:p>
            <a:pPr marR="0" lvl="0" fontAlgn="auto">
              <a:lnSpc>
                <a:spcPct val="100000"/>
              </a:lnSpc>
              <a:buClrTx/>
              <a:buSzTx/>
              <a:tabLst/>
            </a:pPr>
            <a:r>
              <a:rPr lang="en-US" dirty="0"/>
              <a:t>18pt Intel Clear body text</a:t>
            </a:r>
          </a:p>
          <a:p>
            <a:pPr marR="0" lvl="1" fontAlgn="auto">
              <a:lnSpc>
                <a:spcPct val="100000"/>
              </a:lnSpc>
              <a:spcAft>
                <a:spcPts val="0"/>
              </a:spcAft>
              <a:buClrTx/>
              <a:buSzTx/>
              <a:tabLst/>
            </a:pPr>
            <a:r>
              <a:rPr lang="en-US" dirty="0"/>
              <a:t>16pt Intel Clear bullet one</a:t>
            </a:r>
          </a:p>
          <a:p>
            <a:pPr lvl="2"/>
            <a:r>
              <a:rPr lang="en-US" dirty="0" err="1"/>
              <a:t>14pt</a:t>
            </a:r>
            <a:r>
              <a:rPr lang="en-US" dirty="0"/>
              <a:t> Intel Clear third level</a:t>
            </a:r>
          </a:p>
          <a:p>
            <a:pPr lvl="3"/>
            <a:r>
              <a:rPr lang="en-US" dirty="0" err="1"/>
              <a:t>12pt</a:t>
            </a:r>
            <a:r>
              <a:rPr lang="en-US" dirty="0"/>
              <a:t> Intel Clear fourth level</a:t>
            </a:r>
          </a:p>
          <a:p>
            <a:pPr lvl="4"/>
            <a:r>
              <a:rPr lang="en-US" dirty="0" err="1"/>
              <a:t>12pt</a:t>
            </a:r>
            <a:r>
              <a:rPr lang="en-US" dirty="0"/>
              <a:t> Intel Clear fifth level</a:t>
            </a:r>
          </a:p>
        </p:txBody>
      </p:sp>
      <p:sp>
        <p:nvSpPr>
          <p:cNvPr id="16" name="Content Placeholder 2"/>
          <p:cNvSpPr>
            <a:spLocks noGrp="1"/>
          </p:cNvSpPr>
          <p:nvPr>
            <p:ph sz="half" idx="13" hasCustomPrompt="1"/>
          </p:nvPr>
        </p:nvSpPr>
        <p:spPr>
          <a:xfrm>
            <a:off x="6237817" y="1604433"/>
            <a:ext cx="5340352" cy="4567767"/>
          </a:xfrm>
        </p:spPr>
        <p:txBody>
          <a:bodyPr vert="horz" lIns="0" tIns="0" rIns="0" bIns="0" rtlCol="0">
            <a:noAutofit/>
          </a:bodyPr>
          <a:lstStyle>
            <a:lvl1pPr>
              <a:defRPr lang="en-US" dirty="0" smtClean="0"/>
            </a:lvl1pPr>
            <a:lvl2pPr>
              <a:defRPr lang="en-US" dirty="0" smtClean="0">
                <a:solidFill>
                  <a:schemeClr val="tx2"/>
                </a:solidFill>
              </a:defRPr>
            </a:lvl2pPr>
            <a:lvl3pPr>
              <a:defRPr lang="en-US" sz="1867" dirty="0" smtClean="0">
                <a:solidFill>
                  <a:schemeClr val="tx2"/>
                </a:solidFill>
              </a:defRPr>
            </a:lvl3pPr>
            <a:lvl4pPr>
              <a:defRPr lang="en-US" sz="1600" dirty="0" smtClean="0">
                <a:solidFill>
                  <a:schemeClr val="tx2"/>
                </a:solidFill>
              </a:defRPr>
            </a:lvl4pPr>
            <a:lvl5pPr>
              <a:defRPr lang="en-US" sz="1600" dirty="0">
                <a:solidFill>
                  <a:schemeClr val="tx2"/>
                </a:solidFill>
              </a:defRPr>
            </a:lvl5pPr>
          </a:lstStyle>
          <a:p>
            <a:pPr marR="0" lvl="0" fontAlgn="auto">
              <a:lnSpc>
                <a:spcPct val="100000"/>
              </a:lnSpc>
              <a:buClrTx/>
              <a:buSzTx/>
              <a:tabLst/>
            </a:pPr>
            <a:r>
              <a:rPr lang="en-US" dirty="0"/>
              <a:t>18pt Intel Clear body text</a:t>
            </a:r>
          </a:p>
          <a:p>
            <a:pPr marR="0" lvl="1" fontAlgn="auto">
              <a:lnSpc>
                <a:spcPct val="100000"/>
              </a:lnSpc>
              <a:spcAft>
                <a:spcPts val="0"/>
              </a:spcAft>
              <a:buClrTx/>
              <a:buSzTx/>
              <a:tabLst/>
            </a:pPr>
            <a:r>
              <a:rPr lang="en-US" dirty="0"/>
              <a:t>16pt Intel Clear bullet one</a:t>
            </a:r>
          </a:p>
          <a:p>
            <a:pPr lvl="2"/>
            <a:r>
              <a:rPr lang="en-US" dirty="0" err="1"/>
              <a:t>14pt</a:t>
            </a:r>
            <a:r>
              <a:rPr lang="en-US" dirty="0"/>
              <a:t> Intel Clear third level</a:t>
            </a:r>
          </a:p>
          <a:p>
            <a:pPr lvl="3"/>
            <a:r>
              <a:rPr lang="en-US" dirty="0" err="1"/>
              <a:t>12pt</a:t>
            </a:r>
            <a:r>
              <a:rPr lang="en-US" dirty="0"/>
              <a:t> Intel Clear fourth level</a:t>
            </a:r>
          </a:p>
          <a:p>
            <a:pPr lvl="4"/>
            <a:r>
              <a:rPr lang="en-US" dirty="0" err="1"/>
              <a:t>12pt</a:t>
            </a:r>
            <a:r>
              <a:rPr lang="en-US" dirty="0"/>
              <a:t> Intel Clear fifth level</a:t>
            </a:r>
          </a:p>
        </p:txBody>
      </p:sp>
      <p:sp>
        <p:nvSpPr>
          <p:cNvPr id="8" name="Title 6"/>
          <p:cNvSpPr>
            <a:spLocks noGrp="1"/>
          </p:cNvSpPr>
          <p:nvPr>
            <p:ph type="title" hasCustomPrompt="1"/>
          </p:nvPr>
        </p:nvSpPr>
        <p:spPr>
          <a:xfrm>
            <a:off x="607484" y="411797"/>
            <a:ext cx="10972800" cy="1158240"/>
          </a:xfrm>
        </p:spPr>
        <p:txBody>
          <a:bodyPr/>
          <a:lstStyle>
            <a:lvl1pPr>
              <a:defRPr b="0" i="0" baseline="0">
                <a:solidFill>
                  <a:schemeClr val="tx2"/>
                </a:solidFill>
                <a:latin typeface="Intel Clear"/>
                <a:cs typeface="Intel Clear"/>
              </a:defRPr>
            </a:lvl1pPr>
          </a:lstStyle>
          <a:p>
            <a:r>
              <a:rPr lang="en-US" dirty="0"/>
              <a:t>28pt Intel Clear Headline</a:t>
            </a:r>
          </a:p>
        </p:txBody>
      </p:sp>
      <p:sp>
        <p:nvSpPr>
          <p:cNvPr id="6" name="Footer Placeholder 4"/>
          <p:cNvSpPr>
            <a:spLocks noGrp="1"/>
          </p:cNvSpPr>
          <p:nvPr>
            <p:ph type="ftr" sz="quarter" idx="3"/>
          </p:nvPr>
        </p:nvSpPr>
        <p:spPr>
          <a:xfrm>
            <a:off x="4165600" y="6432516"/>
            <a:ext cx="3860800" cy="365125"/>
          </a:xfrm>
          <a:prstGeom prst="rect">
            <a:avLst/>
          </a:prstGeom>
        </p:spPr>
        <p:txBody>
          <a:bodyPr vert="horz" lIns="91440" tIns="45720" rIns="91440" bIns="45720" rtlCol="0" anchor="ctr"/>
          <a:lstStyle>
            <a:lvl1pPr algn="ctr">
              <a:defRPr sz="1067">
                <a:solidFill>
                  <a:schemeClr val="bg1"/>
                </a:solidFill>
                <a:latin typeface="+mn-lt"/>
              </a:defRPr>
            </a:lvl1pPr>
          </a:lstStyle>
          <a:p>
            <a:r>
              <a:rPr lang="en-US"/>
              <a:t>Intel Confidential</a:t>
            </a:r>
          </a:p>
        </p:txBody>
      </p:sp>
    </p:spTree>
    <p:extLst>
      <p:ext uri="{BB962C8B-B14F-4D97-AF65-F5344CB8AC3E}">
        <p14:creationId xmlns:p14="http://schemas.microsoft.com/office/powerpoint/2010/main" val="2604672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Quote with Attribute">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607485" y="1604434"/>
            <a:ext cx="10970684" cy="4567767"/>
          </a:xfrm>
        </p:spPr>
        <p:txBody>
          <a:bodyPr anchor="ctr" anchorCtr="0"/>
          <a:lstStyle>
            <a:lvl1pPr marL="253994" indent="-253994">
              <a:defRPr sz="4800" b="1" baseline="0">
                <a:solidFill>
                  <a:schemeClr val="accent1"/>
                </a:solidFill>
                <a:latin typeface="+mn-lt"/>
                <a:cs typeface="Intel Clear"/>
              </a:defRPr>
            </a:lvl1pPr>
            <a:lvl2pPr marL="556670" indent="-300559">
              <a:buFont typeface="Intel Clear" pitchFamily="34" charset="0"/>
              <a:buChar char="–"/>
              <a:defRPr sz="1600" baseline="0">
                <a:latin typeface="+mn-lt"/>
                <a:cs typeface="Intel Clear" panose="020B0604020203020204" pitchFamily="34" charset="0"/>
              </a:defRPr>
            </a:lvl2pPr>
            <a:lvl3pPr marL="914377" indent="-304792">
              <a:buFont typeface="Intel Clear" pitchFamily="34" charset="0"/>
              <a:buChar char="–"/>
              <a:defRPr sz="1600">
                <a:latin typeface="+mn-lt"/>
              </a:defRPr>
            </a:lvl3pPr>
            <a:lvl4pPr>
              <a:buFont typeface="Intel Clear" pitchFamily="34" charset="0"/>
              <a:buChar char="–"/>
              <a:defRPr sz="1467">
                <a:latin typeface="+mn-lt"/>
              </a:defRPr>
            </a:lvl4pPr>
            <a:lvl5pPr>
              <a:buFont typeface="Intel Clear" pitchFamily="34" charset="0"/>
              <a:buChar char="–"/>
              <a:defRPr sz="1400">
                <a:latin typeface="+mn-lt"/>
              </a:defRPr>
            </a:lvl5pPr>
          </a:lstStyle>
          <a:p>
            <a:pPr lvl="0"/>
            <a:r>
              <a:rPr lang="en-US" dirty="0"/>
              <a:t>“36pt Intel Clear Bold Text”</a:t>
            </a:r>
          </a:p>
          <a:p>
            <a:pPr lvl="1"/>
            <a:r>
              <a:rPr lang="en-US" dirty="0" err="1"/>
              <a:t>12pt</a:t>
            </a:r>
            <a:r>
              <a:rPr lang="en-US" dirty="0"/>
              <a:t> Attribution</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p:txBody>
          <a:bodyPr/>
          <a:lstStyle/>
          <a:p>
            <a:fld id="{07B074DC-53A4-4939-84C7-45108117554F}" type="slidenum">
              <a:rPr lang="en-US" smtClean="0"/>
              <a:t>‹#›</a:t>
            </a:fld>
            <a:endParaRPr lang="en-US"/>
          </a:p>
        </p:txBody>
      </p:sp>
      <p:sp>
        <p:nvSpPr>
          <p:cNvPr id="7" name="Title 6"/>
          <p:cNvSpPr>
            <a:spLocks noGrp="1"/>
          </p:cNvSpPr>
          <p:nvPr>
            <p:ph type="title" hasCustomPrompt="1"/>
          </p:nvPr>
        </p:nvSpPr>
        <p:spPr>
          <a:xfrm>
            <a:off x="607484" y="411797"/>
            <a:ext cx="10972800" cy="1158240"/>
          </a:xfrm>
        </p:spPr>
        <p:txBody>
          <a:bodyPr/>
          <a:lstStyle>
            <a:lvl1pPr>
              <a:defRPr b="0" i="0" baseline="0">
                <a:solidFill>
                  <a:schemeClr val="tx2"/>
                </a:solidFill>
                <a:latin typeface="Intel Clear"/>
                <a:cs typeface="Intel Clear"/>
              </a:defRPr>
            </a:lvl1pPr>
          </a:lstStyle>
          <a:p>
            <a:r>
              <a:rPr lang="en-US" dirty="0"/>
              <a:t>28pt Intel Clear Headline</a:t>
            </a:r>
          </a:p>
        </p:txBody>
      </p:sp>
      <p:sp>
        <p:nvSpPr>
          <p:cNvPr id="5" name="Footer Placeholder 4"/>
          <p:cNvSpPr>
            <a:spLocks noGrp="1"/>
          </p:cNvSpPr>
          <p:nvPr>
            <p:ph type="ftr" sz="quarter" idx="3"/>
          </p:nvPr>
        </p:nvSpPr>
        <p:spPr>
          <a:xfrm>
            <a:off x="4165600" y="6432516"/>
            <a:ext cx="3860800" cy="365125"/>
          </a:xfrm>
          <a:prstGeom prst="rect">
            <a:avLst/>
          </a:prstGeom>
        </p:spPr>
        <p:txBody>
          <a:bodyPr vert="horz" lIns="91440" tIns="45720" rIns="91440" bIns="45720" rtlCol="0" anchor="ctr"/>
          <a:lstStyle>
            <a:lvl1pPr algn="ctr">
              <a:defRPr sz="1067">
                <a:solidFill>
                  <a:schemeClr val="bg1"/>
                </a:solidFill>
                <a:latin typeface="+mn-lt"/>
              </a:defRPr>
            </a:lvl1pPr>
          </a:lstStyle>
          <a:p>
            <a:r>
              <a:rPr lang="en-US"/>
              <a:t>Intel Confidential</a:t>
            </a:r>
          </a:p>
        </p:txBody>
      </p:sp>
    </p:spTree>
    <p:extLst>
      <p:ext uri="{BB962C8B-B14F-4D97-AF65-F5344CB8AC3E}">
        <p14:creationId xmlns:p14="http://schemas.microsoft.com/office/powerpoint/2010/main" val="678377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Full Bleed Image">
    <p:spTree>
      <p:nvGrpSpPr>
        <p:cNvPr id="1" name=""/>
        <p:cNvGrpSpPr/>
        <p:nvPr/>
      </p:nvGrpSpPr>
      <p:grpSpPr>
        <a:xfrm>
          <a:off x="0" y="0"/>
          <a:ext cx="0" cy="0"/>
          <a:chOff x="0" y="0"/>
          <a:chExt cx="0" cy="0"/>
        </a:xfrm>
      </p:grpSpPr>
      <p:sp>
        <p:nvSpPr>
          <p:cNvPr id="9" name="Picture Placeholder 8"/>
          <p:cNvSpPr>
            <a:spLocks noGrp="1"/>
          </p:cNvSpPr>
          <p:nvPr>
            <p:ph type="pic" sz="quarter" idx="13" hasCustomPrompt="1"/>
          </p:nvPr>
        </p:nvSpPr>
        <p:spPr>
          <a:xfrm>
            <a:off x="0" y="0"/>
            <a:ext cx="12192000" cy="6358467"/>
          </a:xfrm>
          <a:solidFill>
            <a:schemeClr val="bg2">
              <a:lumMod val="60000"/>
              <a:lumOff val="40000"/>
            </a:schemeClr>
          </a:solidFill>
        </p:spPr>
        <p:txBody>
          <a:bodyPr/>
          <a:lstStyle>
            <a:lvl1pPr marL="0" marR="0" indent="0" algn="l" defTabSz="609585" rtl="0" eaLnBrk="1" fontAlgn="auto" latinLnBrk="0" hangingPunct="1">
              <a:lnSpc>
                <a:spcPct val="100000"/>
              </a:lnSpc>
              <a:spcBef>
                <a:spcPts val="1600"/>
              </a:spcBef>
              <a:spcAft>
                <a:spcPts val="0"/>
              </a:spcAft>
              <a:buClrTx/>
              <a:buSzTx/>
              <a:buFont typeface="Wingdings" panose="05000000000000000000" pitchFamily="2" charset="2"/>
              <a:buNone/>
              <a:tabLst/>
              <a:defRPr baseline="0"/>
            </a:lvl1pPr>
          </a:lstStyle>
          <a:p>
            <a:r>
              <a:rPr lang="en-US" dirty="0"/>
              <a:t>Insert photo here. Drag picture to placeholder or click icon to add.</a:t>
            </a:r>
          </a:p>
        </p:txBody>
      </p:sp>
      <p:sp>
        <p:nvSpPr>
          <p:cNvPr id="6" name="Slide Number Placeholder 5"/>
          <p:cNvSpPr>
            <a:spLocks noGrp="1"/>
          </p:cNvSpPr>
          <p:nvPr>
            <p:ph type="sldNum" sz="quarter" idx="12"/>
          </p:nvPr>
        </p:nvSpPr>
        <p:spPr>
          <a:xfrm>
            <a:off x="9163136" y="6432516"/>
            <a:ext cx="2844800" cy="365125"/>
          </a:xfrm>
        </p:spPr>
        <p:txBody>
          <a:bodyPr/>
          <a:lstStyle/>
          <a:p>
            <a:fld id="{07B074DC-53A4-4939-84C7-45108117554F}" type="slidenum">
              <a:rPr lang="en-US" smtClean="0"/>
              <a:t>‹#›</a:t>
            </a:fld>
            <a:endParaRPr lang="en-US"/>
          </a:p>
        </p:txBody>
      </p:sp>
      <p:sp>
        <p:nvSpPr>
          <p:cNvPr id="7" name="Title 6"/>
          <p:cNvSpPr>
            <a:spLocks noGrp="1"/>
          </p:cNvSpPr>
          <p:nvPr>
            <p:ph type="title" hasCustomPrompt="1"/>
          </p:nvPr>
        </p:nvSpPr>
        <p:spPr>
          <a:xfrm>
            <a:off x="607484" y="411797"/>
            <a:ext cx="10972800" cy="1158240"/>
          </a:xfrm>
        </p:spPr>
        <p:txBody>
          <a:bodyPr/>
          <a:lstStyle>
            <a:lvl1pPr>
              <a:defRPr b="0" i="0" baseline="0">
                <a:solidFill>
                  <a:schemeClr val="tx2"/>
                </a:solidFill>
                <a:latin typeface="Intel Clear"/>
                <a:cs typeface="Intel Clear"/>
              </a:defRPr>
            </a:lvl1pPr>
          </a:lstStyle>
          <a:p>
            <a:r>
              <a:rPr lang="en-US" dirty="0"/>
              <a:t>28pt Intel Clear Headline</a:t>
            </a:r>
          </a:p>
        </p:txBody>
      </p:sp>
      <p:sp>
        <p:nvSpPr>
          <p:cNvPr id="5" name="Footer Placeholder 4"/>
          <p:cNvSpPr>
            <a:spLocks noGrp="1"/>
          </p:cNvSpPr>
          <p:nvPr>
            <p:ph type="ftr" sz="quarter" idx="3"/>
          </p:nvPr>
        </p:nvSpPr>
        <p:spPr>
          <a:xfrm>
            <a:off x="4165600" y="6432516"/>
            <a:ext cx="3860800" cy="365125"/>
          </a:xfrm>
          <a:prstGeom prst="rect">
            <a:avLst/>
          </a:prstGeom>
        </p:spPr>
        <p:txBody>
          <a:bodyPr vert="horz" lIns="91440" tIns="45720" rIns="91440" bIns="45720" rtlCol="0" anchor="ctr"/>
          <a:lstStyle>
            <a:lvl1pPr algn="ctr">
              <a:defRPr sz="1067">
                <a:solidFill>
                  <a:schemeClr val="bg1"/>
                </a:solidFill>
                <a:latin typeface="+mn-lt"/>
              </a:defRPr>
            </a:lvl1pPr>
          </a:lstStyle>
          <a:p>
            <a:r>
              <a:rPr lang="en-US"/>
              <a:t>Intel Confidential</a:t>
            </a:r>
          </a:p>
        </p:txBody>
      </p:sp>
    </p:spTree>
    <p:extLst>
      <p:ext uri="{BB962C8B-B14F-4D97-AF65-F5344CB8AC3E}">
        <p14:creationId xmlns:p14="http://schemas.microsoft.com/office/powerpoint/2010/main" val="33288094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ext and Bottom Half Image">
    <p:spTree>
      <p:nvGrpSpPr>
        <p:cNvPr id="1" name=""/>
        <p:cNvGrpSpPr/>
        <p:nvPr/>
      </p:nvGrpSpPr>
      <p:grpSpPr>
        <a:xfrm>
          <a:off x="0" y="0"/>
          <a:ext cx="0" cy="0"/>
          <a:chOff x="0" y="0"/>
          <a:chExt cx="0" cy="0"/>
        </a:xfrm>
      </p:grpSpPr>
      <p:sp>
        <p:nvSpPr>
          <p:cNvPr id="9" name="Picture Placeholder 8"/>
          <p:cNvSpPr>
            <a:spLocks noGrp="1"/>
          </p:cNvSpPr>
          <p:nvPr>
            <p:ph type="pic" sz="quarter" idx="13" hasCustomPrompt="1"/>
          </p:nvPr>
        </p:nvSpPr>
        <p:spPr>
          <a:xfrm>
            <a:off x="0" y="3432175"/>
            <a:ext cx="12192000" cy="2926292"/>
          </a:xfrm>
          <a:solidFill>
            <a:schemeClr val="bg2">
              <a:lumMod val="60000"/>
              <a:lumOff val="40000"/>
            </a:schemeClr>
          </a:solidFill>
        </p:spPr>
        <p:txBody>
          <a:bodyPr/>
          <a:lstStyle>
            <a:lvl1pPr marL="0" marR="0" indent="0" algn="l" defTabSz="609585" rtl="0" eaLnBrk="1" fontAlgn="auto" latinLnBrk="0" hangingPunct="1">
              <a:lnSpc>
                <a:spcPct val="100000"/>
              </a:lnSpc>
              <a:spcBef>
                <a:spcPts val="1600"/>
              </a:spcBef>
              <a:spcAft>
                <a:spcPts val="0"/>
              </a:spcAft>
              <a:buClrTx/>
              <a:buSzTx/>
              <a:buFont typeface="Wingdings" panose="05000000000000000000" pitchFamily="2" charset="2"/>
              <a:buNone/>
              <a:tabLst/>
              <a:defRPr baseline="0"/>
            </a:lvl1pPr>
          </a:lstStyle>
          <a:p>
            <a:r>
              <a:rPr lang="en-US" dirty="0"/>
              <a:t>Insert photo here. Drag picture to placeholder or click icon to add.</a:t>
            </a:r>
          </a:p>
        </p:txBody>
      </p:sp>
      <p:sp>
        <p:nvSpPr>
          <p:cNvPr id="6" name="Slide Number Placeholder 5"/>
          <p:cNvSpPr>
            <a:spLocks noGrp="1"/>
          </p:cNvSpPr>
          <p:nvPr>
            <p:ph type="sldNum" sz="quarter" idx="12"/>
          </p:nvPr>
        </p:nvSpPr>
        <p:spPr>
          <a:xfrm>
            <a:off x="9163136" y="6432516"/>
            <a:ext cx="2844800" cy="365125"/>
          </a:xfrm>
        </p:spPr>
        <p:txBody>
          <a:bodyPr/>
          <a:lstStyle/>
          <a:p>
            <a:fld id="{07B074DC-53A4-4939-84C7-45108117554F}" type="slidenum">
              <a:rPr lang="en-US" smtClean="0"/>
              <a:t>‹#›</a:t>
            </a:fld>
            <a:endParaRPr lang="en-US"/>
          </a:p>
        </p:txBody>
      </p:sp>
      <p:sp>
        <p:nvSpPr>
          <p:cNvPr id="18" name="Content Placeholder 2"/>
          <p:cNvSpPr>
            <a:spLocks noGrp="1"/>
          </p:cNvSpPr>
          <p:nvPr>
            <p:ph sz="half" idx="1" hasCustomPrompt="1"/>
          </p:nvPr>
        </p:nvSpPr>
        <p:spPr>
          <a:xfrm>
            <a:off x="607485" y="1604433"/>
            <a:ext cx="5342468" cy="1745720"/>
          </a:xfrm>
        </p:spPr>
        <p:txBody>
          <a:bodyPr vert="horz" lIns="0" tIns="0" rIns="0" bIns="0" rtlCol="0">
            <a:noAutofit/>
          </a:bodyPr>
          <a:lstStyle>
            <a:lvl1pPr>
              <a:defRPr lang="en-US" dirty="0" smtClean="0"/>
            </a:lvl1pPr>
            <a:lvl2pPr>
              <a:defRPr lang="en-US" dirty="0" smtClean="0">
                <a:solidFill>
                  <a:schemeClr val="tx2"/>
                </a:solidFill>
              </a:defRPr>
            </a:lvl2pPr>
            <a:lvl3pPr>
              <a:defRPr lang="en-US" sz="1867" dirty="0" smtClean="0">
                <a:solidFill>
                  <a:schemeClr val="tx2"/>
                </a:solidFill>
              </a:defRPr>
            </a:lvl3pPr>
            <a:lvl4pPr>
              <a:defRPr lang="en-US" sz="1600" dirty="0" smtClean="0">
                <a:solidFill>
                  <a:schemeClr val="tx2"/>
                </a:solidFill>
              </a:defRPr>
            </a:lvl4pPr>
            <a:lvl5pPr>
              <a:defRPr lang="en-US" sz="1600" dirty="0">
                <a:solidFill>
                  <a:schemeClr val="tx2"/>
                </a:solidFill>
              </a:defRPr>
            </a:lvl5pPr>
          </a:lstStyle>
          <a:p>
            <a:pPr marR="0" lvl="0" fontAlgn="auto">
              <a:lnSpc>
                <a:spcPct val="100000"/>
              </a:lnSpc>
              <a:buClrTx/>
              <a:buSzTx/>
              <a:tabLst/>
            </a:pPr>
            <a:r>
              <a:rPr lang="en-US" dirty="0"/>
              <a:t>18pt Intel Clear body text</a:t>
            </a:r>
          </a:p>
          <a:p>
            <a:pPr marR="0" lvl="1" fontAlgn="auto">
              <a:lnSpc>
                <a:spcPct val="100000"/>
              </a:lnSpc>
              <a:spcAft>
                <a:spcPts val="0"/>
              </a:spcAft>
              <a:buClrTx/>
              <a:buSzTx/>
              <a:tabLst/>
            </a:pPr>
            <a:r>
              <a:rPr lang="en-US" dirty="0"/>
              <a:t>16pt Intel Clear bullet one</a:t>
            </a:r>
          </a:p>
          <a:p>
            <a:pPr lvl="2"/>
            <a:r>
              <a:rPr lang="en-US" dirty="0" err="1"/>
              <a:t>14pt</a:t>
            </a:r>
            <a:r>
              <a:rPr lang="en-US" dirty="0"/>
              <a:t> Intel Clear third level</a:t>
            </a:r>
          </a:p>
          <a:p>
            <a:pPr lvl="3"/>
            <a:r>
              <a:rPr lang="en-US" dirty="0" err="1"/>
              <a:t>12pt</a:t>
            </a:r>
            <a:r>
              <a:rPr lang="en-US" dirty="0"/>
              <a:t> Intel Clear fourth level</a:t>
            </a:r>
          </a:p>
          <a:p>
            <a:pPr lvl="4"/>
            <a:r>
              <a:rPr lang="en-US" dirty="0" err="1"/>
              <a:t>12pt</a:t>
            </a:r>
            <a:r>
              <a:rPr lang="en-US" dirty="0"/>
              <a:t> Intel Clear fifth level</a:t>
            </a:r>
          </a:p>
        </p:txBody>
      </p:sp>
      <p:sp>
        <p:nvSpPr>
          <p:cNvPr id="19" name="Content Placeholder 2"/>
          <p:cNvSpPr>
            <a:spLocks noGrp="1"/>
          </p:cNvSpPr>
          <p:nvPr>
            <p:ph sz="half" idx="15" hasCustomPrompt="1"/>
          </p:nvPr>
        </p:nvSpPr>
        <p:spPr>
          <a:xfrm>
            <a:off x="6237817" y="1604433"/>
            <a:ext cx="5340352" cy="1745720"/>
          </a:xfrm>
        </p:spPr>
        <p:txBody>
          <a:bodyPr vert="horz" lIns="0" tIns="0" rIns="0" bIns="0" rtlCol="0">
            <a:noAutofit/>
          </a:bodyPr>
          <a:lstStyle>
            <a:lvl1pPr>
              <a:defRPr lang="en-US" dirty="0" smtClean="0"/>
            </a:lvl1pPr>
            <a:lvl2pPr>
              <a:defRPr lang="en-US" dirty="0" smtClean="0">
                <a:solidFill>
                  <a:schemeClr val="tx2"/>
                </a:solidFill>
              </a:defRPr>
            </a:lvl2pPr>
            <a:lvl3pPr>
              <a:defRPr lang="en-US" sz="1867" dirty="0" smtClean="0">
                <a:solidFill>
                  <a:schemeClr val="tx2"/>
                </a:solidFill>
              </a:defRPr>
            </a:lvl3pPr>
            <a:lvl4pPr>
              <a:defRPr lang="en-US" sz="1600" dirty="0" smtClean="0">
                <a:solidFill>
                  <a:schemeClr val="tx2"/>
                </a:solidFill>
              </a:defRPr>
            </a:lvl4pPr>
            <a:lvl5pPr>
              <a:defRPr lang="en-US" sz="1600" dirty="0">
                <a:solidFill>
                  <a:schemeClr val="tx2"/>
                </a:solidFill>
              </a:defRPr>
            </a:lvl5pPr>
          </a:lstStyle>
          <a:p>
            <a:pPr marR="0" lvl="0" fontAlgn="auto">
              <a:lnSpc>
                <a:spcPct val="100000"/>
              </a:lnSpc>
              <a:buClrTx/>
              <a:buSzTx/>
              <a:tabLst/>
            </a:pPr>
            <a:r>
              <a:rPr lang="en-US" dirty="0"/>
              <a:t>18pt Intel Clear body text</a:t>
            </a:r>
          </a:p>
          <a:p>
            <a:pPr marR="0" lvl="1" fontAlgn="auto">
              <a:lnSpc>
                <a:spcPct val="100000"/>
              </a:lnSpc>
              <a:spcAft>
                <a:spcPts val="0"/>
              </a:spcAft>
              <a:buClrTx/>
              <a:buSzTx/>
              <a:tabLst/>
            </a:pPr>
            <a:r>
              <a:rPr lang="en-US" dirty="0"/>
              <a:t>16pt Intel Clear bullet one</a:t>
            </a:r>
          </a:p>
          <a:p>
            <a:pPr lvl="2"/>
            <a:r>
              <a:rPr lang="en-US" dirty="0" err="1"/>
              <a:t>14pt</a:t>
            </a:r>
            <a:r>
              <a:rPr lang="en-US" dirty="0"/>
              <a:t> Intel Clear third level</a:t>
            </a:r>
          </a:p>
          <a:p>
            <a:pPr lvl="3"/>
            <a:r>
              <a:rPr lang="en-US" dirty="0" err="1"/>
              <a:t>12pt</a:t>
            </a:r>
            <a:r>
              <a:rPr lang="en-US" dirty="0"/>
              <a:t> Intel Clear fourth level</a:t>
            </a:r>
          </a:p>
          <a:p>
            <a:pPr lvl="4"/>
            <a:r>
              <a:rPr lang="en-US" dirty="0" err="1"/>
              <a:t>12pt</a:t>
            </a:r>
            <a:r>
              <a:rPr lang="en-US" dirty="0"/>
              <a:t> Intel Clear fifth level</a:t>
            </a:r>
          </a:p>
        </p:txBody>
      </p:sp>
      <p:sp>
        <p:nvSpPr>
          <p:cNvPr id="3" name="TextBox 2"/>
          <p:cNvSpPr txBox="1"/>
          <p:nvPr/>
        </p:nvSpPr>
        <p:spPr>
          <a:xfrm>
            <a:off x="1345983" y="6634394"/>
            <a:ext cx="184731" cy="297454"/>
          </a:xfrm>
          <a:prstGeom prst="rect">
            <a:avLst/>
          </a:prstGeom>
          <a:noFill/>
        </p:spPr>
        <p:txBody>
          <a:bodyPr wrap="none" rtlCol="0">
            <a:spAutoFit/>
          </a:bodyPr>
          <a:lstStyle/>
          <a:p>
            <a:endParaRPr lang="en-US" sz="1333" dirty="0">
              <a:solidFill>
                <a:schemeClr val="tx2"/>
              </a:solidFill>
              <a:cs typeface="Intel Clear"/>
            </a:endParaRPr>
          </a:p>
        </p:txBody>
      </p:sp>
      <p:sp>
        <p:nvSpPr>
          <p:cNvPr id="10" name="Title 6"/>
          <p:cNvSpPr>
            <a:spLocks noGrp="1"/>
          </p:cNvSpPr>
          <p:nvPr>
            <p:ph type="title" hasCustomPrompt="1"/>
          </p:nvPr>
        </p:nvSpPr>
        <p:spPr>
          <a:xfrm>
            <a:off x="607484" y="411797"/>
            <a:ext cx="10972800" cy="1158240"/>
          </a:xfrm>
        </p:spPr>
        <p:txBody>
          <a:bodyPr/>
          <a:lstStyle>
            <a:lvl1pPr>
              <a:defRPr b="0" i="0" baseline="0">
                <a:solidFill>
                  <a:schemeClr val="tx2"/>
                </a:solidFill>
                <a:latin typeface="Intel Clear"/>
                <a:cs typeface="Intel Clear"/>
              </a:defRPr>
            </a:lvl1pPr>
          </a:lstStyle>
          <a:p>
            <a:r>
              <a:rPr lang="en-US" dirty="0"/>
              <a:t>28pt Intel Clear Headline</a:t>
            </a:r>
          </a:p>
        </p:txBody>
      </p:sp>
      <p:sp>
        <p:nvSpPr>
          <p:cNvPr id="8" name="Footer Placeholder 4"/>
          <p:cNvSpPr>
            <a:spLocks noGrp="1"/>
          </p:cNvSpPr>
          <p:nvPr>
            <p:ph type="ftr" sz="quarter" idx="3"/>
          </p:nvPr>
        </p:nvSpPr>
        <p:spPr>
          <a:xfrm>
            <a:off x="4165600" y="6432516"/>
            <a:ext cx="3860800" cy="365125"/>
          </a:xfrm>
          <a:prstGeom prst="rect">
            <a:avLst/>
          </a:prstGeom>
        </p:spPr>
        <p:txBody>
          <a:bodyPr vert="horz" lIns="91440" tIns="45720" rIns="91440" bIns="45720" rtlCol="0" anchor="ctr"/>
          <a:lstStyle>
            <a:lvl1pPr algn="ctr">
              <a:defRPr sz="1067">
                <a:solidFill>
                  <a:schemeClr val="bg1"/>
                </a:solidFill>
                <a:latin typeface="+mn-lt"/>
              </a:defRPr>
            </a:lvl1pPr>
          </a:lstStyle>
          <a:p>
            <a:r>
              <a:rPr lang="en-US"/>
              <a:t>Intel Confidential</a:t>
            </a:r>
          </a:p>
        </p:txBody>
      </p:sp>
    </p:spTree>
    <p:extLst>
      <p:ext uri="{BB962C8B-B14F-4D97-AF65-F5344CB8AC3E}">
        <p14:creationId xmlns:p14="http://schemas.microsoft.com/office/powerpoint/2010/main" val="11215161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ext and Right Image">
    <p:spTree>
      <p:nvGrpSpPr>
        <p:cNvPr id="1" name=""/>
        <p:cNvGrpSpPr/>
        <p:nvPr/>
      </p:nvGrpSpPr>
      <p:grpSpPr>
        <a:xfrm>
          <a:off x="0" y="0"/>
          <a:ext cx="0" cy="0"/>
          <a:chOff x="0" y="0"/>
          <a:chExt cx="0" cy="0"/>
        </a:xfrm>
      </p:grpSpPr>
      <p:sp>
        <p:nvSpPr>
          <p:cNvPr id="9" name="Picture Placeholder 8"/>
          <p:cNvSpPr>
            <a:spLocks noGrp="1"/>
          </p:cNvSpPr>
          <p:nvPr>
            <p:ph type="pic" sz="quarter" idx="13" hasCustomPrompt="1"/>
          </p:nvPr>
        </p:nvSpPr>
        <p:spPr>
          <a:xfrm>
            <a:off x="6237818" y="2"/>
            <a:ext cx="5954183" cy="6358465"/>
          </a:xfrm>
          <a:solidFill>
            <a:schemeClr val="bg2">
              <a:lumMod val="60000"/>
              <a:lumOff val="40000"/>
            </a:schemeClr>
          </a:solidFill>
        </p:spPr>
        <p:txBody>
          <a:bodyPr/>
          <a:lstStyle>
            <a:lvl1pPr>
              <a:defRPr baseline="0"/>
            </a:lvl1pPr>
          </a:lstStyle>
          <a:p>
            <a:r>
              <a:rPr lang="en-US" dirty="0"/>
              <a:t>Insert photo here. Drag picture to placeholder or click icon to add.</a:t>
            </a:r>
          </a:p>
        </p:txBody>
      </p:sp>
      <p:sp>
        <p:nvSpPr>
          <p:cNvPr id="2" name="Title 1"/>
          <p:cNvSpPr>
            <a:spLocks noGrp="1"/>
          </p:cNvSpPr>
          <p:nvPr>
            <p:ph type="title" hasCustomPrompt="1"/>
          </p:nvPr>
        </p:nvSpPr>
        <p:spPr>
          <a:xfrm>
            <a:off x="607484" y="411797"/>
            <a:ext cx="5342467" cy="1158240"/>
          </a:xfrm>
        </p:spPr>
        <p:txBody>
          <a:bodyPr>
            <a:noAutofit/>
          </a:bodyPr>
          <a:lstStyle>
            <a:lvl1pPr>
              <a:defRPr sz="3733" b="0" i="0" baseline="0">
                <a:solidFill>
                  <a:schemeClr val="tx2"/>
                </a:solidFill>
                <a:latin typeface="Intel Clear"/>
                <a:cs typeface="Intel Clear"/>
              </a:defRPr>
            </a:lvl1pPr>
          </a:lstStyle>
          <a:p>
            <a:r>
              <a:rPr lang="en-US" dirty="0"/>
              <a:t>28pt Intel Clear Headline</a:t>
            </a:r>
          </a:p>
        </p:txBody>
      </p:sp>
      <p:sp>
        <p:nvSpPr>
          <p:cNvPr id="6" name="Slide Number Placeholder 5"/>
          <p:cNvSpPr>
            <a:spLocks noGrp="1"/>
          </p:cNvSpPr>
          <p:nvPr>
            <p:ph type="sldNum" sz="quarter" idx="12"/>
          </p:nvPr>
        </p:nvSpPr>
        <p:spPr>
          <a:xfrm>
            <a:off x="9163136" y="6432516"/>
            <a:ext cx="2844800" cy="365125"/>
          </a:xfrm>
        </p:spPr>
        <p:txBody>
          <a:bodyPr/>
          <a:lstStyle/>
          <a:p>
            <a:fld id="{07B074DC-53A4-4939-84C7-45108117554F}" type="slidenum">
              <a:rPr lang="en-US" smtClean="0"/>
              <a:t>‹#›</a:t>
            </a:fld>
            <a:endParaRPr lang="en-US"/>
          </a:p>
        </p:txBody>
      </p:sp>
      <p:sp>
        <p:nvSpPr>
          <p:cNvPr id="17" name="Content Placeholder 2"/>
          <p:cNvSpPr>
            <a:spLocks noGrp="1"/>
          </p:cNvSpPr>
          <p:nvPr>
            <p:ph sz="half" idx="1" hasCustomPrompt="1"/>
          </p:nvPr>
        </p:nvSpPr>
        <p:spPr>
          <a:xfrm>
            <a:off x="607485" y="1766992"/>
            <a:ext cx="5342467" cy="4567767"/>
          </a:xfrm>
        </p:spPr>
        <p:txBody>
          <a:bodyPr vert="horz" lIns="0" tIns="0" rIns="0" bIns="0" rtlCol="0">
            <a:noAutofit/>
          </a:bodyPr>
          <a:lstStyle>
            <a:lvl1pPr>
              <a:defRPr lang="en-US" dirty="0" smtClean="0"/>
            </a:lvl1pPr>
            <a:lvl2pPr>
              <a:defRPr lang="en-US" dirty="0" smtClean="0">
                <a:solidFill>
                  <a:schemeClr val="tx2"/>
                </a:solidFill>
              </a:defRPr>
            </a:lvl2pPr>
            <a:lvl3pPr>
              <a:defRPr lang="en-US" sz="1867" dirty="0" smtClean="0">
                <a:solidFill>
                  <a:schemeClr val="tx2"/>
                </a:solidFill>
              </a:defRPr>
            </a:lvl3pPr>
            <a:lvl4pPr>
              <a:defRPr lang="en-US" sz="1600" dirty="0" smtClean="0">
                <a:solidFill>
                  <a:schemeClr val="tx2"/>
                </a:solidFill>
              </a:defRPr>
            </a:lvl4pPr>
            <a:lvl5pPr>
              <a:defRPr lang="en-US" sz="1600" dirty="0">
                <a:solidFill>
                  <a:schemeClr val="tx2"/>
                </a:solidFill>
              </a:defRPr>
            </a:lvl5pPr>
          </a:lstStyle>
          <a:p>
            <a:pPr marR="0" lvl="0" fontAlgn="auto">
              <a:lnSpc>
                <a:spcPct val="100000"/>
              </a:lnSpc>
              <a:buClrTx/>
              <a:buSzTx/>
              <a:tabLst/>
            </a:pPr>
            <a:r>
              <a:rPr lang="en-US" dirty="0"/>
              <a:t>18pt Intel Clear body text</a:t>
            </a:r>
          </a:p>
          <a:p>
            <a:pPr marR="0" lvl="1" fontAlgn="auto">
              <a:lnSpc>
                <a:spcPct val="100000"/>
              </a:lnSpc>
              <a:spcAft>
                <a:spcPts val="0"/>
              </a:spcAft>
              <a:buClrTx/>
              <a:buSzTx/>
              <a:tabLst/>
            </a:pPr>
            <a:r>
              <a:rPr lang="en-US" dirty="0"/>
              <a:t>16pt Intel Clear bullet one</a:t>
            </a:r>
          </a:p>
          <a:p>
            <a:pPr lvl="2"/>
            <a:r>
              <a:rPr lang="en-US" dirty="0" err="1"/>
              <a:t>14pt</a:t>
            </a:r>
            <a:r>
              <a:rPr lang="en-US" dirty="0"/>
              <a:t> Intel Clear third level</a:t>
            </a:r>
          </a:p>
          <a:p>
            <a:pPr lvl="3"/>
            <a:r>
              <a:rPr lang="en-US" dirty="0" err="1"/>
              <a:t>12pt</a:t>
            </a:r>
            <a:r>
              <a:rPr lang="en-US" dirty="0"/>
              <a:t> Intel Clear fourth level</a:t>
            </a:r>
          </a:p>
          <a:p>
            <a:pPr lvl="4"/>
            <a:r>
              <a:rPr lang="en-US" dirty="0" err="1"/>
              <a:t>12pt</a:t>
            </a:r>
            <a:r>
              <a:rPr lang="en-US" dirty="0"/>
              <a:t> Intel Clear fifth level</a:t>
            </a:r>
          </a:p>
        </p:txBody>
      </p:sp>
      <p:sp>
        <p:nvSpPr>
          <p:cNvPr id="7" name="Footer Placeholder 4"/>
          <p:cNvSpPr>
            <a:spLocks noGrp="1"/>
          </p:cNvSpPr>
          <p:nvPr>
            <p:ph type="ftr" sz="quarter" idx="3"/>
          </p:nvPr>
        </p:nvSpPr>
        <p:spPr>
          <a:xfrm>
            <a:off x="4165600" y="6432516"/>
            <a:ext cx="3860800" cy="365125"/>
          </a:xfrm>
          <a:prstGeom prst="rect">
            <a:avLst/>
          </a:prstGeom>
        </p:spPr>
        <p:txBody>
          <a:bodyPr vert="horz" lIns="91440" tIns="45720" rIns="91440" bIns="45720" rtlCol="0" anchor="ctr"/>
          <a:lstStyle>
            <a:lvl1pPr algn="ctr">
              <a:defRPr sz="1067">
                <a:solidFill>
                  <a:schemeClr val="bg1"/>
                </a:solidFill>
                <a:latin typeface="+mn-lt"/>
              </a:defRPr>
            </a:lvl1pPr>
          </a:lstStyle>
          <a:p>
            <a:r>
              <a:rPr lang="en-US"/>
              <a:t>Intel Confidential</a:t>
            </a:r>
          </a:p>
        </p:txBody>
      </p:sp>
    </p:spTree>
    <p:extLst>
      <p:ext uri="{BB962C8B-B14F-4D97-AF65-F5344CB8AC3E}">
        <p14:creationId xmlns:p14="http://schemas.microsoft.com/office/powerpoint/2010/main" val="18503916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White Section Break">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7484" y="2810749"/>
            <a:ext cx="10363200" cy="1362075"/>
          </a:xfrm>
        </p:spPr>
        <p:txBody>
          <a:bodyPr anchor="b" anchorCtr="0">
            <a:noAutofit/>
          </a:bodyPr>
          <a:lstStyle>
            <a:lvl1pPr algn="l">
              <a:lnSpc>
                <a:spcPct val="80000"/>
              </a:lnSpc>
              <a:defRPr sz="7200" b="0" cap="none" spc="0" baseline="0">
                <a:solidFill>
                  <a:schemeClr val="tx2">
                    <a:alpha val="90000"/>
                  </a:schemeClr>
                </a:solidFill>
                <a:latin typeface="Intel Clear Pro" panose="020B0804020202060201" pitchFamily="34" charset="0"/>
                <a:cs typeface="Intel Clear Pro" panose="020B0804020202060201" pitchFamily="34" charset="0"/>
              </a:defRPr>
            </a:lvl1pPr>
          </a:lstStyle>
          <a:p>
            <a:r>
              <a:rPr lang="en-US" dirty="0"/>
              <a:t>54pt Intel Clear Pro</a:t>
            </a:r>
            <a:br>
              <a:rPr lang="en-US" dirty="0"/>
            </a:br>
            <a:r>
              <a:rPr lang="en-US" dirty="0"/>
              <a:t>white section break</a:t>
            </a:r>
          </a:p>
        </p:txBody>
      </p:sp>
      <p:sp>
        <p:nvSpPr>
          <p:cNvPr id="3" name="Text Placeholder 2"/>
          <p:cNvSpPr>
            <a:spLocks noGrp="1"/>
          </p:cNvSpPr>
          <p:nvPr>
            <p:ph type="body" idx="1" hasCustomPrompt="1"/>
          </p:nvPr>
        </p:nvSpPr>
        <p:spPr>
          <a:xfrm>
            <a:off x="607484" y="4321533"/>
            <a:ext cx="10363200" cy="1500187"/>
          </a:xfrm>
        </p:spPr>
        <p:txBody>
          <a:bodyPr anchor="t" anchorCtr="0">
            <a:noAutofit/>
          </a:bodyPr>
          <a:lstStyle>
            <a:lvl1pPr marL="0" indent="0">
              <a:buNone/>
              <a:defRPr sz="2133" b="0" baseline="0">
                <a:solidFill>
                  <a:schemeClr val="accent2"/>
                </a:solidFill>
                <a:latin typeface="+mn-lt"/>
                <a:cs typeface="Intel Clear" panose="020B0604020203020204" pitchFamily="34" charset="0"/>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r>
              <a:rPr lang="en-US" dirty="0"/>
              <a:t>16pt Intel Clear Subhead</a:t>
            </a:r>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07B074DC-53A4-4939-84C7-45108117554F}" type="slidenum">
              <a:rPr lang="en-US" smtClean="0"/>
              <a:t>‹#›</a:t>
            </a:fld>
            <a:endParaRPr lang="en-US"/>
          </a:p>
        </p:txBody>
      </p:sp>
      <p:sp>
        <p:nvSpPr>
          <p:cNvPr id="5" name="Footer Placeholder 4"/>
          <p:cNvSpPr>
            <a:spLocks noGrp="1"/>
          </p:cNvSpPr>
          <p:nvPr>
            <p:ph type="ftr" sz="quarter" idx="3"/>
          </p:nvPr>
        </p:nvSpPr>
        <p:spPr>
          <a:xfrm>
            <a:off x="4165600" y="6432516"/>
            <a:ext cx="3860800" cy="365125"/>
          </a:xfrm>
          <a:prstGeom prst="rect">
            <a:avLst/>
          </a:prstGeom>
        </p:spPr>
        <p:txBody>
          <a:bodyPr vert="horz" lIns="91440" tIns="45720" rIns="91440" bIns="45720" rtlCol="0" anchor="ctr"/>
          <a:lstStyle>
            <a:lvl1pPr algn="ctr">
              <a:defRPr sz="1067">
                <a:solidFill>
                  <a:schemeClr val="bg1"/>
                </a:solidFill>
                <a:latin typeface="+mn-lt"/>
              </a:defRPr>
            </a:lvl1pPr>
          </a:lstStyle>
          <a:p>
            <a:r>
              <a:rPr lang="en-US"/>
              <a:t>Intel Confidential</a:t>
            </a:r>
          </a:p>
        </p:txBody>
      </p:sp>
    </p:spTree>
    <p:extLst>
      <p:ext uri="{BB962C8B-B14F-4D97-AF65-F5344CB8AC3E}">
        <p14:creationId xmlns:p14="http://schemas.microsoft.com/office/powerpoint/2010/main" val="33495864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secHead" preserve="1">
  <p:cSld name="Blue Section Break">
    <p:bg>
      <p:bgPr>
        <a:gradFill flip="none" rotWithShape="1">
          <a:gsLst>
            <a:gs pos="32000">
              <a:schemeClr val="tx2"/>
            </a:gs>
            <a:gs pos="95000">
              <a:srgbClr val="009FDF"/>
            </a:gs>
            <a:gs pos="78000">
              <a:srgbClr val="0071C5"/>
            </a:gs>
          </a:gsLst>
          <a:lin ang="19860000" scaled="0"/>
          <a:tileRect/>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7484" y="2810749"/>
            <a:ext cx="10363200" cy="1362075"/>
          </a:xfrm>
        </p:spPr>
        <p:txBody>
          <a:bodyPr anchor="b" anchorCtr="0">
            <a:noAutofit/>
          </a:bodyPr>
          <a:lstStyle>
            <a:lvl1pPr algn="l">
              <a:lnSpc>
                <a:spcPct val="80000"/>
              </a:lnSpc>
              <a:defRPr sz="7200" b="0" cap="none" spc="0" baseline="0">
                <a:solidFill>
                  <a:schemeClr val="bg1">
                    <a:alpha val="90000"/>
                  </a:schemeClr>
                </a:solidFill>
                <a:latin typeface="Intel Clear Pro" panose="020B0804020202060201" pitchFamily="34" charset="0"/>
                <a:cs typeface="Intel Clear Pro" panose="020B0804020202060201" pitchFamily="34" charset="0"/>
              </a:defRPr>
            </a:lvl1pPr>
          </a:lstStyle>
          <a:p>
            <a:r>
              <a:rPr lang="en-US" dirty="0"/>
              <a:t>54pt Intel Clear Pro</a:t>
            </a:r>
            <a:br>
              <a:rPr lang="en-US" dirty="0"/>
            </a:br>
            <a:r>
              <a:rPr lang="en-US" dirty="0"/>
              <a:t>blue section break</a:t>
            </a:r>
          </a:p>
        </p:txBody>
      </p:sp>
      <p:sp>
        <p:nvSpPr>
          <p:cNvPr id="3" name="Text Placeholder 2"/>
          <p:cNvSpPr>
            <a:spLocks noGrp="1"/>
          </p:cNvSpPr>
          <p:nvPr>
            <p:ph type="body" idx="1" hasCustomPrompt="1"/>
          </p:nvPr>
        </p:nvSpPr>
        <p:spPr>
          <a:xfrm>
            <a:off x="607484" y="4321533"/>
            <a:ext cx="10363200" cy="1500187"/>
          </a:xfrm>
        </p:spPr>
        <p:txBody>
          <a:bodyPr anchor="t" anchorCtr="0">
            <a:noAutofit/>
          </a:bodyPr>
          <a:lstStyle>
            <a:lvl1pPr marL="0" indent="0">
              <a:buNone/>
              <a:defRPr sz="2133" b="0" i="0" baseline="0">
                <a:solidFill>
                  <a:srgbClr val="F3D54E"/>
                </a:solidFill>
                <a:latin typeface="Intel Clear"/>
                <a:cs typeface="Intel Clear"/>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r>
              <a:rPr lang="en-US" dirty="0"/>
              <a:t>16pt Intel Clear Subhead</a:t>
            </a:r>
          </a:p>
        </p:txBody>
      </p:sp>
    </p:spTree>
    <p:extLst>
      <p:ext uri="{BB962C8B-B14F-4D97-AF65-F5344CB8AC3E}">
        <p14:creationId xmlns:p14="http://schemas.microsoft.com/office/powerpoint/2010/main" val="13080584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Hero Text">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607484" y="2979843"/>
            <a:ext cx="10363200" cy="1500187"/>
          </a:xfrm>
        </p:spPr>
        <p:txBody>
          <a:bodyPr anchor="t" anchorCtr="0">
            <a:noAutofit/>
          </a:bodyPr>
          <a:lstStyle>
            <a:lvl1pPr marL="0" indent="0">
              <a:buNone/>
              <a:defRPr sz="5333" b="0" baseline="0">
                <a:solidFill>
                  <a:schemeClr val="accent2"/>
                </a:solidFill>
                <a:latin typeface="Intel Clear"/>
                <a:ea typeface="Intel Clear"/>
                <a:cs typeface="Intel Clear"/>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r>
              <a:rPr lang="en-US" dirty="0"/>
              <a:t>40pt Intel Clear Light Body.</a:t>
            </a:r>
            <a:br>
              <a:rPr lang="en-US" dirty="0"/>
            </a:br>
            <a:r>
              <a:rPr lang="en-US" dirty="0"/>
              <a:t>For content that is not a section, but has a big idea in text only.</a:t>
            </a:r>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07B074DC-53A4-4939-84C7-45108117554F}" type="slidenum">
              <a:rPr lang="en-US" smtClean="0"/>
              <a:t>‹#›</a:t>
            </a:fld>
            <a:endParaRPr lang="en-US"/>
          </a:p>
        </p:txBody>
      </p:sp>
      <p:sp>
        <p:nvSpPr>
          <p:cNvPr id="7" name="Title 1"/>
          <p:cNvSpPr>
            <a:spLocks noGrp="1"/>
          </p:cNvSpPr>
          <p:nvPr>
            <p:ph type="title" hasCustomPrompt="1"/>
          </p:nvPr>
        </p:nvSpPr>
        <p:spPr>
          <a:xfrm>
            <a:off x="607484" y="1469059"/>
            <a:ext cx="10363200" cy="1362075"/>
          </a:xfrm>
        </p:spPr>
        <p:txBody>
          <a:bodyPr anchor="b" anchorCtr="0">
            <a:noAutofit/>
          </a:bodyPr>
          <a:lstStyle>
            <a:lvl1pPr algn="l">
              <a:lnSpc>
                <a:spcPct val="80000"/>
              </a:lnSpc>
              <a:defRPr sz="5333" b="0" cap="none" spc="0" baseline="0">
                <a:solidFill>
                  <a:schemeClr val="tx2"/>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dirty="0"/>
              <a:t>40pt Intel Clear Heading</a:t>
            </a:r>
          </a:p>
        </p:txBody>
      </p:sp>
      <p:sp>
        <p:nvSpPr>
          <p:cNvPr id="5" name="Footer Placeholder 4"/>
          <p:cNvSpPr>
            <a:spLocks noGrp="1"/>
          </p:cNvSpPr>
          <p:nvPr>
            <p:ph type="ftr" sz="quarter" idx="3"/>
          </p:nvPr>
        </p:nvSpPr>
        <p:spPr>
          <a:xfrm>
            <a:off x="4165600" y="6432516"/>
            <a:ext cx="3860800" cy="365125"/>
          </a:xfrm>
          <a:prstGeom prst="rect">
            <a:avLst/>
          </a:prstGeom>
        </p:spPr>
        <p:txBody>
          <a:bodyPr vert="horz" lIns="91440" tIns="45720" rIns="91440" bIns="45720" rtlCol="0" anchor="ctr"/>
          <a:lstStyle>
            <a:lvl1pPr algn="ctr">
              <a:defRPr sz="1067">
                <a:solidFill>
                  <a:schemeClr val="bg1"/>
                </a:solidFill>
                <a:latin typeface="+mn-lt"/>
              </a:defRPr>
            </a:lvl1pPr>
          </a:lstStyle>
          <a:p>
            <a:r>
              <a:rPr lang="en-US"/>
              <a:t>Intel Confidential</a:t>
            </a:r>
          </a:p>
        </p:txBody>
      </p:sp>
    </p:spTree>
    <p:extLst>
      <p:ext uri="{BB962C8B-B14F-4D97-AF65-F5344CB8AC3E}">
        <p14:creationId xmlns:p14="http://schemas.microsoft.com/office/powerpoint/2010/main" val="37994824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Blue Section Break Image">
    <p:bg>
      <p:bgPr>
        <a:gradFill>
          <a:gsLst>
            <a:gs pos="32000">
              <a:schemeClr val="tx2"/>
            </a:gs>
            <a:gs pos="95000">
              <a:srgbClr val="009FDF"/>
            </a:gs>
            <a:gs pos="78000">
              <a:srgbClr val="0071C5"/>
            </a:gs>
          </a:gsLst>
          <a:lin ang="19860000" scaled="0"/>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7484" y="3013451"/>
            <a:ext cx="10363200" cy="1362075"/>
          </a:xfrm>
        </p:spPr>
        <p:txBody>
          <a:bodyPr anchor="b" anchorCtr="0">
            <a:noAutofit/>
          </a:bodyPr>
          <a:lstStyle>
            <a:lvl1pPr algn="l">
              <a:lnSpc>
                <a:spcPct val="80000"/>
              </a:lnSpc>
              <a:defRPr sz="7200" b="0" cap="none" spc="0" baseline="0">
                <a:solidFill>
                  <a:schemeClr val="bg1">
                    <a:alpha val="90000"/>
                  </a:schemeClr>
                </a:solidFill>
                <a:latin typeface="Intel Clear Pro" panose="020B0804020202060201" pitchFamily="34" charset="0"/>
                <a:cs typeface="Intel Clear Pro" panose="020B0804020202060201" pitchFamily="34" charset="0"/>
              </a:defRPr>
            </a:lvl1pPr>
          </a:lstStyle>
          <a:p>
            <a:r>
              <a:rPr lang="en-US" dirty="0"/>
              <a:t>54pt Intel Clear Pro blue section</a:t>
            </a:r>
          </a:p>
        </p:txBody>
      </p:sp>
      <p:sp>
        <p:nvSpPr>
          <p:cNvPr id="3" name="Text Placeholder 2"/>
          <p:cNvSpPr>
            <a:spLocks noGrp="1"/>
          </p:cNvSpPr>
          <p:nvPr>
            <p:ph type="body" idx="1" hasCustomPrompt="1"/>
          </p:nvPr>
        </p:nvSpPr>
        <p:spPr>
          <a:xfrm>
            <a:off x="607484" y="4465049"/>
            <a:ext cx="10363200" cy="1500187"/>
          </a:xfrm>
        </p:spPr>
        <p:txBody>
          <a:bodyPr anchor="t" anchorCtr="0">
            <a:noAutofit/>
          </a:bodyPr>
          <a:lstStyle>
            <a:lvl1pPr marL="0" indent="0">
              <a:buNone/>
              <a:defRPr sz="2133" b="0" baseline="0">
                <a:solidFill>
                  <a:schemeClr val="accent3"/>
                </a:solidFill>
                <a:latin typeface="+mn-lt"/>
                <a:cs typeface="Intel Clear" panose="020B0604020203020204" pitchFamily="34" charset="0"/>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r>
              <a:rPr lang="en-US" dirty="0"/>
              <a:t>16pt Intel Clear Subhead</a:t>
            </a:r>
          </a:p>
        </p:txBody>
      </p:sp>
      <p:sp>
        <p:nvSpPr>
          <p:cNvPr id="5" name="Picture Placeholder 4"/>
          <p:cNvSpPr>
            <a:spLocks noGrp="1"/>
          </p:cNvSpPr>
          <p:nvPr>
            <p:ph type="pic" sz="quarter" idx="13" hasCustomPrompt="1"/>
          </p:nvPr>
        </p:nvSpPr>
        <p:spPr>
          <a:xfrm>
            <a:off x="0" y="2"/>
            <a:ext cx="12192000" cy="3432175"/>
          </a:xfrm>
          <a:solidFill>
            <a:schemeClr val="bg2">
              <a:lumMod val="60000"/>
              <a:lumOff val="40000"/>
            </a:schemeClr>
          </a:solidFill>
        </p:spPr>
        <p:txBody>
          <a:bodyPr/>
          <a:lstStyle>
            <a:lvl1pPr>
              <a:defRPr baseline="0">
                <a:solidFill>
                  <a:srgbClr val="0071C5"/>
                </a:solidFill>
              </a:defRPr>
            </a:lvl1pPr>
          </a:lstStyle>
          <a:p>
            <a:r>
              <a:rPr lang="en-US" dirty="0"/>
              <a:t>Insert photo here. Drag picture to placeholder or click icon to add.</a:t>
            </a:r>
          </a:p>
        </p:txBody>
      </p:sp>
    </p:spTree>
    <p:extLst>
      <p:ext uri="{BB962C8B-B14F-4D97-AF65-F5344CB8AC3E}">
        <p14:creationId xmlns:p14="http://schemas.microsoft.com/office/powerpoint/2010/main" val="1614375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07B074DC-53A4-4939-84C7-45108117554F}" type="slidenum">
              <a:rPr lang="en-US" smtClean="0"/>
              <a:t>‹#›</a:t>
            </a:fld>
            <a:endParaRPr lang="en-US"/>
          </a:p>
        </p:txBody>
      </p:sp>
      <p:sp>
        <p:nvSpPr>
          <p:cNvPr id="6" name="Title 6"/>
          <p:cNvSpPr>
            <a:spLocks noGrp="1"/>
          </p:cNvSpPr>
          <p:nvPr>
            <p:ph type="title" hasCustomPrompt="1"/>
          </p:nvPr>
        </p:nvSpPr>
        <p:spPr>
          <a:xfrm>
            <a:off x="607484" y="411797"/>
            <a:ext cx="10972800" cy="1158240"/>
          </a:xfrm>
        </p:spPr>
        <p:txBody>
          <a:bodyPr/>
          <a:lstStyle>
            <a:lvl1pPr>
              <a:defRPr b="0" i="0" baseline="0">
                <a:solidFill>
                  <a:schemeClr val="tx2"/>
                </a:solidFill>
                <a:latin typeface="Intel Clear"/>
                <a:cs typeface="Intel Clear"/>
              </a:defRPr>
            </a:lvl1pPr>
          </a:lstStyle>
          <a:p>
            <a:r>
              <a:rPr lang="en-US" dirty="0"/>
              <a:t>28pt Intel Clear Headline</a:t>
            </a:r>
          </a:p>
        </p:txBody>
      </p:sp>
      <p:sp>
        <p:nvSpPr>
          <p:cNvPr id="4" name="Footer Placeholder 4"/>
          <p:cNvSpPr>
            <a:spLocks noGrp="1"/>
          </p:cNvSpPr>
          <p:nvPr>
            <p:ph type="ftr" sz="quarter" idx="3"/>
          </p:nvPr>
        </p:nvSpPr>
        <p:spPr>
          <a:xfrm>
            <a:off x="4165600" y="6432516"/>
            <a:ext cx="3860800" cy="365125"/>
          </a:xfrm>
          <a:prstGeom prst="rect">
            <a:avLst/>
          </a:prstGeom>
        </p:spPr>
        <p:txBody>
          <a:bodyPr vert="horz" lIns="91440" tIns="45720" rIns="91440" bIns="45720" rtlCol="0" anchor="ctr"/>
          <a:lstStyle>
            <a:lvl1pPr algn="ctr">
              <a:defRPr sz="1067">
                <a:solidFill>
                  <a:schemeClr val="bg1"/>
                </a:solidFill>
                <a:latin typeface="+mn-lt"/>
              </a:defRPr>
            </a:lvl1pPr>
          </a:lstStyle>
          <a:p>
            <a:r>
              <a:rPr lang="en-US"/>
              <a:t>Intel Confidential</a:t>
            </a:r>
          </a:p>
        </p:txBody>
      </p:sp>
    </p:spTree>
    <p:extLst>
      <p:ext uri="{BB962C8B-B14F-4D97-AF65-F5344CB8AC3E}">
        <p14:creationId xmlns:p14="http://schemas.microsoft.com/office/powerpoint/2010/main" val="11623542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7B074DC-53A4-4939-84C7-45108117554F}" type="slidenum">
              <a:rPr lang="en-US" smtClean="0"/>
              <a:t>‹#›</a:t>
            </a:fld>
            <a:endParaRPr lang="en-US"/>
          </a:p>
        </p:txBody>
      </p:sp>
      <p:sp>
        <p:nvSpPr>
          <p:cNvPr id="3" name="Footer Placeholder 4"/>
          <p:cNvSpPr>
            <a:spLocks noGrp="1"/>
          </p:cNvSpPr>
          <p:nvPr>
            <p:ph type="ftr" sz="quarter" idx="3"/>
          </p:nvPr>
        </p:nvSpPr>
        <p:spPr>
          <a:xfrm>
            <a:off x="4165600" y="6432516"/>
            <a:ext cx="3860800" cy="365125"/>
          </a:xfrm>
          <a:prstGeom prst="rect">
            <a:avLst/>
          </a:prstGeom>
        </p:spPr>
        <p:txBody>
          <a:bodyPr vert="horz" lIns="91440" tIns="45720" rIns="91440" bIns="45720" rtlCol="0" anchor="ctr"/>
          <a:lstStyle>
            <a:lvl1pPr algn="ctr">
              <a:defRPr sz="1067">
                <a:solidFill>
                  <a:schemeClr val="bg1"/>
                </a:solidFill>
                <a:latin typeface="+mn-lt"/>
              </a:defRPr>
            </a:lvl1pPr>
          </a:lstStyle>
          <a:p>
            <a:r>
              <a:rPr lang="en-US"/>
              <a:t>Intel Confidential</a:t>
            </a:r>
          </a:p>
        </p:txBody>
      </p:sp>
    </p:spTree>
    <p:extLst>
      <p:ext uri="{BB962C8B-B14F-4D97-AF65-F5344CB8AC3E}">
        <p14:creationId xmlns:p14="http://schemas.microsoft.com/office/powerpoint/2010/main" val="385130876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blank" preserve="1">
  <p:cSld name="Back Cover Radial Gradient">
    <p:bg>
      <p:bgPr>
        <a:gradFill flip="none" rotWithShape="1">
          <a:gsLst>
            <a:gs pos="32000">
              <a:schemeClr val="tx2"/>
            </a:gs>
            <a:gs pos="95000">
              <a:srgbClr val="009FDF"/>
            </a:gs>
            <a:gs pos="78000">
              <a:srgbClr val="0071C5"/>
            </a:gs>
          </a:gsLst>
          <a:lin ang="19860000" scaled="0"/>
          <a:tileRect/>
        </a:gradFill>
        <a:effectLst/>
      </p:bgPr>
    </p:bg>
    <p:spTree>
      <p:nvGrpSpPr>
        <p:cNvPr id="1" name=""/>
        <p:cNvGrpSpPr/>
        <p:nvPr/>
      </p:nvGrpSpPr>
      <p:grpSpPr>
        <a:xfrm>
          <a:off x="0" y="0"/>
          <a:ext cx="0" cy="0"/>
          <a:chOff x="0" y="0"/>
          <a:chExt cx="0" cy="0"/>
        </a:xfrm>
      </p:grpSpPr>
      <p:pic>
        <p:nvPicPr>
          <p:cNvPr id="4" name="Picture 2" descr="\\.psf\Home\Desktop\Intel.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636577" y="2500173"/>
            <a:ext cx="2811727" cy="18531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453139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1_Back Cover Radial Gradient">
    <p:bg>
      <p:bgPr>
        <a:gradFill flip="none" rotWithShape="1">
          <a:gsLst>
            <a:gs pos="32000">
              <a:schemeClr val="tx2"/>
            </a:gs>
            <a:gs pos="95000">
              <a:srgbClr val="009FDF"/>
            </a:gs>
            <a:gs pos="78000">
              <a:srgbClr val="0071C5"/>
            </a:gs>
          </a:gsLst>
          <a:lin ang="19860000" scaled="0"/>
          <a:tileRect/>
        </a:gradFill>
        <a:effectLst/>
      </p:bgPr>
    </p:bg>
    <p:spTree>
      <p:nvGrpSpPr>
        <p:cNvPr id="1" name=""/>
        <p:cNvGrpSpPr/>
        <p:nvPr/>
      </p:nvGrpSpPr>
      <p:grpSpPr>
        <a:xfrm>
          <a:off x="0" y="0"/>
          <a:ext cx="0" cy="0"/>
          <a:chOff x="0" y="0"/>
          <a:chExt cx="0" cy="0"/>
        </a:xfrm>
      </p:grpSpPr>
      <p:pic>
        <p:nvPicPr>
          <p:cNvPr id="3" name="Picture 2" descr="int_experience_hrz_wht_rgb_3000.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665039" y="2499763"/>
            <a:ext cx="4861924" cy="2019320"/>
          </a:xfrm>
          <a:prstGeom prst="rect">
            <a:avLst/>
          </a:prstGeom>
        </p:spPr>
      </p:pic>
    </p:spTree>
    <p:extLst>
      <p:ext uri="{BB962C8B-B14F-4D97-AF65-F5344CB8AC3E}">
        <p14:creationId xmlns:p14="http://schemas.microsoft.com/office/powerpoint/2010/main" val="6443524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2116" y="6345936"/>
            <a:ext cx="12192000" cy="512064"/>
          </a:xfrm>
          <a:prstGeom prst="rect">
            <a:avLst/>
          </a:prstGeom>
          <a:gradFill flip="none" rotWithShape="1">
            <a:gsLst>
              <a:gs pos="32000">
                <a:schemeClr val="tx2"/>
              </a:gs>
              <a:gs pos="95000">
                <a:srgbClr val="009FDF"/>
              </a:gs>
              <a:gs pos="78000">
                <a:srgbClr val="0071C5"/>
              </a:gs>
            </a:gsLst>
            <a:lin ang="1986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dirty="0"/>
          </a:p>
        </p:txBody>
      </p:sp>
      <p:pic>
        <p:nvPicPr>
          <p:cNvPr id="11" name="Picture 2" descr="\\.psf\Home\Desktop\Intel.png"/>
          <p:cNvPicPr>
            <a:picLocks noChangeAspect="1" noChangeArrowheads="1"/>
          </p:cNvPicPr>
          <p:nvPr/>
        </p:nvPicPr>
        <p:blipFill>
          <a:blip r:embed="rId20" cstate="print">
            <a:extLst>
              <a:ext uri="{28A0092B-C50C-407E-A947-70E740481C1C}">
                <a14:useLocalDpi xmlns:a14="http://schemas.microsoft.com/office/drawing/2010/main" val="0"/>
              </a:ext>
            </a:extLst>
          </a:blip>
          <a:srcRect/>
          <a:stretch>
            <a:fillRect/>
          </a:stretch>
        </p:blipFill>
        <p:spPr bwMode="auto">
          <a:xfrm>
            <a:off x="10986554" y="6440786"/>
            <a:ext cx="485781" cy="320175"/>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Straight Connector 11"/>
          <p:cNvCxnSpPr/>
          <p:nvPr/>
        </p:nvCxnSpPr>
        <p:spPr>
          <a:xfrm>
            <a:off x="11624735" y="6432680"/>
            <a:ext cx="3175" cy="316992"/>
          </a:xfrm>
          <a:prstGeom prst="line">
            <a:avLst/>
          </a:prstGeom>
          <a:ln w="9525">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2" name="Title Placeholder 1"/>
          <p:cNvSpPr>
            <a:spLocks noGrp="1"/>
          </p:cNvSpPr>
          <p:nvPr>
            <p:ph type="title"/>
          </p:nvPr>
        </p:nvSpPr>
        <p:spPr>
          <a:xfrm>
            <a:off x="607484" y="413507"/>
            <a:ext cx="10972800" cy="1158240"/>
          </a:xfrm>
          <a:prstGeom prst="rect">
            <a:avLst/>
          </a:prstGeom>
        </p:spPr>
        <p:txBody>
          <a:bodyPr vert="horz" lIns="0" tIns="0" rIns="0" bIns="0" rtlCol="0" anchor="t" anchorCtr="0">
            <a:noAutofit/>
          </a:bodyPr>
          <a:lstStyle/>
          <a:p>
            <a:r>
              <a:rPr lang="en-US" dirty="0"/>
              <a:t>28pt Intel Clear Headline</a:t>
            </a:r>
          </a:p>
        </p:txBody>
      </p:sp>
      <p:sp>
        <p:nvSpPr>
          <p:cNvPr id="3" name="Text Placeholder 2"/>
          <p:cNvSpPr>
            <a:spLocks noGrp="1"/>
          </p:cNvSpPr>
          <p:nvPr>
            <p:ph type="body" idx="1"/>
          </p:nvPr>
        </p:nvSpPr>
        <p:spPr>
          <a:xfrm>
            <a:off x="607484" y="1604434"/>
            <a:ext cx="10970683" cy="4567767"/>
          </a:xfrm>
          <a:prstGeom prst="rect">
            <a:avLst/>
          </a:prstGeom>
        </p:spPr>
        <p:txBody>
          <a:bodyPr vert="horz" lIns="0" tIns="0" rIns="0" bIns="0" rtlCol="0">
            <a:noAutofit/>
          </a:bodyPr>
          <a:lstStyle/>
          <a:p>
            <a:pPr lvl="0"/>
            <a:r>
              <a:rPr lang="en-US" dirty="0"/>
              <a:t>18pt Intel Clear body text</a:t>
            </a:r>
          </a:p>
          <a:p>
            <a:pPr lvl="1"/>
            <a:r>
              <a:rPr lang="en-US" dirty="0"/>
              <a:t>16pt Intel Clear bullet one</a:t>
            </a:r>
          </a:p>
          <a:p>
            <a:pPr lvl="2"/>
            <a:r>
              <a:rPr lang="en-US" dirty="0"/>
              <a:t>16pt Intel Clear sub-bullet</a:t>
            </a:r>
          </a:p>
          <a:p>
            <a:pPr lvl="3"/>
            <a:r>
              <a:rPr lang="en-US" dirty="0" err="1"/>
              <a:t>14pt</a:t>
            </a:r>
            <a:r>
              <a:rPr lang="en-US" dirty="0"/>
              <a:t> Intel Clear fourth level</a:t>
            </a:r>
          </a:p>
          <a:p>
            <a:pPr lvl="4"/>
            <a:r>
              <a:rPr lang="en-US" dirty="0" err="1"/>
              <a:t>14pt</a:t>
            </a:r>
            <a:r>
              <a:rPr lang="en-US" dirty="0"/>
              <a:t> Intel Clear fifth level</a:t>
            </a:r>
          </a:p>
        </p:txBody>
      </p:sp>
      <p:sp>
        <p:nvSpPr>
          <p:cNvPr id="6" name="Slide Number Placeholder 5"/>
          <p:cNvSpPr>
            <a:spLocks noGrp="1"/>
          </p:cNvSpPr>
          <p:nvPr>
            <p:ph type="sldNum" sz="quarter" idx="4"/>
          </p:nvPr>
        </p:nvSpPr>
        <p:spPr>
          <a:xfrm>
            <a:off x="11627909" y="6422184"/>
            <a:ext cx="380027" cy="365125"/>
          </a:xfrm>
          <a:prstGeom prst="rect">
            <a:avLst/>
          </a:prstGeom>
        </p:spPr>
        <p:txBody>
          <a:bodyPr vert="horz" lIns="0" tIns="0" rIns="0" bIns="0" rtlCol="0" anchor="ctr"/>
          <a:lstStyle>
            <a:lvl1pPr algn="r">
              <a:defRPr sz="1067">
                <a:solidFill>
                  <a:schemeClr val="bg1"/>
                </a:solidFill>
                <a:latin typeface="+mn-lt"/>
                <a:cs typeface="Intel Clear"/>
              </a:defRPr>
            </a:lvl1pPr>
          </a:lstStyle>
          <a:p>
            <a:fld id="{07B074DC-53A4-4939-84C7-45108117554F}" type="slidenum">
              <a:rPr lang="en-US" smtClean="0"/>
              <a:t>‹#›</a:t>
            </a:fld>
            <a:endParaRPr lang="en-US"/>
          </a:p>
        </p:txBody>
      </p:sp>
      <p:sp>
        <p:nvSpPr>
          <p:cNvPr id="8" name="Rectangle 7"/>
          <p:cNvSpPr/>
          <p:nvPr/>
        </p:nvSpPr>
        <p:spPr>
          <a:xfrm>
            <a:off x="605368" y="6582382"/>
            <a:ext cx="3251928" cy="246221"/>
          </a:xfrm>
          <a:prstGeom prst="rect">
            <a:avLst/>
          </a:prstGeom>
        </p:spPr>
        <p:txBody>
          <a:bodyPr wrap="square" lIns="0" tIns="0" rIns="0" bIns="0">
            <a:spAutoFit/>
          </a:bodyPr>
          <a:lstStyle/>
          <a:p>
            <a:pPr algn="l" fontAlgn="auto">
              <a:spcBef>
                <a:spcPts val="0"/>
              </a:spcBef>
              <a:spcAft>
                <a:spcPts val="0"/>
              </a:spcAft>
              <a:defRPr/>
            </a:pPr>
            <a:r>
              <a:rPr lang="en-US" sz="800" dirty="0">
                <a:solidFill>
                  <a:schemeClr val="bg1">
                    <a:lumMod val="85000"/>
                  </a:schemeClr>
                </a:solidFill>
                <a:latin typeface="+mn-lt"/>
              </a:rPr>
              <a:t>Copyright</a:t>
            </a:r>
            <a:r>
              <a:rPr lang="en-US" sz="800" baseline="0" dirty="0">
                <a:solidFill>
                  <a:schemeClr val="bg1">
                    <a:lumMod val="85000"/>
                  </a:schemeClr>
                </a:solidFill>
                <a:latin typeface="+mn-lt"/>
              </a:rPr>
              <a:t> </a:t>
            </a:r>
            <a:r>
              <a:rPr lang="en-US" sz="800" dirty="0">
                <a:solidFill>
                  <a:schemeClr val="bg1">
                    <a:lumMod val="85000"/>
                  </a:schemeClr>
                </a:solidFill>
                <a:latin typeface="+mn-lt"/>
              </a:rPr>
              <a:t>©  2018, Intel Corporation. All rights reserved. </a:t>
            </a:r>
            <a:br>
              <a:rPr lang="en-US" sz="800" dirty="0">
                <a:solidFill>
                  <a:schemeClr val="bg1">
                    <a:lumMod val="85000"/>
                  </a:schemeClr>
                </a:solidFill>
                <a:latin typeface="+mn-lt"/>
              </a:rPr>
            </a:br>
            <a:r>
              <a:rPr lang="en-US" sz="800" dirty="0">
                <a:solidFill>
                  <a:schemeClr val="bg1">
                    <a:lumMod val="85000"/>
                  </a:schemeClr>
                </a:solidFill>
                <a:latin typeface="+mn-lt"/>
              </a:rPr>
              <a:t>*Other names and brands may be claimed as the property of others.</a:t>
            </a:r>
          </a:p>
        </p:txBody>
      </p:sp>
      <p:sp>
        <p:nvSpPr>
          <p:cNvPr id="15" name="Footer Placeholder 4"/>
          <p:cNvSpPr>
            <a:spLocks noGrp="1"/>
          </p:cNvSpPr>
          <p:nvPr>
            <p:ph type="ftr" sz="quarter" idx="3"/>
          </p:nvPr>
        </p:nvSpPr>
        <p:spPr>
          <a:xfrm>
            <a:off x="4165600" y="6422184"/>
            <a:ext cx="3860800" cy="365125"/>
          </a:xfrm>
          <a:prstGeom prst="rect">
            <a:avLst/>
          </a:prstGeom>
        </p:spPr>
        <p:txBody>
          <a:bodyPr vert="horz" lIns="91440" tIns="45720" rIns="91440" bIns="45720" rtlCol="0" anchor="ctr"/>
          <a:lstStyle>
            <a:lvl1pPr algn="ctr">
              <a:defRPr sz="1067">
                <a:solidFill>
                  <a:schemeClr val="bg1"/>
                </a:solidFill>
                <a:latin typeface="+mn-lt"/>
              </a:defRPr>
            </a:lvl1pPr>
          </a:lstStyle>
          <a:p>
            <a:r>
              <a:rPr lang="en-US"/>
              <a:t>Intel Confidential</a:t>
            </a:r>
          </a:p>
        </p:txBody>
      </p:sp>
      <p:sp>
        <p:nvSpPr>
          <p:cNvPr id="4" name="Action Button: Custom 3">
            <a:hlinkClick r:id="" action="ppaction://noaction" highlightClick="1"/>
          </p:cNvPr>
          <p:cNvSpPr/>
          <p:nvPr/>
        </p:nvSpPr>
        <p:spPr>
          <a:xfrm>
            <a:off x="605369" y="6388710"/>
            <a:ext cx="1328207" cy="171449"/>
          </a:xfrm>
          <a:prstGeom prst="actionButtonBlank">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marL="0" marR="0" indent="0" algn="ctr" defTabSz="609585" rtl="0" eaLnBrk="1" fontAlgn="auto" latinLnBrk="0" hangingPunct="1">
              <a:lnSpc>
                <a:spcPct val="100000"/>
              </a:lnSpc>
              <a:spcBef>
                <a:spcPts val="0"/>
              </a:spcBef>
              <a:spcAft>
                <a:spcPts val="0"/>
              </a:spcAft>
              <a:buClrTx/>
              <a:buSzTx/>
              <a:buFontTx/>
              <a:buNone/>
              <a:tabLst/>
              <a:defRPr/>
            </a:pPr>
            <a:r>
              <a:rPr lang="en-US" sz="1067" b="0" dirty="0">
                <a:solidFill>
                  <a:schemeClr val="tx1"/>
                </a:solidFill>
              </a:rPr>
              <a:t>Optimization Notice</a:t>
            </a:r>
          </a:p>
        </p:txBody>
      </p:sp>
    </p:spTree>
    <p:extLst>
      <p:ext uri="{BB962C8B-B14F-4D97-AF65-F5344CB8AC3E}">
        <p14:creationId xmlns:p14="http://schemas.microsoft.com/office/powerpoint/2010/main" val="106942942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Lst>
  <p:hf hdr="0" dt="0"/>
  <p:txStyles>
    <p:titleStyle>
      <a:lvl1pPr algn="l" defTabSz="609585" rtl="0" eaLnBrk="1" latinLnBrk="0" hangingPunct="1">
        <a:lnSpc>
          <a:spcPct val="100000"/>
        </a:lnSpc>
        <a:spcBef>
          <a:spcPct val="0"/>
        </a:spcBef>
        <a:buNone/>
        <a:defRPr sz="3733" b="0" i="0" kern="1200" spc="0" baseline="0">
          <a:solidFill>
            <a:schemeClr val="tx2"/>
          </a:solidFill>
          <a:latin typeface="Intel Clear"/>
          <a:ea typeface="Intel Clear"/>
          <a:cs typeface="Intel Clear"/>
        </a:defRPr>
      </a:lvl1pPr>
    </p:titleStyle>
    <p:bodyStyle>
      <a:lvl1pPr marL="0" indent="0" algn="l" defTabSz="609585" rtl="0" eaLnBrk="1" latinLnBrk="0" hangingPunct="1">
        <a:spcBef>
          <a:spcPts val="1600"/>
        </a:spcBef>
        <a:spcAft>
          <a:spcPts val="0"/>
        </a:spcAft>
        <a:buFont typeface="Wingdings" panose="05000000000000000000" pitchFamily="2" charset="2"/>
        <a:buNone/>
        <a:defRPr sz="2400" b="0" kern="1200">
          <a:solidFill>
            <a:srgbClr val="0071C5"/>
          </a:solidFill>
          <a:latin typeface="+mn-lt"/>
          <a:ea typeface="+mn-ea"/>
          <a:cs typeface="Intel Clear" panose="020B0604020203020204" pitchFamily="34" charset="0"/>
        </a:defRPr>
      </a:lvl1pPr>
      <a:lvl2pPr marL="300559" indent="-300559" algn="l" defTabSz="609585" rtl="0" eaLnBrk="1" latinLnBrk="0" hangingPunct="1">
        <a:spcBef>
          <a:spcPts val="1600"/>
        </a:spcBef>
        <a:buFont typeface="Wingdings" charset="2"/>
        <a:buChar char="§"/>
        <a:defRPr sz="2133" kern="1200" baseline="0">
          <a:solidFill>
            <a:schemeClr val="tx2"/>
          </a:solidFill>
          <a:latin typeface="+mn-lt"/>
          <a:ea typeface="+mn-ea"/>
          <a:cs typeface="Intel Clear" panose="020B0604020203020204" pitchFamily="34" charset="0"/>
        </a:defRPr>
      </a:lvl2pPr>
      <a:lvl3pPr marL="761981" indent="-304792" algn="l" defTabSz="609585" rtl="0" eaLnBrk="1" latinLnBrk="0" hangingPunct="1">
        <a:spcBef>
          <a:spcPts val="1067"/>
        </a:spcBef>
        <a:buFont typeface="Intel Clear" panose="020B0604020203020204" pitchFamily="34" charset="0"/>
        <a:buChar char="–"/>
        <a:defRPr sz="2133" kern="1200">
          <a:solidFill>
            <a:schemeClr val="tx2"/>
          </a:solidFill>
          <a:latin typeface="+mn-lt"/>
          <a:ea typeface="+mn-ea"/>
          <a:cs typeface="Intel Clear" panose="020B0604020203020204" pitchFamily="34" charset="0"/>
        </a:defRPr>
      </a:lvl3pPr>
      <a:lvl4pPr marL="1293252" indent="-304792" algn="l" defTabSz="609585" rtl="0" eaLnBrk="1" latinLnBrk="0" hangingPunct="1">
        <a:spcBef>
          <a:spcPct val="20000"/>
        </a:spcBef>
        <a:buFont typeface="Arial"/>
        <a:buChar char="–"/>
        <a:defRPr sz="1867" kern="1200">
          <a:solidFill>
            <a:schemeClr val="tx2"/>
          </a:solidFill>
          <a:latin typeface="+mn-lt"/>
          <a:ea typeface="+mn-ea"/>
          <a:cs typeface="Intel Clear" panose="020B0604020203020204" pitchFamily="34" charset="0"/>
        </a:defRPr>
      </a:lvl4pPr>
      <a:lvl5pPr marL="1758907" indent="-304792" algn="l" defTabSz="609585" rtl="0" eaLnBrk="1" latinLnBrk="0" hangingPunct="1">
        <a:spcBef>
          <a:spcPct val="20000"/>
        </a:spcBef>
        <a:buFont typeface="Intel Clear" panose="020B0604020203020204" pitchFamily="34" charset="0"/>
        <a:buChar char="–"/>
        <a:defRPr sz="1867" kern="1200">
          <a:solidFill>
            <a:schemeClr val="tx2"/>
          </a:solidFill>
          <a:latin typeface="+mn-lt"/>
          <a:ea typeface="+mn-ea"/>
          <a:cs typeface="Intel Clear" panose="020B0604020203020204" pitchFamily="34" charset="0"/>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3.tmp"/><Relationship Id="rId2" Type="http://schemas.openxmlformats.org/officeDocument/2006/relationships/image" Target="../media/image12.tmp"/><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4.tmp"/><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15.tmp"/></Relationships>
</file>

<file path=ppt/slides/_rels/slide11.xml.rels><?xml version="1.0" encoding="UTF-8" standalone="yes"?>
<Relationships xmlns="http://schemas.openxmlformats.org/package/2006/relationships"><Relationship Id="rId3" Type="http://schemas.openxmlformats.org/officeDocument/2006/relationships/image" Target="../media/image17.tmp"/><Relationship Id="rId2" Type="http://schemas.openxmlformats.org/officeDocument/2006/relationships/image" Target="../media/image16.tmp"/><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9.tmp"/><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png"/><Relationship Id="rId1" Type="http://schemas.openxmlformats.org/officeDocument/2006/relationships/slideLayout" Target="../slideLayouts/slideLayout4.xml"/><Relationship Id="rId5" Type="http://schemas.openxmlformats.org/officeDocument/2006/relationships/image" Target="../media/image23.png"/><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png"/><Relationship Id="rId1" Type="http://schemas.openxmlformats.org/officeDocument/2006/relationships/slideLayout" Target="../slideLayouts/slideLayout4.xml"/><Relationship Id="rId5" Type="http://schemas.openxmlformats.org/officeDocument/2006/relationships/image" Target="../media/image23.png"/><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hyperlink" Target="http://tcarjf-skl-we05.amr.corp.intel.com:6543/" TargetMode="Externa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png"/><Relationship Id="rId1" Type="http://schemas.openxmlformats.org/officeDocument/2006/relationships/slideLayout" Target="../slideLayouts/slideLayout4.xml"/><Relationship Id="rId5" Type="http://schemas.openxmlformats.org/officeDocument/2006/relationships/image" Target="../media/image23.png"/><Relationship Id="rId4" Type="http://schemas.openxmlformats.org/officeDocument/2006/relationships/image" Target="../media/image22.png"/></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hyperlink" Target="http://tcarjf-skl-we05.amr.corp.intel.com:6543/" TargetMode="Externa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2" Type="http://schemas.openxmlformats.org/officeDocument/2006/relationships/image" Target="../media/image26.tmp"/><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Intel VTune™ Amplifier –</a:t>
            </a:r>
            <a:br>
              <a:rPr lang="en-US" dirty="0"/>
            </a:br>
            <a:r>
              <a:rPr lang="en-US" dirty="0"/>
              <a:t>Platform Profiler</a:t>
            </a:r>
          </a:p>
        </p:txBody>
      </p:sp>
      <p:sp>
        <p:nvSpPr>
          <p:cNvPr id="4" name="Subtitle 3"/>
          <p:cNvSpPr>
            <a:spLocks noGrp="1"/>
          </p:cNvSpPr>
          <p:nvPr>
            <p:ph type="subTitle" idx="1"/>
          </p:nvPr>
        </p:nvSpPr>
        <p:spPr/>
        <p:txBody>
          <a:bodyPr/>
          <a:lstStyle/>
          <a:p>
            <a:endParaRPr lang="en-US"/>
          </a:p>
        </p:txBody>
      </p:sp>
    </p:spTree>
    <p:extLst>
      <p:ext uri="{BB962C8B-B14F-4D97-AF65-F5344CB8AC3E}">
        <p14:creationId xmlns:p14="http://schemas.microsoft.com/office/powerpoint/2010/main" val="254905454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07B074DC-53A4-4939-84C7-45108117554F}" type="slidenum">
              <a:rPr lang="en-US" smtClean="0"/>
              <a:t>2</a:t>
            </a:fld>
            <a:endParaRPr lang="en-US"/>
          </a:p>
        </p:txBody>
      </p:sp>
      <p:sp>
        <p:nvSpPr>
          <p:cNvPr id="3" name="Title 2"/>
          <p:cNvSpPr>
            <a:spLocks noGrp="1"/>
          </p:cNvSpPr>
          <p:nvPr>
            <p:ph type="title"/>
          </p:nvPr>
        </p:nvSpPr>
        <p:spPr/>
        <p:txBody>
          <a:bodyPr/>
          <a:lstStyle/>
          <a:p>
            <a:r>
              <a:rPr lang="en-US" dirty="0"/>
              <a:t>Updates in VPP 2019 release</a:t>
            </a:r>
          </a:p>
        </p:txBody>
      </p:sp>
      <p:sp>
        <p:nvSpPr>
          <p:cNvPr id="4" name="Content Placeholder 3"/>
          <p:cNvSpPr>
            <a:spLocks noGrp="1"/>
          </p:cNvSpPr>
          <p:nvPr>
            <p:ph sz="quarter" idx="13"/>
          </p:nvPr>
        </p:nvSpPr>
        <p:spPr/>
        <p:txBody>
          <a:bodyPr>
            <a:normAutofit lnSpcReduction="10000"/>
          </a:bodyPr>
          <a:lstStyle/>
          <a:p>
            <a:pPr marL="342900" indent="-342900">
              <a:buFont typeface="Arial" panose="020B0604020202020204" pitchFamily="34" charset="0"/>
              <a:buChar char="•"/>
            </a:pPr>
            <a:r>
              <a:rPr lang="en-US" dirty="0"/>
              <a:t>Added support for Cascade Lake and Coffee Lake platforms</a:t>
            </a:r>
          </a:p>
          <a:p>
            <a:pPr marL="342900" indent="-342900">
              <a:buFont typeface="Arial" panose="020B0604020202020204" pitchFamily="34" charset="0"/>
              <a:buChar char="•"/>
            </a:pPr>
            <a:r>
              <a:rPr lang="en-US" dirty="0"/>
              <a:t>Removed dependency on Java</a:t>
            </a:r>
          </a:p>
          <a:p>
            <a:pPr marL="342900" indent="-342900">
              <a:buFont typeface="Arial" panose="020B0604020202020204" pitchFamily="34" charset="0"/>
              <a:buChar char="•"/>
            </a:pPr>
            <a:r>
              <a:rPr lang="en-US" dirty="0"/>
              <a:t>Added support for </a:t>
            </a:r>
            <a:r>
              <a:rPr lang="en-US" dirty="0" err="1"/>
              <a:t>IPMWatch</a:t>
            </a:r>
            <a:r>
              <a:rPr lang="en-US" dirty="0"/>
              <a:t> 2.0 –Windows and </a:t>
            </a:r>
            <a:r>
              <a:rPr lang="en-US" dirty="0" err="1"/>
              <a:t>AEPWatch</a:t>
            </a:r>
            <a:r>
              <a:rPr lang="en-US" dirty="0"/>
              <a:t> 1.1.1 on Linux</a:t>
            </a:r>
          </a:p>
          <a:p>
            <a:pPr marL="342900" indent="-342900">
              <a:buFont typeface="Arial" panose="020B0604020202020204" pitchFamily="34" charset="0"/>
              <a:buChar char="•"/>
            </a:pPr>
            <a:r>
              <a:rPr lang="en-US" dirty="0"/>
              <a:t>Added support for Python 3 in VPP collector</a:t>
            </a:r>
          </a:p>
          <a:p>
            <a:pPr marL="342900" indent="-342900">
              <a:buFont typeface="Arial" panose="020B0604020202020204" pitchFamily="34" charset="0"/>
              <a:buChar char="•"/>
            </a:pPr>
            <a:r>
              <a:rPr lang="en-US" dirty="0"/>
              <a:t>Configurable port for VPP server</a:t>
            </a:r>
          </a:p>
          <a:p>
            <a:pPr marL="342900" indent="-342900">
              <a:buFont typeface="Arial" panose="020B0604020202020204" pitchFamily="34" charset="0"/>
              <a:buChar char="•"/>
            </a:pPr>
            <a:r>
              <a:rPr lang="en-US" dirty="0"/>
              <a:t>Added two new metric (core view) </a:t>
            </a:r>
          </a:p>
          <a:p>
            <a:pPr lvl="2"/>
            <a:r>
              <a:rPr lang="en-US" dirty="0"/>
              <a:t>TMAM FP Scalar </a:t>
            </a:r>
          </a:p>
          <a:p>
            <a:pPr lvl="2"/>
            <a:r>
              <a:rPr lang="en-US" dirty="0"/>
              <a:t>TMAM FP vector  </a:t>
            </a:r>
          </a:p>
          <a:p>
            <a:pPr marL="342900" indent="-342900">
              <a:buFont typeface="Arial" panose="020B0604020202020204" pitchFamily="34" charset="0"/>
              <a:buChar char="•"/>
            </a:pPr>
            <a:r>
              <a:rPr lang="en-US" dirty="0"/>
              <a:t>Added dataset upload progress indicator in GUI</a:t>
            </a:r>
          </a:p>
          <a:p>
            <a:endParaRPr lang="en-US" dirty="0"/>
          </a:p>
        </p:txBody>
      </p:sp>
      <p:sp>
        <p:nvSpPr>
          <p:cNvPr id="5" name="Footer Placeholder 4"/>
          <p:cNvSpPr>
            <a:spLocks noGrp="1"/>
          </p:cNvSpPr>
          <p:nvPr>
            <p:ph type="ftr" sz="quarter" idx="3"/>
          </p:nvPr>
        </p:nvSpPr>
        <p:spPr/>
        <p:txBody>
          <a:bodyPr/>
          <a:lstStyle/>
          <a:p>
            <a:r>
              <a:rPr lang="en-US"/>
              <a:t>Intel Confidential</a:t>
            </a:r>
          </a:p>
        </p:txBody>
      </p:sp>
    </p:spTree>
    <p:extLst>
      <p:ext uri="{BB962C8B-B14F-4D97-AF65-F5344CB8AC3E}">
        <p14:creationId xmlns:p14="http://schemas.microsoft.com/office/powerpoint/2010/main" val="39733602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Agenda</a:t>
            </a:r>
          </a:p>
        </p:txBody>
      </p:sp>
      <p:sp>
        <p:nvSpPr>
          <p:cNvPr id="5" name="Content Placeholder 4"/>
          <p:cNvSpPr>
            <a:spLocks noGrp="1"/>
          </p:cNvSpPr>
          <p:nvPr>
            <p:ph sz="quarter" idx="13"/>
          </p:nvPr>
        </p:nvSpPr>
        <p:spPr/>
        <p:txBody>
          <a:bodyPr/>
          <a:lstStyle/>
          <a:p>
            <a:pPr marL="342900" indent="-342900">
              <a:buFont typeface="Arial" panose="020B0604020202020204" pitchFamily="34" charset="0"/>
              <a:buChar char="•"/>
            </a:pPr>
            <a:r>
              <a:rPr lang="en-US" dirty="0"/>
              <a:t>Introduction &amp; Goal</a:t>
            </a:r>
          </a:p>
          <a:p>
            <a:pPr marL="643459" lvl="1" indent="-342900">
              <a:buFont typeface="Arial" panose="020B0604020202020204" pitchFamily="34" charset="0"/>
              <a:buChar char="•"/>
            </a:pPr>
            <a:r>
              <a:rPr lang="en-US" dirty="0"/>
              <a:t>Performance Tools and their usage</a:t>
            </a:r>
          </a:p>
          <a:p>
            <a:pPr marL="342900" indent="-342900">
              <a:buFont typeface="Arial" panose="020B0604020202020204" pitchFamily="34" charset="0"/>
              <a:buChar char="•"/>
            </a:pPr>
            <a:r>
              <a:rPr lang="en-US" dirty="0"/>
              <a:t>A taste of Intel® VTune™ Amplifier’s Platform Profiler (aka VPP)</a:t>
            </a:r>
          </a:p>
          <a:p>
            <a:pPr marL="342900" indent="-342900">
              <a:buFont typeface="Arial" panose="020B0604020202020204" pitchFamily="34" charset="0"/>
              <a:buChar char="•"/>
            </a:pPr>
            <a:r>
              <a:rPr lang="en-US" dirty="0"/>
              <a:t>Using VPP</a:t>
            </a:r>
          </a:p>
          <a:p>
            <a:pPr marL="342900" indent="-342900">
              <a:buFont typeface="Arial" panose="020B0604020202020204" pitchFamily="34" charset="0"/>
              <a:buChar char="•"/>
            </a:pPr>
            <a:r>
              <a:rPr lang="en-US" dirty="0"/>
              <a:t>Collecting and Uploading Data</a:t>
            </a:r>
          </a:p>
          <a:p>
            <a:pPr marL="342900" indent="-342900">
              <a:buFont typeface="Arial" panose="020B0604020202020204" pitchFamily="34" charset="0"/>
              <a:buChar char="•"/>
            </a:pPr>
            <a:r>
              <a:rPr lang="en-US" dirty="0"/>
              <a:t>Navigating Results</a:t>
            </a:r>
          </a:p>
        </p:txBody>
      </p:sp>
      <p:sp>
        <p:nvSpPr>
          <p:cNvPr id="6" name="Footer Placeholder 5"/>
          <p:cNvSpPr>
            <a:spLocks noGrp="1"/>
          </p:cNvSpPr>
          <p:nvPr>
            <p:ph type="ftr" sz="quarter" idx="3"/>
          </p:nvPr>
        </p:nvSpPr>
        <p:spPr/>
        <p:txBody>
          <a:bodyPr/>
          <a:lstStyle/>
          <a:p>
            <a:r>
              <a:rPr lang="en-US"/>
              <a:t>Intel Confidential</a:t>
            </a:r>
          </a:p>
        </p:txBody>
      </p:sp>
      <p:sp>
        <p:nvSpPr>
          <p:cNvPr id="7" name="Slide Number Placeholder 6"/>
          <p:cNvSpPr>
            <a:spLocks noGrp="1"/>
          </p:cNvSpPr>
          <p:nvPr>
            <p:ph type="sldNum" sz="quarter" idx="12"/>
          </p:nvPr>
        </p:nvSpPr>
        <p:spPr/>
        <p:txBody>
          <a:bodyPr/>
          <a:lstStyle/>
          <a:p>
            <a:fld id="{07B074DC-53A4-4939-84C7-45108117554F}" type="slidenum">
              <a:rPr lang="en-US" smtClean="0"/>
              <a:t>3</a:t>
            </a:fld>
            <a:endParaRPr lang="en-US"/>
          </a:p>
        </p:txBody>
      </p:sp>
    </p:spTree>
    <p:extLst>
      <p:ext uri="{BB962C8B-B14F-4D97-AF65-F5344CB8AC3E}">
        <p14:creationId xmlns:p14="http://schemas.microsoft.com/office/powerpoint/2010/main" val="23884444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2559E7D0-7987-45FB-ADFA-76FF10705580}" type="slidenum">
              <a:rPr lang="en-US" smtClean="0"/>
              <a:t>4</a:t>
            </a:fld>
            <a:endParaRPr lang="en-US"/>
          </a:p>
        </p:txBody>
      </p:sp>
      <p:sp>
        <p:nvSpPr>
          <p:cNvPr id="6" name="Title 5"/>
          <p:cNvSpPr>
            <a:spLocks noGrp="1"/>
          </p:cNvSpPr>
          <p:nvPr>
            <p:ph type="title"/>
          </p:nvPr>
        </p:nvSpPr>
        <p:spPr/>
        <p:txBody>
          <a:bodyPr/>
          <a:lstStyle/>
          <a:p>
            <a:r>
              <a:rPr lang="en-US" dirty="0"/>
              <a:t>Goal of today’s meeting</a:t>
            </a:r>
          </a:p>
        </p:txBody>
      </p:sp>
      <p:sp>
        <p:nvSpPr>
          <p:cNvPr id="3" name="Content Placeholder 2"/>
          <p:cNvSpPr>
            <a:spLocks noGrp="1"/>
          </p:cNvSpPr>
          <p:nvPr>
            <p:ph sz="quarter" idx="13"/>
          </p:nvPr>
        </p:nvSpPr>
        <p:spPr>
          <a:xfrm>
            <a:off x="607484" y="1074822"/>
            <a:ext cx="10970683" cy="5097380"/>
          </a:xfrm>
        </p:spPr>
        <p:txBody>
          <a:bodyPr/>
          <a:lstStyle/>
          <a:p>
            <a:r>
              <a:rPr lang="en-US" dirty="0"/>
              <a:t>Intel VTune™ Amplifier’s Platform Profiler is bundled in VTune Amplifier 2019</a:t>
            </a:r>
          </a:p>
          <a:p>
            <a:r>
              <a:rPr lang="en-US" dirty="0"/>
              <a:t>At the end of this meeting, participants will be able to</a:t>
            </a:r>
          </a:p>
          <a:p>
            <a:pPr lvl="1"/>
            <a:r>
              <a:rPr lang="en-US" dirty="0"/>
              <a:t>Understand the tool’s positioning and how it complements VTune</a:t>
            </a:r>
          </a:p>
          <a:p>
            <a:pPr lvl="1"/>
            <a:r>
              <a:rPr lang="en-US" dirty="0"/>
              <a:t>Understand the type of customers that can benefit from the tool</a:t>
            </a:r>
          </a:p>
          <a:p>
            <a:pPr lvl="1"/>
            <a:r>
              <a:rPr lang="en-US" dirty="0"/>
              <a:t>Understand the tool’s features and workflow</a:t>
            </a:r>
          </a:p>
        </p:txBody>
      </p:sp>
      <p:sp>
        <p:nvSpPr>
          <p:cNvPr id="5" name="Footer Placeholder 4"/>
          <p:cNvSpPr>
            <a:spLocks noGrp="1"/>
          </p:cNvSpPr>
          <p:nvPr>
            <p:ph type="ftr" sz="quarter" idx="3"/>
          </p:nvPr>
        </p:nvSpPr>
        <p:spPr/>
        <p:txBody>
          <a:bodyPr/>
          <a:lstStyle/>
          <a:p>
            <a:r>
              <a:rPr lang="en-US"/>
              <a:t>Intel Confidential</a:t>
            </a:r>
          </a:p>
        </p:txBody>
      </p:sp>
    </p:spTree>
    <p:extLst>
      <p:ext uri="{BB962C8B-B14F-4D97-AF65-F5344CB8AC3E}">
        <p14:creationId xmlns:p14="http://schemas.microsoft.com/office/powerpoint/2010/main" val="8795884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E2556C5-CE8C-6547-B838-EA80C61A4AF7}" type="slidenum">
              <a:rPr lang="en-US" smtClean="0">
                <a:solidFill>
                  <a:prstClr val="white"/>
                </a:solidFill>
              </a:rPr>
              <a:pPr/>
              <a:t>5</a:t>
            </a:fld>
            <a:endParaRPr lang="en-US" dirty="0">
              <a:solidFill>
                <a:prstClr val="white"/>
              </a:solidFill>
            </a:endParaRPr>
          </a:p>
        </p:txBody>
      </p:sp>
      <p:sp>
        <p:nvSpPr>
          <p:cNvPr id="3" name="Title 2"/>
          <p:cNvSpPr>
            <a:spLocks noGrp="1"/>
          </p:cNvSpPr>
          <p:nvPr>
            <p:ph type="title"/>
          </p:nvPr>
        </p:nvSpPr>
        <p:spPr/>
        <p:txBody>
          <a:bodyPr/>
          <a:lstStyle/>
          <a:p>
            <a:r>
              <a:rPr lang="en-US" dirty="0"/>
              <a:t>The Long &amp; Short of Performance Analysis</a:t>
            </a:r>
            <a:br>
              <a:rPr lang="en-US" sz="2400" dirty="0"/>
            </a:br>
            <a:r>
              <a:rPr lang="en-US" sz="2400" dirty="0"/>
              <a:t>Get the big picture first with a Snapshot or Platform Profiler</a:t>
            </a:r>
          </a:p>
        </p:txBody>
      </p:sp>
      <p:graphicFrame>
        <p:nvGraphicFramePr>
          <p:cNvPr id="6" name="Content Placeholder 5"/>
          <p:cNvGraphicFramePr>
            <a:graphicFrameLocks noGrp="1"/>
          </p:cNvGraphicFramePr>
          <p:nvPr>
            <p:ph sz="quarter" idx="13"/>
            <p:extLst/>
          </p:nvPr>
        </p:nvGraphicFramePr>
        <p:xfrm>
          <a:off x="607484" y="1604433"/>
          <a:ext cx="11257637" cy="3596640"/>
        </p:xfrm>
        <a:graphic>
          <a:graphicData uri="http://schemas.openxmlformats.org/drawingml/2006/table">
            <a:tbl>
              <a:tblPr firstRow="1" bandRow="1">
                <a:tableStyleId>{5C22544A-7EE6-4342-B048-85BDC9FD1C3A}</a:tableStyleId>
              </a:tblPr>
              <a:tblGrid>
                <a:gridCol w="2804160">
                  <a:extLst>
                    <a:ext uri="{9D8B030D-6E8A-4147-A177-3AD203B41FA5}">
                      <a16:colId xmlns:a16="http://schemas.microsoft.com/office/drawing/2014/main" val="20000"/>
                    </a:ext>
                  </a:extLst>
                </a:gridCol>
                <a:gridCol w="4308197">
                  <a:extLst>
                    <a:ext uri="{9D8B030D-6E8A-4147-A177-3AD203B41FA5}">
                      <a16:colId xmlns:a16="http://schemas.microsoft.com/office/drawing/2014/main" val="20001"/>
                    </a:ext>
                  </a:extLst>
                </a:gridCol>
                <a:gridCol w="4145280">
                  <a:extLst>
                    <a:ext uri="{9D8B030D-6E8A-4147-A177-3AD203B41FA5}">
                      <a16:colId xmlns:a16="http://schemas.microsoft.com/office/drawing/2014/main" val="20002"/>
                    </a:ext>
                  </a:extLst>
                </a:gridCol>
              </a:tblGrid>
              <a:tr h="1097280">
                <a:tc>
                  <a:txBody>
                    <a:bodyPr/>
                    <a:lstStyle/>
                    <a:p>
                      <a:endParaRPr lang="en-US" sz="3200" dirty="0"/>
                    </a:p>
                  </a:txBody>
                  <a:tcPr marL="121920" marR="121920" marT="60960" marB="60960" anchor="ctr">
                    <a:noFill/>
                  </a:tcPr>
                </a:tc>
                <a:tc>
                  <a:txBody>
                    <a:bodyPr/>
                    <a:lstStyle/>
                    <a:p>
                      <a:pPr algn="ctr"/>
                      <a:r>
                        <a:rPr lang="en-US" sz="3200" dirty="0"/>
                        <a:t>Snapshot</a:t>
                      </a:r>
                    </a:p>
                    <a:p>
                      <a:pPr algn="ctr"/>
                      <a:r>
                        <a:rPr lang="en-US" sz="1600" b="0" dirty="0"/>
                        <a:t>Quickly</a:t>
                      </a:r>
                      <a:r>
                        <a:rPr lang="en-US" sz="1600" b="0" baseline="0" dirty="0"/>
                        <a:t> size potential performance gain.</a:t>
                      </a:r>
                    </a:p>
                    <a:p>
                      <a:pPr algn="ctr"/>
                      <a:r>
                        <a:rPr lang="en-US" sz="1600" b="0" baseline="0" dirty="0"/>
                        <a:t>Run a test “during a coffee break”.</a:t>
                      </a:r>
                      <a:endParaRPr lang="en-US" sz="1600" b="0" dirty="0"/>
                    </a:p>
                  </a:txBody>
                  <a:tcPr marL="121920" marR="0" marT="60960" marB="60960" anchor="ctr"/>
                </a:tc>
                <a:tc>
                  <a:txBody>
                    <a:bodyPr/>
                    <a:lstStyle/>
                    <a:p>
                      <a:pPr algn="ctr"/>
                      <a:r>
                        <a:rPr lang="en-US" sz="3200" dirty="0"/>
                        <a:t>In-Depth</a:t>
                      </a:r>
                    </a:p>
                    <a:p>
                      <a:pPr algn="ctr"/>
                      <a:r>
                        <a:rPr lang="en-US" sz="1600" b="0" dirty="0"/>
                        <a:t>Advanced collection &amp; analysis.</a:t>
                      </a:r>
                      <a:br>
                        <a:rPr lang="en-US" sz="1600" b="0" baseline="0" dirty="0"/>
                      </a:br>
                      <a:r>
                        <a:rPr lang="en-US" sz="1600" b="0" baseline="0" dirty="0"/>
                        <a:t>Insight for effective optimization.</a:t>
                      </a:r>
                      <a:endParaRPr lang="en-US" sz="1600" b="0" dirty="0"/>
                    </a:p>
                  </a:txBody>
                  <a:tcPr marL="121920" marR="121920" marT="60960" marB="60960" anchor="ctr"/>
                </a:tc>
                <a:extLst>
                  <a:ext uri="{0D108BD9-81ED-4DB2-BD59-A6C34878D82A}">
                    <a16:rowId xmlns:a16="http://schemas.microsoft.com/office/drawing/2014/main" val="10000"/>
                  </a:ext>
                </a:extLst>
              </a:tr>
              <a:tr h="1280160">
                <a:tc>
                  <a:txBody>
                    <a:bodyPr/>
                    <a:lstStyle/>
                    <a:p>
                      <a:r>
                        <a:rPr lang="en-US" sz="2400" b="1" dirty="0">
                          <a:solidFill>
                            <a:schemeClr val="bg1"/>
                          </a:solidFill>
                        </a:rPr>
                        <a:t>Application</a:t>
                      </a:r>
                      <a:r>
                        <a:rPr lang="en-US" sz="2400" b="1" baseline="0" dirty="0">
                          <a:solidFill>
                            <a:schemeClr val="bg1"/>
                          </a:solidFill>
                        </a:rPr>
                        <a:t> Focus</a:t>
                      </a:r>
                    </a:p>
                    <a:p>
                      <a:pPr marL="117475" marR="0" indent="-117475"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b="0" baseline="0" dirty="0">
                          <a:solidFill>
                            <a:schemeClr val="bg1"/>
                          </a:solidFill>
                        </a:rPr>
                        <a:t>HPC App developer focus</a:t>
                      </a:r>
                      <a:endParaRPr lang="en-US" sz="1600" b="0" dirty="0">
                        <a:solidFill>
                          <a:schemeClr val="bg1"/>
                        </a:solidFill>
                      </a:endParaRPr>
                    </a:p>
                    <a:p>
                      <a:pPr marL="117475" indent="-117475">
                        <a:buFont typeface="Arial" panose="020B0604020202020204" pitchFamily="34" charset="0"/>
                        <a:buChar char="•"/>
                      </a:pPr>
                      <a:r>
                        <a:rPr lang="en-US" sz="1600" b="0" baseline="0" dirty="0">
                          <a:solidFill>
                            <a:schemeClr val="bg1"/>
                          </a:solidFill>
                        </a:rPr>
                        <a:t>1 app running during test</a:t>
                      </a:r>
                    </a:p>
                  </a:txBody>
                  <a:tcPr marL="121920" marR="121920" marT="60960" marB="60960" anchor="ctr">
                    <a:solidFill>
                      <a:schemeClr val="accent1"/>
                    </a:solidFill>
                  </a:tcPr>
                </a:tc>
                <a:tc>
                  <a:txBody>
                    <a:bodyPr/>
                    <a:lstStyle/>
                    <a:p>
                      <a:pPr algn="l"/>
                      <a:r>
                        <a:rPr lang="en-US" sz="1600" b="1" dirty="0"/>
                        <a:t>VTune</a:t>
                      </a:r>
                      <a:r>
                        <a:rPr lang="en-US" sz="1600" b="1" baseline="0" dirty="0"/>
                        <a:t> Amplifier’s</a:t>
                      </a:r>
                      <a:br>
                        <a:rPr lang="en-US" sz="2000" b="1" baseline="0" dirty="0"/>
                      </a:br>
                      <a:r>
                        <a:rPr lang="en-US" sz="2000" b="1" dirty="0"/>
                        <a:t>Application Performance Snapshot</a:t>
                      </a:r>
                    </a:p>
                    <a:p>
                      <a:pPr marL="0" indent="0" algn="l">
                        <a:buFont typeface="Wingdings" panose="05000000000000000000" pitchFamily="2" charset="2"/>
                        <a:buNone/>
                      </a:pPr>
                      <a:r>
                        <a:rPr lang="en-US" sz="1600" dirty="0">
                          <a:solidFill>
                            <a:schemeClr val="tx1">
                              <a:lumMod val="65000"/>
                              <a:lumOff val="35000"/>
                            </a:schemeClr>
                          </a:solidFill>
                          <a:sym typeface="Wingdings" panose="05000000000000000000" pitchFamily="2" charset="2"/>
                        </a:rPr>
                        <a:t>Metrics:</a:t>
                      </a:r>
                      <a:r>
                        <a:rPr lang="en-US" sz="1600" baseline="0" dirty="0">
                          <a:solidFill>
                            <a:schemeClr val="tx1">
                              <a:lumMod val="65000"/>
                              <a:lumOff val="35000"/>
                            </a:schemeClr>
                          </a:solidFill>
                          <a:sym typeface="Wingdings" panose="05000000000000000000" pitchFamily="2" charset="2"/>
                        </a:rPr>
                        <a:t>  </a:t>
                      </a:r>
                      <a:r>
                        <a:rPr lang="en-US" sz="1600" dirty="0">
                          <a:solidFill>
                            <a:schemeClr val="tx1">
                              <a:lumMod val="65000"/>
                              <a:lumOff val="35000"/>
                            </a:schemeClr>
                          </a:solidFill>
                          <a:sym typeface="Wingdings" panose="05000000000000000000" pitchFamily="2" charset="2"/>
                        </a:rPr>
                        <a:t> </a:t>
                      </a:r>
                      <a:r>
                        <a:rPr lang="en-US" sz="1600" dirty="0">
                          <a:solidFill>
                            <a:schemeClr val="tx1">
                              <a:lumMod val="65000"/>
                              <a:lumOff val="35000"/>
                            </a:schemeClr>
                          </a:solidFill>
                        </a:rPr>
                        <a:t>OpenMP</a:t>
                      </a:r>
                      <a:r>
                        <a:rPr lang="en-US" sz="1600" baseline="0" dirty="0">
                          <a:solidFill>
                            <a:schemeClr val="tx1">
                              <a:lumMod val="65000"/>
                              <a:lumOff val="35000"/>
                            </a:schemeClr>
                          </a:solidFill>
                        </a:rPr>
                        <a:t>  </a:t>
                      </a:r>
                      <a:r>
                        <a:rPr lang="en-US" sz="1600" dirty="0">
                          <a:solidFill>
                            <a:schemeClr val="tx1">
                              <a:lumMod val="65000"/>
                              <a:lumOff val="35000"/>
                            </a:schemeClr>
                          </a:solidFill>
                          <a:sym typeface="Wingdings" panose="05000000000000000000" pitchFamily="2" charset="2"/>
                        </a:rPr>
                        <a:t> </a:t>
                      </a:r>
                      <a:r>
                        <a:rPr lang="en-US" sz="1600" dirty="0">
                          <a:solidFill>
                            <a:schemeClr val="tx1">
                              <a:lumMod val="65000"/>
                              <a:lumOff val="35000"/>
                            </a:schemeClr>
                          </a:solidFill>
                        </a:rPr>
                        <a:t>Vectorization</a:t>
                      </a:r>
                      <a:r>
                        <a:rPr lang="en-US" sz="1600" baseline="0" dirty="0">
                          <a:solidFill>
                            <a:schemeClr val="tx1">
                              <a:lumMod val="65000"/>
                              <a:lumOff val="35000"/>
                            </a:schemeClr>
                          </a:solidFill>
                        </a:rPr>
                        <a:t>  </a:t>
                      </a:r>
                      <a:r>
                        <a:rPr lang="en-US" sz="1600" dirty="0">
                          <a:solidFill>
                            <a:schemeClr val="tx1">
                              <a:lumMod val="65000"/>
                              <a:lumOff val="35000"/>
                            </a:schemeClr>
                          </a:solidFill>
                          <a:sym typeface="Wingdings" panose="05000000000000000000" pitchFamily="2" charset="2"/>
                        </a:rPr>
                        <a:t> </a:t>
                      </a:r>
                      <a:r>
                        <a:rPr lang="en-US" sz="1600" dirty="0">
                          <a:solidFill>
                            <a:schemeClr val="tx1">
                              <a:lumMod val="65000"/>
                              <a:lumOff val="35000"/>
                            </a:schemeClr>
                          </a:solidFill>
                        </a:rPr>
                        <a:t>MPI</a:t>
                      </a:r>
                      <a:br>
                        <a:rPr lang="en-US" sz="1600" dirty="0">
                          <a:solidFill>
                            <a:schemeClr val="tx1">
                              <a:lumMod val="65000"/>
                              <a:lumOff val="35000"/>
                            </a:schemeClr>
                          </a:solidFill>
                        </a:rPr>
                      </a:br>
                      <a:r>
                        <a:rPr lang="en-US" sz="1600" dirty="0">
                          <a:solidFill>
                            <a:schemeClr val="tx1">
                              <a:lumMod val="65000"/>
                              <a:lumOff val="35000"/>
                            </a:schemeClr>
                          </a:solidFill>
                        </a:rPr>
                        <a:t>                 </a:t>
                      </a:r>
                      <a:r>
                        <a:rPr lang="en-US" sz="1600" dirty="0">
                          <a:solidFill>
                            <a:schemeClr val="tx1">
                              <a:lumMod val="65000"/>
                              <a:lumOff val="35000"/>
                            </a:schemeClr>
                          </a:solidFill>
                          <a:sym typeface="Wingdings" panose="05000000000000000000" pitchFamily="2" charset="2"/>
                        </a:rPr>
                        <a:t> Memory</a:t>
                      </a:r>
                      <a:r>
                        <a:rPr lang="en-US" sz="1600" baseline="0" dirty="0">
                          <a:solidFill>
                            <a:schemeClr val="tx1">
                              <a:lumMod val="65000"/>
                              <a:lumOff val="35000"/>
                            </a:schemeClr>
                          </a:solidFill>
                          <a:sym typeface="Wingdings" panose="05000000000000000000" pitchFamily="2" charset="2"/>
                        </a:rPr>
                        <a:t>  </a:t>
                      </a:r>
                      <a:r>
                        <a:rPr lang="en-US" sz="1200" baseline="0" dirty="0">
                          <a:solidFill>
                            <a:schemeClr val="tx1">
                              <a:lumMod val="65000"/>
                              <a:lumOff val="35000"/>
                            </a:schemeClr>
                          </a:solidFill>
                          <a:sym typeface="Wingdings" panose="05000000000000000000" pitchFamily="2" charset="2"/>
                        </a:rPr>
                        <a:t> </a:t>
                      </a:r>
                      <a:r>
                        <a:rPr lang="en-US" sz="1600" dirty="0">
                          <a:solidFill>
                            <a:schemeClr val="tx1">
                              <a:lumMod val="65000"/>
                              <a:lumOff val="35000"/>
                            </a:schemeClr>
                          </a:solidFill>
                          <a:sym typeface="Wingdings" panose="05000000000000000000" pitchFamily="2" charset="2"/>
                        </a:rPr>
                        <a:t> I/O</a:t>
                      </a:r>
                      <a:endParaRPr lang="en-US" sz="1600" dirty="0">
                        <a:solidFill>
                          <a:schemeClr val="tx1">
                            <a:lumMod val="65000"/>
                            <a:lumOff val="35000"/>
                          </a:schemeClr>
                        </a:solidFill>
                      </a:endParaRPr>
                    </a:p>
                  </a:txBody>
                  <a:tcPr marL="60960" marR="0" marT="60960" marB="60960" anchor="ctr"/>
                </a:tc>
                <a:tc>
                  <a:txBody>
                    <a:bodyPr/>
                    <a:lstStyle/>
                    <a:p>
                      <a:pPr algn="l"/>
                      <a:r>
                        <a:rPr lang="en-US" sz="2000" b="1" dirty="0"/>
                        <a:t>VTune Amplifier</a:t>
                      </a:r>
                      <a:r>
                        <a:rPr lang="en-US" sz="1600" dirty="0">
                          <a:solidFill>
                            <a:schemeClr val="tx1">
                              <a:lumMod val="65000"/>
                              <a:lumOff val="35000"/>
                            </a:schemeClr>
                          </a:solidFill>
                        </a:rPr>
                        <a:t> </a:t>
                      </a:r>
                      <a:r>
                        <a:rPr lang="en-US" sz="1600" dirty="0">
                          <a:solidFill>
                            <a:schemeClr val="tx1">
                              <a:lumMod val="65000"/>
                              <a:lumOff val="35000"/>
                            </a:schemeClr>
                          </a:solidFill>
                          <a:sym typeface="Wingdings" panose="05000000000000000000" pitchFamily="2" charset="2"/>
                        </a:rPr>
                        <a:t> M</a:t>
                      </a:r>
                      <a:r>
                        <a:rPr lang="en-US" sz="1600" dirty="0">
                          <a:solidFill>
                            <a:schemeClr val="tx1">
                              <a:lumMod val="65000"/>
                              <a:lumOff val="35000"/>
                            </a:schemeClr>
                          </a:solidFill>
                        </a:rPr>
                        <a:t>any profiles</a:t>
                      </a:r>
                    </a:p>
                    <a:p>
                      <a:pPr algn="l"/>
                      <a:r>
                        <a:rPr lang="en-US" sz="2000" b="1" dirty="0"/>
                        <a:t>Intel Advisor</a:t>
                      </a:r>
                      <a:r>
                        <a:rPr lang="en-US" sz="1600" dirty="0">
                          <a:solidFill>
                            <a:schemeClr val="tx1">
                              <a:lumMod val="65000"/>
                              <a:lumOff val="35000"/>
                            </a:schemeClr>
                          </a:solidFill>
                        </a:rPr>
                        <a:t> </a:t>
                      </a:r>
                      <a:r>
                        <a:rPr lang="en-US" sz="1600" dirty="0">
                          <a:solidFill>
                            <a:schemeClr val="tx1">
                              <a:lumMod val="65000"/>
                              <a:lumOff val="35000"/>
                            </a:schemeClr>
                          </a:solidFill>
                          <a:sym typeface="Wingdings" panose="05000000000000000000" pitchFamily="2" charset="2"/>
                        </a:rPr>
                        <a:t> </a:t>
                      </a:r>
                      <a:r>
                        <a:rPr lang="en-US" sz="1600" dirty="0">
                          <a:solidFill>
                            <a:schemeClr val="tx1">
                              <a:lumMod val="65000"/>
                              <a:lumOff val="35000"/>
                            </a:schemeClr>
                          </a:solidFill>
                        </a:rPr>
                        <a:t>Vectorization</a:t>
                      </a:r>
                    </a:p>
                    <a:p>
                      <a:pPr algn="l"/>
                      <a:r>
                        <a:rPr lang="en-US" sz="2000" b="1" dirty="0"/>
                        <a:t>ITAC</a:t>
                      </a:r>
                      <a:r>
                        <a:rPr lang="en-US" sz="1600" dirty="0">
                          <a:solidFill>
                            <a:schemeClr val="tx1">
                              <a:lumMod val="65000"/>
                              <a:lumOff val="35000"/>
                            </a:schemeClr>
                          </a:solidFill>
                        </a:rPr>
                        <a:t> </a:t>
                      </a:r>
                      <a:r>
                        <a:rPr lang="en-US" sz="1600" dirty="0">
                          <a:solidFill>
                            <a:schemeClr val="tx1">
                              <a:lumMod val="65000"/>
                              <a:lumOff val="35000"/>
                            </a:schemeClr>
                          </a:solidFill>
                          <a:sym typeface="Wingdings" panose="05000000000000000000" pitchFamily="2" charset="2"/>
                        </a:rPr>
                        <a:t> </a:t>
                      </a:r>
                      <a:r>
                        <a:rPr lang="en-US" sz="1600" dirty="0">
                          <a:solidFill>
                            <a:schemeClr val="tx1">
                              <a:lumMod val="65000"/>
                              <a:lumOff val="35000"/>
                            </a:schemeClr>
                          </a:solidFill>
                        </a:rPr>
                        <a:t>MPI Optimization</a:t>
                      </a:r>
                    </a:p>
                  </a:txBody>
                  <a:tcPr marL="60960" marR="0" marT="60960" marB="60960" anchor="ctr"/>
                </a:tc>
                <a:extLst>
                  <a:ext uri="{0D108BD9-81ED-4DB2-BD59-A6C34878D82A}">
                    <a16:rowId xmlns:a16="http://schemas.microsoft.com/office/drawing/2014/main" val="10001"/>
                  </a:ext>
                </a:extLst>
              </a:tr>
              <a:tr h="1188720">
                <a:tc>
                  <a:txBody>
                    <a:bodyPr/>
                    <a:lstStyle/>
                    <a:p>
                      <a:r>
                        <a:rPr lang="en-US" sz="2400" b="1" dirty="0">
                          <a:solidFill>
                            <a:schemeClr val="bg1"/>
                          </a:solidFill>
                        </a:rPr>
                        <a:t>System Focus</a:t>
                      </a:r>
                    </a:p>
                    <a:p>
                      <a:pPr marL="117475" indent="-117475">
                        <a:buFont typeface="Arial" panose="020B0604020202020204" pitchFamily="34" charset="0"/>
                        <a:buChar char="•"/>
                      </a:pPr>
                      <a:r>
                        <a:rPr lang="en-US" sz="1600" b="0" dirty="0">
                          <a:solidFill>
                            <a:schemeClr val="bg1"/>
                          </a:solidFill>
                        </a:rPr>
                        <a:t>Deployed</a:t>
                      </a:r>
                      <a:r>
                        <a:rPr lang="en-US" sz="1600" b="0" baseline="0" dirty="0">
                          <a:solidFill>
                            <a:schemeClr val="bg1"/>
                          </a:solidFill>
                        </a:rPr>
                        <a:t> system focus</a:t>
                      </a:r>
                    </a:p>
                    <a:p>
                      <a:pPr marL="117475" indent="-117475">
                        <a:buFont typeface="Arial" panose="020B0604020202020204" pitchFamily="34" charset="0"/>
                        <a:buChar char="•"/>
                      </a:pPr>
                      <a:r>
                        <a:rPr lang="en-US" sz="1600" b="0" baseline="0" dirty="0">
                          <a:solidFill>
                            <a:schemeClr val="bg1"/>
                          </a:solidFill>
                        </a:rPr>
                        <a:t>Full system load test</a:t>
                      </a:r>
                      <a:endParaRPr lang="en-US" sz="1600" b="0" dirty="0">
                        <a:solidFill>
                          <a:schemeClr val="bg1"/>
                        </a:solidFill>
                      </a:endParaRPr>
                    </a:p>
                  </a:txBody>
                  <a:tcPr marL="121920" marR="121920" marT="60960" marB="60960" anchor="ctr">
                    <a:solidFill>
                      <a:schemeClr val="accent1"/>
                    </a:solidFill>
                  </a:tcPr>
                </a:tc>
                <a:tc>
                  <a:txBody>
                    <a:bodyPr/>
                    <a:lstStyle/>
                    <a:p>
                      <a:pPr algn="l"/>
                      <a:r>
                        <a:rPr kumimoji="0" lang="en-US" sz="1600" b="1" i="0" u="none" strike="noStrike" kern="1200" cap="none" spc="0" normalizeH="0" baseline="0" noProof="0" dirty="0">
                          <a:ln>
                            <a:noFill/>
                          </a:ln>
                          <a:solidFill>
                            <a:prstClr val="black"/>
                          </a:solidFill>
                          <a:effectLst/>
                          <a:uLnTx/>
                          <a:uFillTx/>
                          <a:latin typeface="+mn-lt"/>
                          <a:ea typeface="+mn-ea"/>
                          <a:cs typeface="+mn-cs"/>
                        </a:rPr>
                        <a:t>VTune Amplifier’s</a:t>
                      </a:r>
                    </a:p>
                    <a:p>
                      <a:pPr algn="l"/>
                      <a:r>
                        <a:rPr lang="en-US" sz="2000" b="1" dirty="0"/>
                        <a:t>Storage Performance</a:t>
                      </a:r>
                      <a:r>
                        <a:rPr lang="en-US" sz="2000" b="1" baseline="0" dirty="0"/>
                        <a:t> Snapshot</a:t>
                      </a:r>
                    </a:p>
                    <a:p>
                      <a:pPr marL="0" marR="0" lvl="0" indent="0" algn="l" defTabSz="457200" rtl="0" eaLnBrk="1" fontAlgn="auto" latinLnBrk="0" hangingPunct="1">
                        <a:lnSpc>
                          <a:spcPct val="100000"/>
                        </a:lnSpc>
                        <a:spcBef>
                          <a:spcPts val="0"/>
                        </a:spcBef>
                        <a:spcAft>
                          <a:spcPts val="0"/>
                        </a:spcAft>
                        <a:buClrTx/>
                        <a:buSzTx/>
                        <a:buFont typeface="Wingdings" panose="05000000000000000000" pitchFamily="2" charset="2"/>
                        <a:buNone/>
                        <a:tabLst/>
                        <a:defRPr/>
                      </a:pPr>
                      <a:r>
                        <a:rPr kumimoji="0" lang="en-US" sz="1600" b="0" i="0" u="none" strike="noStrike" kern="1200" cap="none" spc="0" normalizeH="0" baseline="0" noProof="0" dirty="0">
                          <a:ln>
                            <a:noFill/>
                          </a:ln>
                          <a:solidFill>
                            <a:prstClr val="black">
                              <a:lumMod val="65000"/>
                              <a:lumOff val="35000"/>
                            </a:prstClr>
                          </a:solidFill>
                          <a:effectLst/>
                          <a:uLnTx/>
                          <a:uFillTx/>
                          <a:latin typeface="+mn-lt"/>
                          <a:ea typeface="+mn-ea"/>
                          <a:cs typeface="+mn-cs"/>
                          <a:sym typeface="Wingdings" panose="05000000000000000000" pitchFamily="2" charset="2"/>
                        </a:rPr>
                        <a:t>Metrics:   I/O   </a:t>
                      </a:r>
                      <a:r>
                        <a:rPr kumimoji="0" lang="en-US" sz="1600" b="0" i="0" u="none" strike="noStrike" kern="1200" cap="none" spc="0" normalizeH="0" baseline="0" noProof="0" dirty="0">
                          <a:ln>
                            <a:noFill/>
                          </a:ln>
                          <a:solidFill>
                            <a:prstClr val="black">
                              <a:lumMod val="65000"/>
                              <a:lumOff val="35000"/>
                            </a:prstClr>
                          </a:solidFill>
                          <a:effectLst/>
                          <a:uLnTx/>
                          <a:uFillTx/>
                          <a:latin typeface="+mn-lt"/>
                          <a:ea typeface="+mn-ea"/>
                          <a:cs typeface="+mn-cs"/>
                        </a:rPr>
                        <a:t>CPU  </a:t>
                      </a:r>
                      <a:r>
                        <a:rPr kumimoji="0" lang="en-US" sz="1600" b="0" i="0" u="none" strike="noStrike" kern="1200" cap="none" spc="0" normalizeH="0" baseline="0" noProof="0" dirty="0">
                          <a:ln>
                            <a:noFill/>
                          </a:ln>
                          <a:solidFill>
                            <a:prstClr val="black">
                              <a:lumMod val="65000"/>
                              <a:lumOff val="35000"/>
                            </a:prstClr>
                          </a:solidFill>
                          <a:effectLst/>
                          <a:uLnTx/>
                          <a:uFillTx/>
                          <a:latin typeface="+mn-lt"/>
                          <a:ea typeface="+mn-ea"/>
                          <a:cs typeface="+mn-cs"/>
                          <a:sym typeface="Wingdings" panose="05000000000000000000" pitchFamily="2" charset="2"/>
                        </a:rPr>
                        <a:t> </a:t>
                      </a:r>
                      <a:r>
                        <a:rPr kumimoji="0" lang="en-US" sz="1600" b="0" i="0" u="none" strike="noStrike" kern="1200" cap="none" spc="0" normalizeH="0" baseline="0" noProof="0" dirty="0">
                          <a:ln>
                            <a:noFill/>
                          </a:ln>
                          <a:solidFill>
                            <a:prstClr val="black">
                              <a:lumMod val="65000"/>
                              <a:lumOff val="35000"/>
                            </a:prstClr>
                          </a:solidFill>
                          <a:effectLst/>
                          <a:uLnTx/>
                          <a:uFillTx/>
                          <a:latin typeface="+mn-lt"/>
                          <a:ea typeface="+mn-ea"/>
                          <a:cs typeface="+mn-cs"/>
                        </a:rPr>
                        <a:t>Memory  </a:t>
                      </a:r>
                      <a:r>
                        <a:rPr kumimoji="0" lang="en-US" sz="1600" b="0" i="0" u="none" strike="noStrike" kern="1200" cap="none" spc="0" normalizeH="0" baseline="0" noProof="0" dirty="0">
                          <a:ln>
                            <a:noFill/>
                          </a:ln>
                          <a:solidFill>
                            <a:prstClr val="black">
                              <a:lumMod val="65000"/>
                              <a:lumOff val="35000"/>
                            </a:prstClr>
                          </a:solidFill>
                          <a:effectLst/>
                          <a:uLnTx/>
                          <a:uFillTx/>
                          <a:latin typeface="+mn-lt"/>
                          <a:ea typeface="+mn-ea"/>
                          <a:cs typeface="+mn-cs"/>
                          <a:sym typeface="Wingdings" panose="05000000000000000000" pitchFamily="2" charset="2"/>
                        </a:rPr>
                        <a:t> </a:t>
                      </a:r>
                      <a:r>
                        <a:rPr kumimoji="0" lang="en-US" sz="1600" b="0" i="0" u="none" strike="noStrike" kern="1200" cap="none" spc="0" normalizeH="0" baseline="0" noProof="0" dirty="0">
                          <a:ln>
                            <a:noFill/>
                          </a:ln>
                          <a:solidFill>
                            <a:prstClr val="black">
                              <a:lumMod val="65000"/>
                              <a:lumOff val="35000"/>
                            </a:prstClr>
                          </a:solidFill>
                          <a:effectLst/>
                          <a:uLnTx/>
                          <a:uFillTx/>
                          <a:latin typeface="+mn-lt"/>
                          <a:ea typeface="+mn-ea"/>
                          <a:cs typeface="+mn-cs"/>
                        </a:rPr>
                        <a:t>Network</a:t>
                      </a:r>
                    </a:p>
                  </a:txBody>
                  <a:tcPr marL="60960" marR="0" marT="60960" marB="60960"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mn-lt"/>
                          <a:ea typeface="+mn-ea"/>
                          <a:cs typeface="+mn-cs"/>
                        </a:rPr>
                        <a:t>VTune Amplifier</a:t>
                      </a:r>
                      <a:endParaRPr kumimoji="0" lang="en-US" sz="1600" b="0" i="0" u="none" strike="noStrike" kern="1200" cap="none" spc="0" normalizeH="0" baseline="0" noProof="0" dirty="0">
                        <a:ln>
                          <a:noFill/>
                        </a:ln>
                        <a:solidFill>
                          <a:prstClr val="black">
                            <a:lumMod val="65000"/>
                            <a:lumOff val="35000"/>
                          </a:prstClr>
                        </a:solidFill>
                        <a:effectLst/>
                        <a:uLnTx/>
                        <a:uFillTx/>
                        <a:latin typeface="+mn-lt"/>
                        <a:ea typeface="+mn-ea"/>
                        <a:cs typeface="+mn-cs"/>
                        <a:sym typeface="Wingdings" panose="05000000000000000000" pitchFamily="2" charset="2"/>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 - Sampling:  </a:t>
                      </a:r>
                      <a:r>
                        <a:rPr kumimoji="0" lang="en-US" sz="1600" b="0" i="0" u="none" strike="noStrike" kern="1200" cap="none" spc="0" normalizeH="0" baseline="0" noProof="0" dirty="0">
                          <a:ln>
                            <a:noFill/>
                          </a:ln>
                          <a:solidFill>
                            <a:prstClr val="black">
                              <a:lumMod val="65000"/>
                              <a:lumOff val="35000"/>
                            </a:prstClr>
                          </a:solidFill>
                          <a:effectLst/>
                          <a:uLnTx/>
                          <a:uFillTx/>
                          <a:latin typeface="+mn-lt"/>
                          <a:ea typeface="+mn-ea"/>
                          <a:cs typeface="+mn-cs"/>
                          <a:sym typeface="Wingdings" panose="05000000000000000000" pitchFamily="2" charset="2"/>
                        </a:rPr>
                        <a:t> System wide EBS</a:t>
                      </a:r>
                      <a:endParaRPr kumimoji="0" lang="en-US" sz="1600" b="1" i="0" u="none" strike="noStrike" kern="1200" cap="none" spc="0" normalizeH="0" baseline="0" noProof="0" dirty="0">
                        <a:ln>
                          <a:noFill/>
                        </a:ln>
                        <a:solidFill>
                          <a:prstClr val="black"/>
                        </a:solidFill>
                        <a:effectLst/>
                        <a:uLnTx/>
                        <a:uFillTx/>
                        <a:latin typeface="+mn-lt"/>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mn-lt"/>
                          <a:ea typeface="+mn-ea"/>
                          <a:cs typeface="+mn-cs"/>
                        </a:rPr>
                        <a:t> </a:t>
                      </a:r>
                      <a:r>
                        <a:rPr kumimoji="0" lang="en-US" sz="1800" b="1" i="0" u="none" strike="noStrike" kern="1200" cap="none" spc="0" normalizeH="0" baseline="0" noProof="0" dirty="0">
                          <a:ln>
                            <a:noFill/>
                          </a:ln>
                          <a:solidFill>
                            <a:prstClr val="black"/>
                          </a:solidFill>
                          <a:effectLst/>
                          <a:uLnTx/>
                          <a:uFillTx/>
                          <a:latin typeface="+mn-lt"/>
                          <a:ea typeface="+mn-ea"/>
                          <a:cs typeface="+mn-cs"/>
                        </a:rPr>
                        <a:t>- Platform Profiler:</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lumMod val="65000"/>
                              <a:lumOff val="35000"/>
                            </a:prstClr>
                          </a:solidFill>
                          <a:effectLst/>
                          <a:uLnTx/>
                          <a:uFillTx/>
                          <a:latin typeface="+mn-lt"/>
                          <a:ea typeface="+mn-ea"/>
                          <a:cs typeface="+mn-cs"/>
                          <a:sym typeface="Wingdings" panose="05000000000000000000" pitchFamily="2" charset="2"/>
                        </a:rPr>
                        <a:t>     Metrics:  ~20 OS    ~150 hardware </a:t>
                      </a:r>
                    </a:p>
                  </a:txBody>
                  <a:tcPr marL="60960" marR="0" marT="60960" marB="60960" anchor="ctr"/>
                </a:tc>
                <a:extLst>
                  <a:ext uri="{0D108BD9-81ED-4DB2-BD59-A6C34878D82A}">
                    <a16:rowId xmlns:a16="http://schemas.microsoft.com/office/drawing/2014/main" val="10002"/>
                  </a:ext>
                </a:extLst>
              </a:tr>
            </a:tbl>
          </a:graphicData>
        </a:graphic>
      </p:graphicFrame>
      <p:sp>
        <p:nvSpPr>
          <p:cNvPr id="7" name="TextBox 6"/>
          <p:cNvSpPr txBox="1"/>
          <p:nvPr/>
        </p:nvSpPr>
        <p:spPr>
          <a:xfrm>
            <a:off x="607484" y="5458647"/>
            <a:ext cx="11131452" cy="246221"/>
          </a:xfrm>
          <a:prstGeom prst="rect">
            <a:avLst/>
          </a:prstGeom>
          <a:noFill/>
        </p:spPr>
        <p:txBody>
          <a:bodyPr vert="horz" wrap="square" lIns="0" tIns="0" rIns="0" bIns="0" rtlCol="0">
            <a:spAutoFit/>
          </a:bodyPr>
          <a:lstStyle/>
          <a:p>
            <a:pPr defTabSz="609585"/>
            <a:r>
              <a:rPr lang="en-US" sz="1600" dirty="0">
                <a:solidFill>
                  <a:prstClr val="black"/>
                </a:solidFill>
              </a:rPr>
              <a:t>Maximum collection times:  </a:t>
            </a:r>
            <a:r>
              <a:rPr lang="en-US" sz="1600" b="1" dirty="0">
                <a:solidFill>
                  <a:srgbClr val="FFA300">
                    <a:lumMod val="50000"/>
                  </a:srgbClr>
                </a:solidFill>
              </a:rPr>
              <a:t>L</a:t>
            </a:r>
            <a:r>
              <a:rPr lang="en-US" sz="1600" dirty="0">
                <a:solidFill>
                  <a:srgbClr val="FFA300">
                    <a:lumMod val="50000"/>
                  </a:srgbClr>
                </a:solidFill>
                <a:sym typeface="Wingdings" panose="05000000000000000000" pitchFamily="2" charset="2"/>
              </a:rPr>
              <a:t></a:t>
            </a:r>
            <a:r>
              <a:rPr lang="en-US" sz="1600" dirty="0">
                <a:solidFill>
                  <a:prstClr val="black"/>
                </a:solidFill>
              </a:rPr>
              <a:t>=long (hours)   </a:t>
            </a:r>
            <a:r>
              <a:rPr lang="en-US" sz="1600" b="1" dirty="0">
                <a:solidFill>
                  <a:srgbClr val="FFA300">
                    <a:lumMod val="50000"/>
                  </a:srgbClr>
                </a:solidFill>
              </a:rPr>
              <a:t>M</a:t>
            </a:r>
            <a:r>
              <a:rPr lang="en-US" sz="1600" dirty="0">
                <a:solidFill>
                  <a:srgbClr val="FFA300">
                    <a:lumMod val="50000"/>
                  </a:srgbClr>
                </a:solidFill>
                <a:sym typeface="Wingdings" panose="05000000000000000000" pitchFamily="2" charset="2"/>
              </a:rPr>
              <a:t></a:t>
            </a:r>
            <a:r>
              <a:rPr lang="en-US" sz="1600" dirty="0">
                <a:solidFill>
                  <a:prstClr val="black"/>
                </a:solidFill>
              </a:rPr>
              <a:t>=medium (minutes)   </a:t>
            </a:r>
            <a:r>
              <a:rPr lang="en-US" sz="1600" b="1" dirty="0">
                <a:solidFill>
                  <a:srgbClr val="FFA300">
                    <a:lumMod val="50000"/>
                  </a:srgbClr>
                </a:solidFill>
              </a:rPr>
              <a:t>S</a:t>
            </a:r>
            <a:r>
              <a:rPr lang="en-US" sz="1600" dirty="0">
                <a:solidFill>
                  <a:srgbClr val="FFA300">
                    <a:lumMod val="50000"/>
                  </a:srgbClr>
                </a:solidFill>
                <a:sym typeface="Wingdings" panose="05000000000000000000" pitchFamily="2" charset="2"/>
              </a:rPr>
              <a:t></a:t>
            </a:r>
            <a:r>
              <a:rPr lang="en-US" sz="1600" dirty="0">
                <a:solidFill>
                  <a:prstClr val="black"/>
                </a:solidFill>
              </a:rPr>
              <a:t>=short (seconds-few minutes)</a:t>
            </a:r>
          </a:p>
        </p:txBody>
      </p:sp>
      <p:sp>
        <p:nvSpPr>
          <p:cNvPr id="10" name="TextBox 9"/>
          <p:cNvSpPr txBox="1"/>
          <p:nvPr/>
        </p:nvSpPr>
        <p:spPr>
          <a:xfrm>
            <a:off x="11173764" y="2935239"/>
            <a:ext cx="667456" cy="246221"/>
          </a:xfrm>
          <a:prstGeom prst="rect">
            <a:avLst/>
          </a:prstGeom>
          <a:noFill/>
        </p:spPr>
        <p:txBody>
          <a:bodyPr vert="horz" wrap="square" lIns="0" tIns="0" rIns="0" bIns="0" rtlCol="0">
            <a:spAutoFit/>
          </a:bodyPr>
          <a:lstStyle/>
          <a:p>
            <a:pPr algn="r" defTabSz="609585"/>
            <a:r>
              <a:rPr lang="en-US" sz="1600" b="1" dirty="0">
                <a:solidFill>
                  <a:srgbClr val="FFA300">
                    <a:lumMod val="50000"/>
                  </a:srgbClr>
                </a:solidFill>
              </a:rPr>
              <a:t>S-M</a:t>
            </a:r>
            <a:r>
              <a:rPr lang="en-US" sz="1600" dirty="0">
                <a:solidFill>
                  <a:srgbClr val="FFA300">
                    <a:lumMod val="50000"/>
                  </a:srgbClr>
                </a:solidFill>
                <a:sym typeface="Wingdings" panose="05000000000000000000" pitchFamily="2" charset="2"/>
              </a:rPr>
              <a:t></a:t>
            </a:r>
            <a:endParaRPr lang="en-US" sz="1600" dirty="0">
              <a:solidFill>
                <a:srgbClr val="FFA300">
                  <a:lumMod val="50000"/>
                </a:srgbClr>
              </a:solidFill>
            </a:endParaRPr>
          </a:p>
        </p:txBody>
      </p:sp>
      <p:sp>
        <p:nvSpPr>
          <p:cNvPr id="11" name="TextBox 10"/>
          <p:cNvSpPr txBox="1"/>
          <p:nvPr/>
        </p:nvSpPr>
        <p:spPr>
          <a:xfrm>
            <a:off x="7313445" y="3725442"/>
            <a:ext cx="377253" cy="246221"/>
          </a:xfrm>
          <a:prstGeom prst="rect">
            <a:avLst/>
          </a:prstGeom>
          <a:noFill/>
        </p:spPr>
        <p:txBody>
          <a:bodyPr vert="horz" wrap="square" lIns="0" tIns="0" rIns="0" bIns="0" rtlCol="0">
            <a:spAutoFit/>
          </a:bodyPr>
          <a:lstStyle/>
          <a:p>
            <a:pPr algn="r" defTabSz="609585"/>
            <a:r>
              <a:rPr lang="en-US" sz="1600" b="1" dirty="0">
                <a:solidFill>
                  <a:srgbClr val="FFA300">
                    <a:lumMod val="50000"/>
                  </a:srgbClr>
                </a:solidFill>
              </a:rPr>
              <a:t>L</a:t>
            </a:r>
            <a:r>
              <a:rPr lang="en-US" sz="1600" dirty="0">
                <a:solidFill>
                  <a:srgbClr val="FFA300">
                    <a:lumMod val="50000"/>
                  </a:srgbClr>
                </a:solidFill>
                <a:sym typeface="Wingdings" panose="05000000000000000000" pitchFamily="2" charset="2"/>
              </a:rPr>
              <a:t></a:t>
            </a:r>
            <a:endParaRPr lang="en-US" sz="1600" dirty="0">
              <a:solidFill>
                <a:srgbClr val="FFA300">
                  <a:lumMod val="50000"/>
                </a:srgbClr>
              </a:solidFill>
            </a:endParaRPr>
          </a:p>
        </p:txBody>
      </p:sp>
      <p:sp>
        <p:nvSpPr>
          <p:cNvPr id="14" name="TextBox 13"/>
          <p:cNvSpPr txBox="1"/>
          <p:nvPr/>
        </p:nvSpPr>
        <p:spPr>
          <a:xfrm>
            <a:off x="7313445" y="4918050"/>
            <a:ext cx="345993" cy="246221"/>
          </a:xfrm>
          <a:prstGeom prst="rect">
            <a:avLst/>
          </a:prstGeom>
          <a:noFill/>
        </p:spPr>
        <p:txBody>
          <a:bodyPr vert="horz" wrap="square" lIns="0" tIns="0" rIns="0" bIns="0" rtlCol="0">
            <a:spAutoFit/>
          </a:bodyPr>
          <a:lstStyle/>
          <a:p>
            <a:pPr algn="r" defTabSz="609585"/>
            <a:r>
              <a:rPr lang="en-US" sz="1600" b="1" dirty="0">
                <a:solidFill>
                  <a:srgbClr val="FFA300">
                    <a:lumMod val="50000"/>
                  </a:srgbClr>
                </a:solidFill>
              </a:rPr>
              <a:t>L</a:t>
            </a:r>
            <a:r>
              <a:rPr lang="en-US" sz="1600" dirty="0">
                <a:solidFill>
                  <a:srgbClr val="FFA300">
                    <a:lumMod val="50000"/>
                  </a:srgbClr>
                </a:solidFill>
                <a:sym typeface="Wingdings" panose="05000000000000000000" pitchFamily="2" charset="2"/>
              </a:rPr>
              <a:t></a:t>
            </a:r>
            <a:endParaRPr lang="en-US" sz="1600" dirty="0">
              <a:solidFill>
                <a:srgbClr val="FFA300">
                  <a:lumMod val="50000"/>
                </a:srgbClr>
              </a:solidFill>
            </a:endParaRPr>
          </a:p>
        </p:txBody>
      </p:sp>
      <p:sp>
        <p:nvSpPr>
          <p:cNvPr id="13" name="TextBox 12"/>
          <p:cNvSpPr txBox="1"/>
          <p:nvPr/>
        </p:nvSpPr>
        <p:spPr>
          <a:xfrm>
            <a:off x="11501415" y="3273886"/>
            <a:ext cx="339804" cy="246221"/>
          </a:xfrm>
          <a:prstGeom prst="rect">
            <a:avLst/>
          </a:prstGeom>
          <a:noFill/>
        </p:spPr>
        <p:txBody>
          <a:bodyPr vert="horz" wrap="square" lIns="0" tIns="0" rIns="0" bIns="0" rtlCol="0">
            <a:spAutoFit/>
          </a:bodyPr>
          <a:lstStyle/>
          <a:p>
            <a:pPr algn="r" defTabSz="609585"/>
            <a:r>
              <a:rPr lang="en-US" sz="1600" b="1" dirty="0">
                <a:solidFill>
                  <a:srgbClr val="FFA300">
                    <a:lumMod val="50000"/>
                  </a:srgbClr>
                </a:solidFill>
              </a:rPr>
              <a:t>S</a:t>
            </a:r>
            <a:r>
              <a:rPr lang="en-US" sz="1600" dirty="0">
                <a:solidFill>
                  <a:srgbClr val="FFA300">
                    <a:lumMod val="50000"/>
                  </a:srgbClr>
                </a:solidFill>
                <a:sym typeface="Wingdings" panose="05000000000000000000" pitchFamily="2" charset="2"/>
              </a:rPr>
              <a:t></a:t>
            </a:r>
            <a:endParaRPr lang="en-US" sz="1600" dirty="0">
              <a:solidFill>
                <a:srgbClr val="FFA300">
                  <a:lumMod val="50000"/>
                </a:srgbClr>
              </a:solidFill>
            </a:endParaRPr>
          </a:p>
        </p:txBody>
      </p:sp>
      <p:sp>
        <p:nvSpPr>
          <p:cNvPr id="15" name="TextBox 14"/>
          <p:cNvSpPr txBox="1"/>
          <p:nvPr/>
        </p:nvSpPr>
        <p:spPr>
          <a:xfrm>
            <a:off x="11314122" y="3580264"/>
            <a:ext cx="527097" cy="246221"/>
          </a:xfrm>
          <a:prstGeom prst="rect">
            <a:avLst/>
          </a:prstGeom>
          <a:noFill/>
        </p:spPr>
        <p:txBody>
          <a:bodyPr vert="horz" wrap="square" lIns="0" tIns="0" rIns="0" bIns="0" rtlCol="0">
            <a:spAutoFit/>
          </a:bodyPr>
          <a:lstStyle/>
          <a:p>
            <a:pPr algn="r" defTabSz="609585"/>
            <a:r>
              <a:rPr lang="en-US" sz="1600" b="1" dirty="0">
                <a:solidFill>
                  <a:srgbClr val="FFA300">
                    <a:lumMod val="50000"/>
                  </a:srgbClr>
                </a:solidFill>
              </a:rPr>
              <a:t>S-L</a:t>
            </a:r>
            <a:r>
              <a:rPr lang="en-US" sz="1600" dirty="0">
                <a:solidFill>
                  <a:srgbClr val="FFA300">
                    <a:lumMod val="50000"/>
                  </a:srgbClr>
                </a:solidFill>
                <a:sym typeface="Wingdings" panose="05000000000000000000" pitchFamily="2" charset="2"/>
              </a:rPr>
              <a:t></a:t>
            </a:r>
            <a:endParaRPr lang="en-US" sz="1600" dirty="0">
              <a:solidFill>
                <a:srgbClr val="FFA300">
                  <a:lumMod val="50000"/>
                </a:srgbClr>
              </a:solidFill>
            </a:endParaRPr>
          </a:p>
        </p:txBody>
      </p:sp>
      <p:sp>
        <p:nvSpPr>
          <p:cNvPr id="16" name="TextBox 15"/>
          <p:cNvSpPr txBox="1"/>
          <p:nvPr/>
        </p:nvSpPr>
        <p:spPr>
          <a:xfrm>
            <a:off x="11495226" y="4955218"/>
            <a:ext cx="345993" cy="246221"/>
          </a:xfrm>
          <a:prstGeom prst="rect">
            <a:avLst/>
          </a:prstGeom>
          <a:noFill/>
        </p:spPr>
        <p:txBody>
          <a:bodyPr vert="horz" wrap="square" lIns="0" tIns="0" rIns="0" bIns="0" rtlCol="0">
            <a:spAutoFit/>
          </a:bodyPr>
          <a:lstStyle/>
          <a:p>
            <a:pPr algn="r" defTabSz="609585"/>
            <a:r>
              <a:rPr lang="en-US" sz="1600" b="1" dirty="0">
                <a:solidFill>
                  <a:srgbClr val="FFA300">
                    <a:lumMod val="50000"/>
                  </a:srgbClr>
                </a:solidFill>
              </a:rPr>
              <a:t>L</a:t>
            </a:r>
            <a:r>
              <a:rPr lang="en-US" sz="1600" dirty="0">
                <a:solidFill>
                  <a:srgbClr val="FFA300">
                    <a:lumMod val="50000"/>
                  </a:srgbClr>
                </a:solidFill>
                <a:sym typeface="Wingdings" panose="05000000000000000000" pitchFamily="2" charset="2"/>
              </a:rPr>
              <a:t></a:t>
            </a:r>
            <a:endParaRPr lang="en-US" sz="1600" dirty="0">
              <a:solidFill>
                <a:srgbClr val="FFA300">
                  <a:lumMod val="50000"/>
                </a:srgbClr>
              </a:solidFill>
            </a:endParaRPr>
          </a:p>
        </p:txBody>
      </p:sp>
      <p:sp>
        <p:nvSpPr>
          <p:cNvPr id="17" name="TextBox 16"/>
          <p:cNvSpPr txBox="1"/>
          <p:nvPr/>
        </p:nvSpPr>
        <p:spPr>
          <a:xfrm>
            <a:off x="11173765" y="4407085"/>
            <a:ext cx="661265" cy="246221"/>
          </a:xfrm>
          <a:prstGeom prst="rect">
            <a:avLst/>
          </a:prstGeom>
          <a:noFill/>
        </p:spPr>
        <p:txBody>
          <a:bodyPr vert="horz" wrap="square" lIns="0" tIns="0" rIns="0" bIns="0" rtlCol="0">
            <a:spAutoFit/>
          </a:bodyPr>
          <a:lstStyle/>
          <a:p>
            <a:pPr algn="r" defTabSz="609585"/>
            <a:r>
              <a:rPr lang="en-US" sz="1600" b="1" dirty="0">
                <a:solidFill>
                  <a:srgbClr val="FFA300">
                    <a:lumMod val="50000"/>
                  </a:srgbClr>
                </a:solidFill>
              </a:rPr>
              <a:t>S-M</a:t>
            </a:r>
            <a:r>
              <a:rPr lang="en-US" sz="1600" dirty="0">
                <a:solidFill>
                  <a:srgbClr val="FFA300">
                    <a:lumMod val="50000"/>
                  </a:srgbClr>
                </a:solidFill>
                <a:sym typeface="Wingdings" panose="05000000000000000000" pitchFamily="2" charset="2"/>
              </a:rPr>
              <a:t></a:t>
            </a:r>
            <a:endParaRPr lang="en-US" sz="1600" dirty="0">
              <a:solidFill>
                <a:srgbClr val="FFA300">
                  <a:lumMod val="50000"/>
                </a:srgbClr>
              </a:solidFill>
            </a:endParaRPr>
          </a:p>
        </p:txBody>
      </p:sp>
      <p:sp>
        <p:nvSpPr>
          <p:cNvPr id="4" name="Footer Placeholder 3"/>
          <p:cNvSpPr>
            <a:spLocks noGrp="1"/>
          </p:cNvSpPr>
          <p:nvPr>
            <p:ph type="ftr" sz="quarter" idx="3"/>
          </p:nvPr>
        </p:nvSpPr>
        <p:spPr/>
        <p:txBody>
          <a:bodyPr/>
          <a:lstStyle/>
          <a:p>
            <a:r>
              <a:rPr lang="en-US"/>
              <a:t>Intel Confidential</a:t>
            </a:r>
          </a:p>
        </p:txBody>
      </p:sp>
      <p:sp>
        <p:nvSpPr>
          <p:cNvPr id="5" name="Rectangle 4"/>
          <p:cNvSpPr/>
          <p:nvPr/>
        </p:nvSpPr>
        <p:spPr>
          <a:xfrm>
            <a:off x="7690698" y="3971663"/>
            <a:ext cx="4174423" cy="1229410"/>
          </a:xfrm>
          <a:prstGeom prst="rect">
            <a:avLst/>
          </a:prstGeom>
          <a:noFill/>
          <a:ln w="38100" cmpd="dbl">
            <a:solidFill>
              <a:schemeClr val="accent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Rectangle 17"/>
          <p:cNvSpPr/>
          <p:nvPr/>
        </p:nvSpPr>
        <p:spPr>
          <a:xfrm>
            <a:off x="607485" y="3971663"/>
            <a:ext cx="2821516" cy="1229410"/>
          </a:xfrm>
          <a:prstGeom prst="rect">
            <a:avLst/>
          </a:prstGeom>
          <a:noFill/>
          <a:ln w="38100" cmpd="dbl">
            <a:solidFill>
              <a:schemeClr val="accent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Rectangle 18"/>
          <p:cNvSpPr/>
          <p:nvPr/>
        </p:nvSpPr>
        <p:spPr>
          <a:xfrm>
            <a:off x="7690697" y="1604066"/>
            <a:ext cx="4174423" cy="1111569"/>
          </a:xfrm>
          <a:prstGeom prst="rect">
            <a:avLst/>
          </a:prstGeom>
          <a:noFill/>
          <a:ln w="38100" cmpd="dbl">
            <a:solidFill>
              <a:schemeClr val="accent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958928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8" grpId="0" animBg="1"/>
      <p:bldP spid="1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E2556C5-CE8C-6547-B838-EA80C61A4AF7}" type="slidenum">
              <a:rPr lang="en-US" smtClean="0"/>
              <a:pPr/>
              <a:t>6</a:t>
            </a:fld>
            <a:endParaRPr lang="en-US" dirty="0"/>
          </a:p>
        </p:txBody>
      </p:sp>
      <p:sp>
        <p:nvSpPr>
          <p:cNvPr id="3" name="Content Placeholder 2"/>
          <p:cNvSpPr>
            <a:spLocks noGrp="1"/>
          </p:cNvSpPr>
          <p:nvPr>
            <p:ph sz="half" idx="1"/>
          </p:nvPr>
        </p:nvSpPr>
        <p:spPr>
          <a:xfrm>
            <a:off x="6335487" y="1888075"/>
            <a:ext cx="5292424" cy="4284125"/>
          </a:xfrm>
          <a:solidFill>
            <a:schemeClr val="accent1">
              <a:lumMod val="20000"/>
              <a:lumOff val="80000"/>
            </a:schemeClr>
          </a:solidFill>
        </p:spPr>
        <p:txBody>
          <a:bodyPr vert="horz" lIns="0" tIns="121920" rIns="0" bIns="0" rtlCol="0">
            <a:noAutofit/>
          </a:bodyPr>
          <a:lstStyle/>
          <a:p>
            <a:r>
              <a:rPr lang="en-US" dirty="0"/>
              <a:t>Intel® VTune™ Amplifier</a:t>
            </a:r>
          </a:p>
          <a:p>
            <a:pPr lvl="1">
              <a:spcBef>
                <a:spcPts val="400"/>
              </a:spcBef>
            </a:pPr>
            <a:r>
              <a:rPr lang="en-US" dirty="0"/>
              <a:t>Cache optimization</a:t>
            </a:r>
          </a:p>
          <a:p>
            <a:pPr lvl="1">
              <a:spcBef>
                <a:spcPts val="400"/>
              </a:spcBef>
            </a:pPr>
            <a:r>
              <a:rPr lang="en-US" dirty="0"/>
              <a:t>Load balancing</a:t>
            </a:r>
          </a:p>
          <a:p>
            <a:pPr lvl="1">
              <a:spcBef>
                <a:spcPts val="400"/>
              </a:spcBef>
            </a:pPr>
            <a:r>
              <a:rPr lang="en-US" dirty="0"/>
              <a:t>Memory access analysis</a:t>
            </a:r>
          </a:p>
          <a:p>
            <a:pPr lvl="1">
              <a:spcBef>
                <a:spcPts val="400"/>
              </a:spcBef>
            </a:pPr>
            <a:r>
              <a:rPr lang="en-US" dirty="0"/>
              <a:t>More…</a:t>
            </a:r>
          </a:p>
          <a:p>
            <a:r>
              <a:rPr lang="en-US" dirty="0"/>
              <a:t>Intel® Advisor</a:t>
            </a:r>
          </a:p>
          <a:p>
            <a:pPr lvl="1">
              <a:spcBef>
                <a:spcPts val="400"/>
              </a:spcBef>
            </a:pPr>
            <a:r>
              <a:rPr lang="en-US" dirty="0"/>
              <a:t>Vectorization optimization</a:t>
            </a:r>
          </a:p>
          <a:p>
            <a:r>
              <a:rPr lang="en-US" dirty="0"/>
              <a:t>Intel® Trace Analyzer &amp; Collector (ITAC)</a:t>
            </a:r>
          </a:p>
          <a:p>
            <a:pPr lvl="1">
              <a:spcBef>
                <a:spcPts val="400"/>
              </a:spcBef>
            </a:pPr>
            <a:r>
              <a:rPr lang="en-US" dirty="0"/>
              <a:t>MPI optimization</a:t>
            </a:r>
          </a:p>
        </p:txBody>
      </p:sp>
      <p:sp>
        <p:nvSpPr>
          <p:cNvPr id="4" name="Content Placeholder 3"/>
          <p:cNvSpPr>
            <a:spLocks noGrp="1"/>
          </p:cNvSpPr>
          <p:nvPr>
            <p:ph sz="half" idx="13"/>
          </p:nvPr>
        </p:nvSpPr>
        <p:spPr>
          <a:xfrm>
            <a:off x="607485" y="1888075"/>
            <a:ext cx="5496983" cy="4284125"/>
          </a:xfrm>
          <a:solidFill>
            <a:schemeClr val="bg1">
              <a:lumMod val="95000"/>
            </a:schemeClr>
          </a:solidFill>
        </p:spPr>
        <p:txBody>
          <a:bodyPr vert="horz" lIns="0" tIns="121920" rIns="0" bIns="0" rtlCol="0">
            <a:normAutofit/>
          </a:bodyPr>
          <a:lstStyle/>
          <a:p>
            <a:pPr>
              <a:spcBef>
                <a:spcPts val="800"/>
              </a:spcBef>
            </a:pPr>
            <a:r>
              <a:rPr lang="en-US" sz="1600" dirty="0"/>
              <a:t>Intel® VTune™ Amplifier </a:t>
            </a:r>
            <a:br>
              <a:rPr lang="en-US" dirty="0"/>
            </a:br>
            <a:r>
              <a:rPr lang="en-US" dirty="0"/>
              <a:t>Platform Profiler</a:t>
            </a:r>
          </a:p>
          <a:p>
            <a:pPr lvl="1">
              <a:spcBef>
                <a:spcPts val="800"/>
              </a:spcBef>
            </a:pPr>
            <a:r>
              <a:rPr lang="en-US" dirty="0"/>
              <a:t>Plan a tuning strategy or monitor QA</a:t>
            </a:r>
          </a:p>
          <a:p>
            <a:pPr lvl="2">
              <a:spcBef>
                <a:spcPts val="133"/>
              </a:spcBef>
            </a:pPr>
            <a:r>
              <a:rPr lang="en-US" dirty="0"/>
              <a:t>Analyze long runs </a:t>
            </a:r>
          </a:p>
          <a:p>
            <a:pPr lvl="2">
              <a:spcBef>
                <a:spcPts val="133"/>
              </a:spcBef>
            </a:pPr>
            <a:r>
              <a:rPr lang="en-US" dirty="0"/>
              <a:t>Find times with low performance</a:t>
            </a:r>
          </a:p>
          <a:p>
            <a:pPr lvl="2">
              <a:spcBef>
                <a:spcPts val="133"/>
              </a:spcBef>
            </a:pPr>
            <a:r>
              <a:rPr lang="en-US" dirty="0"/>
              <a:t>Use metrics to plan deeper analysis</a:t>
            </a:r>
          </a:p>
          <a:p>
            <a:pPr lvl="3">
              <a:spcBef>
                <a:spcPts val="133"/>
              </a:spcBef>
            </a:pPr>
            <a:r>
              <a:rPr lang="en-US" dirty="0"/>
              <a:t>Low Floating Point </a:t>
            </a:r>
            <a:r>
              <a:rPr lang="en-US" dirty="0">
                <a:sym typeface="Wingdings" panose="05000000000000000000" pitchFamily="2" charset="2"/>
              </a:rPr>
              <a:t> Optimize vectorization</a:t>
            </a:r>
          </a:p>
          <a:p>
            <a:pPr lvl="3">
              <a:spcBef>
                <a:spcPts val="133"/>
              </a:spcBef>
            </a:pPr>
            <a:r>
              <a:rPr lang="en-US" dirty="0">
                <a:sym typeface="Wingdings" panose="05000000000000000000" pitchFamily="2" charset="2"/>
              </a:rPr>
              <a:t>High memory ops  Analyze memory access</a:t>
            </a:r>
            <a:endParaRPr lang="en-US" dirty="0"/>
          </a:p>
          <a:p>
            <a:pPr lvl="1">
              <a:spcBef>
                <a:spcPts val="800"/>
              </a:spcBef>
            </a:pPr>
            <a:r>
              <a:rPr lang="en-US" dirty="0"/>
              <a:t>Optimize hardware configuration</a:t>
            </a:r>
          </a:p>
          <a:p>
            <a:pPr lvl="2">
              <a:spcBef>
                <a:spcPts val="133"/>
              </a:spcBef>
            </a:pPr>
            <a:r>
              <a:rPr lang="en-US" dirty="0"/>
              <a:t>Run a mix of your target workloads</a:t>
            </a:r>
          </a:p>
          <a:p>
            <a:pPr lvl="3">
              <a:spcBef>
                <a:spcPts val="133"/>
              </a:spcBef>
            </a:pPr>
            <a:r>
              <a:rPr lang="en-US" dirty="0"/>
              <a:t>High processor utilization </a:t>
            </a:r>
            <a:r>
              <a:rPr lang="en-US" dirty="0">
                <a:sym typeface="Wingdings" panose="05000000000000000000" pitchFamily="2" charset="2"/>
              </a:rPr>
              <a:t> more cores</a:t>
            </a:r>
          </a:p>
          <a:p>
            <a:pPr lvl="3">
              <a:spcBef>
                <a:spcPts val="133"/>
              </a:spcBef>
            </a:pPr>
            <a:r>
              <a:rPr lang="en-US" dirty="0"/>
              <a:t>High memory use </a:t>
            </a:r>
            <a:r>
              <a:rPr lang="en-US" dirty="0">
                <a:sym typeface="Wingdings" panose="05000000000000000000" pitchFamily="2" charset="2"/>
              </a:rPr>
              <a:t> more memory</a:t>
            </a:r>
          </a:p>
          <a:p>
            <a:pPr lvl="3">
              <a:spcBef>
                <a:spcPts val="133"/>
              </a:spcBef>
            </a:pPr>
            <a:r>
              <a:rPr lang="en-US" dirty="0">
                <a:sym typeface="Wingdings" panose="05000000000000000000" pitchFamily="2" charset="2"/>
              </a:rPr>
              <a:t>I/O limited  more or faster I/O</a:t>
            </a:r>
            <a:endParaRPr lang="en-US" dirty="0"/>
          </a:p>
        </p:txBody>
      </p:sp>
      <p:sp>
        <p:nvSpPr>
          <p:cNvPr id="5" name="Title 4"/>
          <p:cNvSpPr>
            <a:spLocks noGrp="1"/>
          </p:cNvSpPr>
          <p:nvPr>
            <p:ph type="title"/>
          </p:nvPr>
        </p:nvSpPr>
        <p:spPr/>
        <p:txBody>
          <a:bodyPr/>
          <a:lstStyle/>
          <a:p>
            <a:r>
              <a:rPr lang="en-US" dirty="0"/>
              <a:t>Performance Optimization</a:t>
            </a:r>
            <a:r>
              <a:rPr lang="en-US" sz="2400" dirty="0"/>
              <a:t> - Big picture first, then the details</a:t>
            </a:r>
          </a:p>
        </p:txBody>
      </p:sp>
      <p:sp>
        <p:nvSpPr>
          <p:cNvPr id="6" name="TextBox 5"/>
          <p:cNvSpPr txBox="1"/>
          <p:nvPr/>
        </p:nvSpPr>
        <p:spPr>
          <a:xfrm>
            <a:off x="607483" y="1252002"/>
            <a:ext cx="5496983" cy="636200"/>
          </a:xfrm>
          <a:prstGeom prst="rect">
            <a:avLst/>
          </a:prstGeom>
          <a:solidFill>
            <a:schemeClr val="bg1">
              <a:lumMod val="50000"/>
            </a:schemeClr>
          </a:solidFill>
        </p:spPr>
        <p:txBody>
          <a:bodyPr vert="horz" wrap="square" lIns="121920" tIns="0" rIns="0" bIns="0" rtlCol="0">
            <a:spAutoFit/>
          </a:bodyPr>
          <a:lstStyle/>
          <a:p>
            <a:r>
              <a:rPr lang="en-US" sz="2267" b="1" dirty="0">
                <a:solidFill>
                  <a:schemeClr val="bg1"/>
                </a:solidFill>
              </a:rPr>
              <a:t>Long data collections, light on detail </a:t>
            </a:r>
            <a:br>
              <a:rPr lang="en-US" sz="2267" dirty="0">
                <a:solidFill>
                  <a:schemeClr val="bg1"/>
                </a:solidFill>
              </a:rPr>
            </a:br>
            <a:r>
              <a:rPr lang="en-US" sz="1867" dirty="0">
                <a:solidFill>
                  <a:schemeClr val="bg1"/>
                </a:solidFill>
              </a:rPr>
              <a:t>When &amp; how is hardware underutilized?</a:t>
            </a:r>
          </a:p>
        </p:txBody>
      </p:sp>
      <p:sp>
        <p:nvSpPr>
          <p:cNvPr id="7" name="TextBox 6"/>
          <p:cNvSpPr txBox="1"/>
          <p:nvPr/>
        </p:nvSpPr>
        <p:spPr>
          <a:xfrm>
            <a:off x="6320941" y="1252002"/>
            <a:ext cx="5306969" cy="636200"/>
          </a:xfrm>
          <a:prstGeom prst="rect">
            <a:avLst/>
          </a:prstGeom>
          <a:solidFill>
            <a:schemeClr val="tx2"/>
          </a:solidFill>
        </p:spPr>
        <p:txBody>
          <a:bodyPr vert="horz" wrap="square" lIns="121920" tIns="0" rIns="0" bIns="0" rtlCol="0">
            <a:spAutoFit/>
          </a:bodyPr>
          <a:lstStyle/>
          <a:p>
            <a:r>
              <a:rPr lang="en-US" sz="2267" b="1" dirty="0">
                <a:solidFill>
                  <a:schemeClr val="bg1"/>
                </a:solidFill>
              </a:rPr>
              <a:t>Short data collections, lots of detail</a:t>
            </a:r>
            <a:br>
              <a:rPr lang="en-US" sz="2133" dirty="0">
                <a:solidFill>
                  <a:schemeClr val="bg1"/>
                </a:solidFill>
              </a:rPr>
            </a:br>
            <a:r>
              <a:rPr lang="en-US" sz="1867" dirty="0">
                <a:solidFill>
                  <a:schemeClr val="bg1"/>
                </a:solidFill>
              </a:rPr>
              <a:t>Attribute to source, memory access patterns…</a:t>
            </a:r>
          </a:p>
        </p:txBody>
      </p:sp>
      <p:sp>
        <p:nvSpPr>
          <p:cNvPr id="8" name="Footer Placeholder 7"/>
          <p:cNvSpPr>
            <a:spLocks noGrp="1"/>
          </p:cNvSpPr>
          <p:nvPr>
            <p:ph type="ftr" sz="quarter" idx="3"/>
          </p:nvPr>
        </p:nvSpPr>
        <p:spPr/>
        <p:txBody>
          <a:bodyPr/>
          <a:lstStyle/>
          <a:p>
            <a:r>
              <a:rPr lang="en-US"/>
              <a:t>Intel Confidential</a:t>
            </a:r>
          </a:p>
        </p:txBody>
      </p:sp>
    </p:spTree>
    <p:extLst>
      <p:ext uri="{BB962C8B-B14F-4D97-AF65-F5344CB8AC3E}">
        <p14:creationId xmlns:p14="http://schemas.microsoft.com/office/powerpoint/2010/main" val="38920767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a:prstGeom prst="rect">
            <a:avLst/>
          </a:prstGeom>
        </p:spPr>
        <p:txBody>
          <a:bodyPr/>
          <a:lstStyle/>
          <a:p>
            <a:fld id="{EE2556C5-CE8C-6547-B838-EA80C61A4AF7}" type="slidenum">
              <a:rPr lang="en-US" smtClean="0"/>
              <a:pPr/>
              <a:t>7</a:t>
            </a:fld>
            <a:endParaRPr lang="en-US" dirty="0"/>
          </a:p>
        </p:txBody>
      </p:sp>
      <p:sp>
        <p:nvSpPr>
          <p:cNvPr id="2" name="Content Placeholder 1"/>
          <p:cNvSpPr>
            <a:spLocks noGrp="1"/>
          </p:cNvSpPr>
          <p:nvPr>
            <p:ph sz="half" idx="1"/>
          </p:nvPr>
        </p:nvSpPr>
        <p:spPr>
          <a:xfrm>
            <a:off x="607486" y="1494844"/>
            <a:ext cx="4375333" cy="1305560"/>
          </a:xfrm>
        </p:spPr>
        <p:txBody>
          <a:bodyPr>
            <a:normAutofit fontScale="92500" lnSpcReduction="20000"/>
          </a:bodyPr>
          <a:lstStyle/>
          <a:p>
            <a:r>
              <a:rPr lang="en-US" dirty="0"/>
              <a:t>Target User</a:t>
            </a:r>
          </a:p>
          <a:p>
            <a:pPr lvl="1">
              <a:spcBef>
                <a:spcPts val="600"/>
              </a:spcBef>
            </a:pPr>
            <a:r>
              <a:rPr lang="en-US" dirty="0"/>
              <a:t>Infrastructure Architects</a:t>
            </a:r>
          </a:p>
          <a:p>
            <a:pPr lvl="1">
              <a:spcBef>
                <a:spcPts val="600"/>
              </a:spcBef>
            </a:pPr>
            <a:r>
              <a:rPr lang="en-US" dirty="0"/>
              <a:t>Software Architects &amp; QA</a:t>
            </a:r>
          </a:p>
          <a:p>
            <a:pPr lvl="1">
              <a:spcBef>
                <a:spcPts val="600"/>
              </a:spcBef>
            </a:pPr>
            <a:r>
              <a:rPr lang="en-US" dirty="0"/>
              <a:t>Infrastructure Maintainers</a:t>
            </a:r>
          </a:p>
        </p:txBody>
      </p:sp>
      <p:sp>
        <p:nvSpPr>
          <p:cNvPr id="7" name="Content Placeholder 6"/>
          <p:cNvSpPr>
            <a:spLocks noGrp="1"/>
          </p:cNvSpPr>
          <p:nvPr>
            <p:ph sz="half" idx="13"/>
          </p:nvPr>
        </p:nvSpPr>
        <p:spPr>
          <a:xfrm>
            <a:off x="5237257" y="1494845"/>
            <a:ext cx="6425724" cy="4650441"/>
          </a:xfrm>
        </p:spPr>
        <p:txBody>
          <a:bodyPr>
            <a:noAutofit/>
          </a:bodyPr>
          <a:lstStyle/>
          <a:p>
            <a:pPr>
              <a:spcBef>
                <a:spcPts val="400"/>
              </a:spcBef>
            </a:pPr>
            <a:r>
              <a:rPr lang="en-US" sz="2133" dirty="0"/>
              <a:t>Performance metrics on system topology</a:t>
            </a:r>
          </a:p>
          <a:p>
            <a:pPr lvl="1">
              <a:spcBef>
                <a:spcPts val="267"/>
              </a:spcBef>
            </a:pPr>
            <a:r>
              <a:rPr lang="en-US" sz="2000" dirty="0"/>
              <a:t>Display current configuration</a:t>
            </a:r>
          </a:p>
          <a:p>
            <a:pPr lvl="1">
              <a:spcBef>
                <a:spcPts val="267"/>
              </a:spcBef>
            </a:pPr>
            <a:r>
              <a:rPr lang="en-US" sz="2000" dirty="0"/>
              <a:t>Socket → Core → Internal Caches</a:t>
            </a:r>
          </a:p>
          <a:p>
            <a:pPr lvl="1">
              <a:spcBef>
                <a:spcPts val="267"/>
              </a:spcBef>
            </a:pPr>
            <a:r>
              <a:rPr lang="en-US" sz="2000" dirty="0"/>
              <a:t>Socket → Memory Link → Memory Module</a:t>
            </a:r>
          </a:p>
          <a:p>
            <a:pPr>
              <a:spcBef>
                <a:spcPts val="400"/>
              </a:spcBef>
            </a:pPr>
            <a:r>
              <a:rPr lang="en-US" sz="2133" dirty="0"/>
              <a:t>Identify system configuration issues</a:t>
            </a:r>
          </a:p>
          <a:p>
            <a:pPr lvl="1">
              <a:spcBef>
                <a:spcPts val="267"/>
              </a:spcBef>
            </a:pPr>
            <a:r>
              <a:rPr lang="en-US" sz="2000" dirty="0"/>
              <a:t>Inefficient memory module placements </a:t>
            </a:r>
          </a:p>
          <a:p>
            <a:pPr lvl="1">
              <a:spcBef>
                <a:spcPts val="267"/>
              </a:spcBef>
            </a:pPr>
            <a:r>
              <a:rPr lang="en-US" sz="2000" dirty="0"/>
              <a:t>Need for faster storage</a:t>
            </a:r>
          </a:p>
          <a:p>
            <a:pPr lvl="1">
              <a:spcBef>
                <a:spcPts val="267"/>
              </a:spcBef>
            </a:pPr>
            <a:r>
              <a:rPr lang="en-US" sz="2000" dirty="0"/>
              <a:t>Need for larger/faster memory</a:t>
            </a:r>
          </a:p>
          <a:p>
            <a:pPr>
              <a:spcBef>
                <a:spcPts val="400"/>
              </a:spcBef>
            </a:pPr>
            <a:r>
              <a:rPr lang="en-US" sz="2133" dirty="0"/>
              <a:t>Identify potential software issues</a:t>
            </a:r>
          </a:p>
          <a:p>
            <a:pPr lvl="1">
              <a:spcBef>
                <a:spcPts val="267"/>
              </a:spcBef>
            </a:pPr>
            <a:r>
              <a:rPr lang="en-US" sz="2000" dirty="0"/>
              <a:t>Low CPU utilization</a:t>
            </a:r>
          </a:p>
          <a:p>
            <a:pPr lvl="1">
              <a:spcBef>
                <a:spcPts val="267"/>
              </a:spcBef>
            </a:pPr>
            <a:r>
              <a:rPr lang="en-US" sz="2000" dirty="0"/>
              <a:t>NUMA-related issues (near vs. far memory accesses)</a:t>
            </a:r>
          </a:p>
          <a:p>
            <a:pPr lvl="1">
              <a:spcBef>
                <a:spcPts val="267"/>
              </a:spcBef>
            </a:pPr>
            <a:r>
              <a:rPr lang="en-US" sz="2000" dirty="0"/>
              <a:t>Inefficient usage of memory/storage resources</a:t>
            </a:r>
          </a:p>
          <a:p>
            <a:pPr>
              <a:spcBef>
                <a:spcPts val="400"/>
              </a:spcBef>
            </a:pPr>
            <a:r>
              <a:rPr lang="en-US" sz="2133" dirty="0"/>
              <a:t>Compare different system configurations</a:t>
            </a:r>
          </a:p>
          <a:p>
            <a:endParaRPr lang="en-US" dirty="0"/>
          </a:p>
        </p:txBody>
      </p:sp>
      <p:sp>
        <p:nvSpPr>
          <p:cNvPr id="5" name="Footer Placeholder 4"/>
          <p:cNvSpPr>
            <a:spLocks noGrp="1"/>
          </p:cNvSpPr>
          <p:nvPr>
            <p:ph type="ftr" sz="quarter" idx="3"/>
          </p:nvPr>
        </p:nvSpPr>
        <p:spPr/>
        <p:txBody>
          <a:bodyPr/>
          <a:lstStyle/>
          <a:p>
            <a:r>
              <a:rPr lang="en-US"/>
              <a:t>Intel Confidential</a:t>
            </a:r>
            <a:endParaRPr lang="en-US" dirty="0"/>
          </a:p>
        </p:txBody>
      </p:sp>
      <p:pic>
        <p:nvPicPr>
          <p:cNvPr id="6" name="Picture 5"/>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711396" y="3001909"/>
            <a:ext cx="3657607" cy="2590805"/>
          </a:xfrm>
          <a:prstGeom prst="rect">
            <a:avLst/>
          </a:prstGeom>
        </p:spPr>
      </p:pic>
      <p:sp>
        <p:nvSpPr>
          <p:cNvPr id="13" name="32-Point Star 12"/>
          <p:cNvSpPr/>
          <p:nvPr/>
        </p:nvSpPr>
        <p:spPr>
          <a:xfrm>
            <a:off x="10424161" y="377403"/>
            <a:ext cx="1218689" cy="338787"/>
          </a:xfrm>
          <a:prstGeom prst="star32">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333" dirty="0">
                <a:solidFill>
                  <a:srgbClr val="C00000"/>
                </a:solidFill>
              </a:rPr>
              <a:t>Preview</a:t>
            </a:r>
          </a:p>
        </p:txBody>
      </p:sp>
      <p:sp>
        <p:nvSpPr>
          <p:cNvPr id="9" name="TextBox 8"/>
          <p:cNvSpPr txBox="1"/>
          <p:nvPr/>
        </p:nvSpPr>
        <p:spPr>
          <a:xfrm>
            <a:off x="607483" y="250466"/>
            <a:ext cx="2276967" cy="246221"/>
          </a:xfrm>
          <a:prstGeom prst="rect">
            <a:avLst/>
          </a:prstGeom>
          <a:noFill/>
        </p:spPr>
        <p:txBody>
          <a:bodyPr vert="horz" wrap="square" lIns="0" tIns="0" rIns="0" bIns="0" rtlCol="0">
            <a:spAutoFit/>
          </a:bodyPr>
          <a:lstStyle/>
          <a:p>
            <a:r>
              <a:rPr lang="en-US" sz="1600" dirty="0">
                <a:solidFill>
                  <a:schemeClr val="tx2"/>
                </a:solidFill>
              </a:rPr>
              <a:t>Intel® VTune Amplifier -</a:t>
            </a:r>
          </a:p>
        </p:txBody>
      </p:sp>
      <p:sp>
        <p:nvSpPr>
          <p:cNvPr id="8" name="Title 7"/>
          <p:cNvSpPr>
            <a:spLocks noGrp="1"/>
          </p:cNvSpPr>
          <p:nvPr>
            <p:ph type="title"/>
          </p:nvPr>
        </p:nvSpPr>
        <p:spPr/>
        <p:txBody>
          <a:bodyPr/>
          <a:lstStyle/>
          <a:p>
            <a:r>
              <a:rPr lang="en-US" dirty="0"/>
              <a:t>Platform Profiler</a:t>
            </a:r>
          </a:p>
        </p:txBody>
      </p:sp>
    </p:spTree>
    <p:extLst>
      <p:ext uri="{BB962C8B-B14F-4D97-AF65-F5344CB8AC3E}">
        <p14:creationId xmlns:p14="http://schemas.microsoft.com/office/powerpoint/2010/main" val="38555382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a:prstGeom prst="rect">
            <a:avLst/>
          </a:prstGeom>
        </p:spPr>
        <p:txBody>
          <a:bodyPr/>
          <a:lstStyle/>
          <a:p>
            <a:fld id="{EE2556C5-CE8C-6547-B838-EA80C61A4AF7}" type="slidenum">
              <a:rPr lang="en-US" smtClean="0"/>
              <a:pPr/>
              <a:t>8</a:t>
            </a:fld>
            <a:endParaRPr lang="en-US" dirty="0"/>
          </a:p>
        </p:txBody>
      </p:sp>
      <p:sp>
        <p:nvSpPr>
          <p:cNvPr id="2" name="Content Placeholder 1"/>
          <p:cNvSpPr>
            <a:spLocks noGrp="1"/>
          </p:cNvSpPr>
          <p:nvPr>
            <p:ph sz="half" idx="1"/>
          </p:nvPr>
        </p:nvSpPr>
        <p:spPr>
          <a:xfrm>
            <a:off x="607486" y="1494844"/>
            <a:ext cx="4375333" cy="1305560"/>
          </a:xfrm>
        </p:spPr>
        <p:txBody>
          <a:bodyPr>
            <a:normAutofit fontScale="92500" lnSpcReduction="10000"/>
          </a:bodyPr>
          <a:lstStyle/>
          <a:p>
            <a:r>
              <a:rPr lang="en-US" i="1" dirty="0"/>
              <a:t>Interactive</a:t>
            </a:r>
            <a:r>
              <a:rPr lang="en-US" dirty="0"/>
              <a:t> Topology Diagrams</a:t>
            </a:r>
          </a:p>
          <a:p>
            <a:pPr lvl="1">
              <a:spcBef>
                <a:spcPts val="400"/>
              </a:spcBef>
            </a:pPr>
            <a:r>
              <a:rPr lang="en-US" dirty="0"/>
              <a:t>System configuration</a:t>
            </a:r>
          </a:p>
          <a:p>
            <a:pPr lvl="1">
              <a:spcBef>
                <a:spcPts val="400"/>
              </a:spcBef>
            </a:pPr>
            <a:r>
              <a:rPr lang="en-US" dirty="0"/>
              <a:t>Dynamic annotations to highlight imbalances (future)</a:t>
            </a:r>
            <a:endParaRPr lang="en-US" dirty="0">
              <a:solidFill>
                <a:schemeClr val="bg1">
                  <a:lumMod val="65000"/>
                </a:schemeClr>
              </a:solidFill>
            </a:endParaRPr>
          </a:p>
        </p:txBody>
      </p:sp>
      <p:sp>
        <p:nvSpPr>
          <p:cNvPr id="7" name="Content Placeholder 6"/>
          <p:cNvSpPr>
            <a:spLocks noGrp="1"/>
          </p:cNvSpPr>
          <p:nvPr>
            <p:ph sz="half" idx="13"/>
          </p:nvPr>
        </p:nvSpPr>
        <p:spPr>
          <a:xfrm>
            <a:off x="5237257" y="1494844"/>
            <a:ext cx="6425724" cy="2064451"/>
          </a:xfrm>
        </p:spPr>
        <p:txBody>
          <a:bodyPr>
            <a:noAutofit/>
          </a:bodyPr>
          <a:lstStyle/>
          <a:p>
            <a:pPr>
              <a:lnSpc>
                <a:spcPct val="90000"/>
              </a:lnSpc>
              <a:spcBef>
                <a:spcPts val="800"/>
              </a:spcBef>
            </a:pPr>
            <a:r>
              <a:rPr lang="en-US" sz="2267" i="1" dirty="0"/>
              <a:t>Interactive</a:t>
            </a:r>
            <a:r>
              <a:rPr lang="en-US" sz="2267" dirty="0"/>
              <a:t> Performance metrics</a:t>
            </a:r>
          </a:p>
          <a:p>
            <a:pPr lvl="1">
              <a:lnSpc>
                <a:spcPct val="90000"/>
              </a:lnSpc>
              <a:spcBef>
                <a:spcPts val="400"/>
              </a:spcBef>
            </a:pPr>
            <a:r>
              <a:rPr lang="en-US" sz="2000" dirty="0"/>
              <a:t>Low overhead (targeting &lt; 1%) – coarse grain</a:t>
            </a:r>
          </a:p>
          <a:p>
            <a:pPr lvl="1">
              <a:lnSpc>
                <a:spcPct val="90000"/>
              </a:lnSpc>
              <a:spcBef>
                <a:spcPts val="400"/>
              </a:spcBef>
            </a:pPr>
            <a:r>
              <a:rPr lang="en-US" sz="1867" dirty="0"/>
              <a:t>Sampling OS and HW performance counters</a:t>
            </a:r>
          </a:p>
          <a:p>
            <a:pPr lvl="1">
              <a:lnSpc>
                <a:spcPct val="90000"/>
              </a:lnSpc>
              <a:spcBef>
                <a:spcPts val="400"/>
              </a:spcBef>
            </a:pPr>
            <a:r>
              <a:rPr lang="en-US" sz="1867" dirty="0"/>
              <a:t>Extended capture (min. to hours)</a:t>
            </a:r>
          </a:p>
          <a:p>
            <a:pPr lvl="1">
              <a:lnSpc>
                <a:spcPct val="90000"/>
              </a:lnSpc>
              <a:spcBef>
                <a:spcPts val="400"/>
              </a:spcBef>
            </a:pPr>
            <a:r>
              <a:rPr lang="en-US" sz="1867" dirty="0"/>
              <a:t>RESTful API for easy analysis by scripts</a:t>
            </a:r>
          </a:p>
          <a:p>
            <a:pPr lvl="1">
              <a:lnSpc>
                <a:spcPct val="90000"/>
              </a:lnSpc>
              <a:spcBef>
                <a:spcPts val="400"/>
              </a:spcBef>
            </a:pPr>
            <a:r>
              <a:rPr lang="en-US" sz="1867" dirty="0"/>
              <a:t>Single system (today), cloud (future)</a:t>
            </a:r>
          </a:p>
        </p:txBody>
      </p:sp>
      <p:sp>
        <p:nvSpPr>
          <p:cNvPr id="4" name="Title 3"/>
          <p:cNvSpPr>
            <a:spLocks noGrp="1"/>
          </p:cNvSpPr>
          <p:nvPr>
            <p:ph type="title"/>
          </p:nvPr>
        </p:nvSpPr>
        <p:spPr>
          <a:xfrm>
            <a:off x="655109" y="411797"/>
            <a:ext cx="10972800" cy="1158240"/>
          </a:xfrm>
        </p:spPr>
        <p:txBody>
          <a:bodyPr/>
          <a:lstStyle/>
          <a:p>
            <a:r>
              <a:rPr lang="en-US" dirty="0"/>
              <a:t>Platform Profiler</a:t>
            </a:r>
            <a:br>
              <a:rPr lang="en-US" sz="2000" dirty="0">
                <a:solidFill>
                  <a:schemeClr val="bg2"/>
                </a:solidFill>
              </a:rPr>
            </a:br>
            <a:r>
              <a:rPr lang="en-US" sz="2400" dirty="0"/>
              <a:t>Identify system configuration issues</a:t>
            </a:r>
          </a:p>
        </p:txBody>
      </p:sp>
      <p:sp>
        <p:nvSpPr>
          <p:cNvPr id="5" name="Footer Placeholder 4"/>
          <p:cNvSpPr>
            <a:spLocks noGrp="1"/>
          </p:cNvSpPr>
          <p:nvPr>
            <p:ph type="ftr" sz="quarter" idx="3"/>
          </p:nvPr>
        </p:nvSpPr>
        <p:spPr/>
        <p:txBody>
          <a:bodyPr/>
          <a:lstStyle/>
          <a:p>
            <a:r>
              <a:rPr lang="en-US"/>
              <a:t>Intel Confidential</a:t>
            </a:r>
            <a:endParaRPr lang="en-US" dirty="0"/>
          </a:p>
        </p:txBody>
      </p:sp>
      <p:grpSp>
        <p:nvGrpSpPr>
          <p:cNvPr id="24" name="Group 23"/>
          <p:cNvGrpSpPr/>
          <p:nvPr/>
        </p:nvGrpSpPr>
        <p:grpSpPr>
          <a:xfrm>
            <a:off x="5237255" y="3673698"/>
            <a:ext cx="6606124" cy="2590465"/>
            <a:chOff x="3927941" y="2650173"/>
            <a:chExt cx="4954593" cy="1942849"/>
          </a:xfrm>
        </p:grpSpPr>
        <p:pic>
          <p:nvPicPr>
            <p:cNvPr id="18" name="Picture 17"/>
            <p:cNvPicPr>
              <a:picLocks noChangeAspect="1"/>
            </p:cNvPicPr>
            <p:nvPr/>
          </p:nvPicPr>
          <p:blipFill>
            <a:blip r:embed="rId3"/>
            <a:stretch>
              <a:fillRect/>
            </a:stretch>
          </p:blipFill>
          <p:spPr>
            <a:xfrm>
              <a:off x="3927942" y="2874021"/>
              <a:ext cx="2560320" cy="655863"/>
            </a:xfrm>
            <a:prstGeom prst="rect">
              <a:avLst/>
            </a:prstGeom>
            <a:ln>
              <a:noFill/>
            </a:ln>
            <a:effectLst/>
          </p:spPr>
        </p:pic>
        <p:pic>
          <p:nvPicPr>
            <p:cNvPr id="19" name="Picture 18"/>
            <p:cNvPicPr>
              <a:picLocks noChangeAspect="1"/>
            </p:cNvPicPr>
            <p:nvPr/>
          </p:nvPicPr>
          <p:blipFill>
            <a:blip r:embed="rId4"/>
            <a:stretch>
              <a:fillRect/>
            </a:stretch>
          </p:blipFill>
          <p:spPr>
            <a:xfrm>
              <a:off x="3927941" y="3587820"/>
              <a:ext cx="2560320" cy="652630"/>
            </a:xfrm>
            <a:prstGeom prst="rect">
              <a:avLst/>
            </a:prstGeom>
            <a:ln>
              <a:noFill/>
            </a:ln>
            <a:effectLst/>
          </p:spPr>
        </p:pic>
        <p:sp>
          <p:nvSpPr>
            <p:cNvPr id="20" name="TextBox 19"/>
            <p:cNvSpPr txBox="1"/>
            <p:nvPr/>
          </p:nvSpPr>
          <p:spPr>
            <a:xfrm>
              <a:off x="3927941" y="2650173"/>
              <a:ext cx="1795224" cy="180450"/>
            </a:xfrm>
            <a:prstGeom prst="rect">
              <a:avLst/>
            </a:prstGeom>
            <a:noFill/>
          </p:spPr>
          <p:txBody>
            <a:bodyPr vert="horz" wrap="none" lIns="0" tIns="0" rIns="0" bIns="0" rtlCol="0" anchor="ctr">
              <a:noAutofit/>
            </a:bodyPr>
            <a:lstStyle/>
            <a:p>
              <a:pPr algn="ctr"/>
              <a:r>
                <a:rPr lang="en-US" sz="1467" dirty="0">
                  <a:solidFill>
                    <a:srgbClr val="003C71"/>
                  </a:solidFill>
                </a:rPr>
                <a:t>Timelines and Histograms</a:t>
              </a:r>
            </a:p>
          </p:txBody>
        </p:sp>
        <p:pic>
          <p:nvPicPr>
            <p:cNvPr id="21" name="Picture 20"/>
            <p:cNvPicPr>
              <a:picLocks noChangeAspect="1"/>
            </p:cNvPicPr>
            <p:nvPr/>
          </p:nvPicPr>
          <p:blipFill>
            <a:blip r:embed="rId5"/>
            <a:stretch>
              <a:fillRect/>
            </a:stretch>
          </p:blipFill>
          <p:spPr>
            <a:xfrm>
              <a:off x="6322214" y="2888917"/>
              <a:ext cx="2560320" cy="878433"/>
            </a:xfrm>
            <a:prstGeom prst="rect">
              <a:avLst/>
            </a:prstGeom>
            <a:ln>
              <a:noFill/>
            </a:ln>
            <a:effectLst/>
          </p:spPr>
        </p:pic>
        <p:pic>
          <p:nvPicPr>
            <p:cNvPr id="22" name="Picture 21"/>
            <p:cNvPicPr>
              <a:picLocks noChangeAspect="1"/>
            </p:cNvPicPr>
            <p:nvPr/>
          </p:nvPicPr>
          <p:blipFill rotWithShape="1">
            <a:blip r:embed="rId6"/>
            <a:srcRect b="3600"/>
            <a:stretch/>
          </p:blipFill>
          <p:spPr>
            <a:xfrm>
              <a:off x="6322214" y="3761105"/>
              <a:ext cx="2560320" cy="831917"/>
            </a:xfrm>
            <a:prstGeom prst="rect">
              <a:avLst/>
            </a:prstGeom>
            <a:ln>
              <a:noFill/>
            </a:ln>
            <a:effectLst/>
          </p:spPr>
        </p:pic>
        <p:sp>
          <p:nvSpPr>
            <p:cNvPr id="23" name="TextBox 22"/>
            <p:cNvSpPr txBox="1"/>
            <p:nvPr/>
          </p:nvSpPr>
          <p:spPr>
            <a:xfrm>
              <a:off x="5891290" y="2669471"/>
              <a:ext cx="2560320" cy="158020"/>
            </a:xfrm>
            <a:prstGeom prst="rect">
              <a:avLst/>
            </a:prstGeom>
            <a:noFill/>
          </p:spPr>
          <p:txBody>
            <a:bodyPr vert="horz" wrap="none" lIns="0" tIns="0" rIns="0" bIns="0" rtlCol="0" anchor="ctr">
              <a:noAutofit/>
            </a:bodyPr>
            <a:lstStyle/>
            <a:p>
              <a:pPr algn="ctr"/>
              <a:r>
                <a:rPr lang="en-US" sz="1467" dirty="0">
                  <a:solidFill>
                    <a:srgbClr val="003C71"/>
                  </a:solidFill>
                </a:rPr>
                <a:t>Core to Core Comparisons</a:t>
              </a:r>
            </a:p>
          </p:txBody>
        </p:sp>
      </p:grpSp>
      <p:sp>
        <p:nvSpPr>
          <p:cNvPr id="25" name="TextBox 24"/>
          <p:cNvSpPr txBox="1"/>
          <p:nvPr/>
        </p:nvSpPr>
        <p:spPr>
          <a:xfrm>
            <a:off x="655108" y="250466"/>
            <a:ext cx="2276967" cy="246221"/>
          </a:xfrm>
          <a:prstGeom prst="rect">
            <a:avLst/>
          </a:prstGeom>
          <a:noFill/>
        </p:spPr>
        <p:txBody>
          <a:bodyPr vert="horz" wrap="square" lIns="0" tIns="0" rIns="0" bIns="0" rtlCol="0">
            <a:spAutoFit/>
          </a:bodyPr>
          <a:lstStyle/>
          <a:p>
            <a:r>
              <a:rPr lang="en-US" sz="1600" dirty="0">
                <a:solidFill>
                  <a:schemeClr val="tx2"/>
                </a:solidFill>
              </a:rPr>
              <a:t>Intel® VTune Amplifier -</a:t>
            </a:r>
          </a:p>
        </p:txBody>
      </p:sp>
      <p:sp>
        <p:nvSpPr>
          <p:cNvPr id="27" name="TextBox 26"/>
          <p:cNvSpPr txBox="1"/>
          <p:nvPr/>
        </p:nvSpPr>
        <p:spPr>
          <a:xfrm>
            <a:off x="1539409" y="3184205"/>
            <a:ext cx="2393632" cy="240600"/>
          </a:xfrm>
          <a:prstGeom prst="rect">
            <a:avLst/>
          </a:prstGeom>
          <a:noFill/>
        </p:spPr>
        <p:txBody>
          <a:bodyPr vert="horz" wrap="none" lIns="0" tIns="0" rIns="0" bIns="0" rtlCol="0" anchor="ctr">
            <a:noAutofit/>
          </a:bodyPr>
          <a:lstStyle/>
          <a:p>
            <a:pPr algn="ctr"/>
            <a:r>
              <a:rPr lang="en-US" sz="1467" dirty="0">
                <a:solidFill>
                  <a:srgbClr val="003C71"/>
                </a:solidFill>
              </a:rPr>
              <a:t>Machine View</a:t>
            </a:r>
          </a:p>
        </p:txBody>
      </p:sp>
      <p:pic>
        <p:nvPicPr>
          <p:cNvPr id="6" name="Picture 5"/>
          <p:cNvPicPr>
            <a:picLocks noChangeAspect="1"/>
          </p:cNvPicPr>
          <p:nvPr/>
        </p:nvPicPr>
        <p:blipFill>
          <a:blip r:embed="rId7"/>
          <a:stretch>
            <a:fillRect/>
          </a:stretch>
        </p:blipFill>
        <p:spPr>
          <a:xfrm>
            <a:off x="687619" y="3438853"/>
            <a:ext cx="4097212" cy="2423528"/>
          </a:xfrm>
          <a:prstGeom prst="rect">
            <a:avLst/>
          </a:prstGeom>
        </p:spPr>
      </p:pic>
    </p:spTree>
    <p:extLst>
      <p:ext uri="{BB962C8B-B14F-4D97-AF65-F5344CB8AC3E}">
        <p14:creationId xmlns:p14="http://schemas.microsoft.com/office/powerpoint/2010/main" val="11691153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07B074DC-53A4-4939-84C7-45108117554F}" type="slidenum">
              <a:rPr lang="en-US" smtClean="0"/>
              <a:t>9</a:t>
            </a:fld>
            <a:endParaRPr lang="en-US"/>
          </a:p>
        </p:txBody>
      </p:sp>
      <p:sp>
        <p:nvSpPr>
          <p:cNvPr id="5" name="Footer Placeholder 4"/>
          <p:cNvSpPr>
            <a:spLocks noGrp="1"/>
          </p:cNvSpPr>
          <p:nvPr>
            <p:ph type="ftr" sz="quarter" idx="3"/>
          </p:nvPr>
        </p:nvSpPr>
        <p:spPr/>
        <p:txBody>
          <a:bodyPr/>
          <a:lstStyle/>
          <a:p>
            <a:r>
              <a:rPr lang="en-US"/>
              <a:t>Intel Confidential</a:t>
            </a:r>
          </a:p>
        </p:txBody>
      </p:sp>
      <p:grpSp>
        <p:nvGrpSpPr>
          <p:cNvPr id="7" name="Group 6"/>
          <p:cNvGrpSpPr/>
          <p:nvPr/>
        </p:nvGrpSpPr>
        <p:grpSpPr>
          <a:xfrm>
            <a:off x="655108" y="250466"/>
            <a:ext cx="10972801" cy="1093653"/>
            <a:chOff x="655108" y="250466"/>
            <a:chExt cx="10972801" cy="1093653"/>
          </a:xfrm>
        </p:grpSpPr>
        <p:sp>
          <p:nvSpPr>
            <p:cNvPr id="8" name="Title 3"/>
            <p:cNvSpPr txBox="1">
              <a:spLocks/>
            </p:cNvSpPr>
            <p:nvPr/>
          </p:nvSpPr>
          <p:spPr>
            <a:xfrm>
              <a:off x="655109" y="411797"/>
              <a:ext cx="10972800" cy="932322"/>
            </a:xfrm>
            <a:prstGeom prst="rect">
              <a:avLst/>
            </a:prstGeom>
          </p:spPr>
          <p:txBody>
            <a:bodyPr vert="horz" lIns="0" tIns="0" rIns="0" bIns="0" rtlCol="0" anchor="t" anchorCtr="0">
              <a:noAutofit/>
            </a:bodyPr>
            <a:lstStyle>
              <a:lvl1pPr algn="l" defTabSz="609585" rtl="0" eaLnBrk="1" latinLnBrk="0" hangingPunct="1">
                <a:lnSpc>
                  <a:spcPct val="100000"/>
                </a:lnSpc>
                <a:spcBef>
                  <a:spcPct val="0"/>
                </a:spcBef>
                <a:buNone/>
                <a:defRPr sz="3733" b="0" i="0" kern="1200" spc="0" baseline="0">
                  <a:solidFill>
                    <a:schemeClr val="tx2"/>
                  </a:solidFill>
                  <a:latin typeface="Intel Clear"/>
                  <a:ea typeface="Intel Clear"/>
                  <a:cs typeface="Intel Clear"/>
                </a:defRPr>
              </a:lvl1pPr>
            </a:lstStyle>
            <a:p>
              <a:r>
                <a:rPr lang="en-US" dirty="0"/>
                <a:t>Platform Profiler</a:t>
              </a:r>
              <a:br>
                <a:rPr lang="en-US" sz="2000" dirty="0">
                  <a:solidFill>
                    <a:schemeClr val="bg2"/>
                  </a:solidFill>
                </a:rPr>
              </a:br>
              <a:r>
                <a:rPr lang="en-US" sz="2400" dirty="0"/>
                <a:t>Identify system usage imbalances</a:t>
              </a:r>
            </a:p>
          </p:txBody>
        </p:sp>
        <p:sp>
          <p:nvSpPr>
            <p:cNvPr id="9" name="TextBox 8"/>
            <p:cNvSpPr txBox="1"/>
            <p:nvPr/>
          </p:nvSpPr>
          <p:spPr>
            <a:xfrm>
              <a:off x="655108" y="250466"/>
              <a:ext cx="2276967" cy="246221"/>
            </a:xfrm>
            <a:prstGeom prst="rect">
              <a:avLst/>
            </a:prstGeom>
            <a:noFill/>
          </p:spPr>
          <p:txBody>
            <a:bodyPr vert="horz" wrap="square" lIns="0" tIns="0" rIns="0" bIns="0" rtlCol="0">
              <a:spAutoFit/>
            </a:bodyPr>
            <a:lstStyle/>
            <a:p>
              <a:r>
                <a:rPr lang="en-US" sz="1600" dirty="0">
                  <a:solidFill>
                    <a:schemeClr val="tx2"/>
                  </a:solidFill>
                </a:rPr>
                <a:t>Intel® VTune Amplifier -</a:t>
              </a:r>
            </a:p>
          </p:txBody>
        </p:sp>
      </p:grpSp>
      <p:grpSp>
        <p:nvGrpSpPr>
          <p:cNvPr id="12" name="Group 11"/>
          <p:cNvGrpSpPr/>
          <p:nvPr/>
        </p:nvGrpSpPr>
        <p:grpSpPr>
          <a:xfrm>
            <a:off x="538985" y="1692360"/>
            <a:ext cx="5091795" cy="3705305"/>
            <a:chOff x="538985" y="1577028"/>
            <a:chExt cx="5091795" cy="3705305"/>
          </a:xfrm>
        </p:grpSpPr>
        <p:pic>
          <p:nvPicPr>
            <p:cNvPr id="10" name="Picture 9" descr="Screen Clipp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8985" y="1872087"/>
              <a:ext cx="5091795" cy="3410246"/>
            </a:xfrm>
            <a:prstGeom prst="rect">
              <a:avLst/>
            </a:prstGeom>
          </p:spPr>
        </p:pic>
        <p:sp>
          <p:nvSpPr>
            <p:cNvPr id="11" name="TextBox 10"/>
            <p:cNvSpPr txBox="1"/>
            <p:nvPr/>
          </p:nvSpPr>
          <p:spPr>
            <a:xfrm>
              <a:off x="1515979" y="1577028"/>
              <a:ext cx="3216442" cy="240600"/>
            </a:xfrm>
            <a:prstGeom prst="rect">
              <a:avLst/>
            </a:prstGeom>
            <a:noFill/>
          </p:spPr>
          <p:txBody>
            <a:bodyPr vert="horz" wrap="none" lIns="0" tIns="0" rIns="0" bIns="0" rtlCol="0" anchor="ctr">
              <a:noAutofit/>
            </a:bodyPr>
            <a:lstStyle/>
            <a:p>
              <a:pPr algn="ctr"/>
              <a:r>
                <a:rPr lang="en-US" sz="1467" dirty="0">
                  <a:solidFill>
                    <a:srgbClr val="003C71"/>
                  </a:solidFill>
                </a:rPr>
                <a:t>CPU Utilization, Turbo, Cycle Efficiency </a:t>
              </a:r>
            </a:p>
          </p:txBody>
        </p:sp>
      </p:grpSp>
      <p:grpSp>
        <p:nvGrpSpPr>
          <p:cNvPr id="15" name="Group 14"/>
          <p:cNvGrpSpPr/>
          <p:nvPr/>
        </p:nvGrpSpPr>
        <p:grpSpPr>
          <a:xfrm>
            <a:off x="5951622" y="1692360"/>
            <a:ext cx="5350042" cy="3843182"/>
            <a:chOff x="5951622" y="1577028"/>
            <a:chExt cx="5350042" cy="3843182"/>
          </a:xfrm>
        </p:grpSpPr>
        <p:sp>
          <p:nvSpPr>
            <p:cNvPr id="13" name="TextBox 12"/>
            <p:cNvSpPr txBox="1"/>
            <p:nvPr/>
          </p:nvSpPr>
          <p:spPr>
            <a:xfrm>
              <a:off x="7315200" y="1577028"/>
              <a:ext cx="3216442" cy="240600"/>
            </a:xfrm>
            <a:prstGeom prst="rect">
              <a:avLst/>
            </a:prstGeom>
            <a:noFill/>
          </p:spPr>
          <p:txBody>
            <a:bodyPr vert="horz" wrap="none" lIns="0" tIns="0" rIns="0" bIns="0" rtlCol="0" anchor="ctr">
              <a:noAutofit/>
            </a:bodyPr>
            <a:lstStyle/>
            <a:p>
              <a:pPr algn="ctr"/>
              <a:r>
                <a:rPr lang="en-US" sz="1467" dirty="0">
                  <a:solidFill>
                    <a:srgbClr val="003C71"/>
                  </a:solidFill>
                </a:rPr>
                <a:t>Interconnect and Bus Throughput</a:t>
              </a:r>
            </a:p>
          </p:txBody>
        </p:sp>
        <p:pic>
          <p:nvPicPr>
            <p:cNvPr id="14" name="Picture 13"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51622" y="1817628"/>
              <a:ext cx="5350042" cy="3602582"/>
            </a:xfrm>
            <a:prstGeom prst="rect">
              <a:avLst/>
            </a:prstGeom>
          </p:spPr>
        </p:pic>
      </p:grpSp>
    </p:spTree>
    <p:extLst>
      <p:ext uri="{BB962C8B-B14F-4D97-AF65-F5344CB8AC3E}">
        <p14:creationId xmlns:p14="http://schemas.microsoft.com/office/powerpoint/2010/main" val="26464344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07B074DC-53A4-4939-84C7-45108117554F}" type="slidenum">
              <a:rPr lang="en-US" smtClean="0"/>
              <a:t>10</a:t>
            </a:fld>
            <a:endParaRPr lang="en-US"/>
          </a:p>
        </p:txBody>
      </p:sp>
      <p:sp>
        <p:nvSpPr>
          <p:cNvPr id="5" name="Footer Placeholder 4"/>
          <p:cNvSpPr>
            <a:spLocks noGrp="1"/>
          </p:cNvSpPr>
          <p:nvPr>
            <p:ph type="ftr" sz="quarter" idx="3"/>
          </p:nvPr>
        </p:nvSpPr>
        <p:spPr/>
        <p:txBody>
          <a:bodyPr/>
          <a:lstStyle/>
          <a:p>
            <a:r>
              <a:rPr lang="en-US"/>
              <a:t>Intel Confidential</a:t>
            </a:r>
          </a:p>
        </p:txBody>
      </p:sp>
      <p:grpSp>
        <p:nvGrpSpPr>
          <p:cNvPr id="7" name="Group 6"/>
          <p:cNvGrpSpPr/>
          <p:nvPr/>
        </p:nvGrpSpPr>
        <p:grpSpPr>
          <a:xfrm>
            <a:off x="655108" y="250466"/>
            <a:ext cx="10972801" cy="1093653"/>
            <a:chOff x="655108" y="250466"/>
            <a:chExt cx="10972801" cy="1093653"/>
          </a:xfrm>
        </p:grpSpPr>
        <p:sp>
          <p:nvSpPr>
            <p:cNvPr id="8" name="Title 3"/>
            <p:cNvSpPr txBox="1">
              <a:spLocks/>
            </p:cNvSpPr>
            <p:nvPr/>
          </p:nvSpPr>
          <p:spPr>
            <a:xfrm>
              <a:off x="655109" y="411797"/>
              <a:ext cx="10972800" cy="932322"/>
            </a:xfrm>
            <a:prstGeom prst="rect">
              <a:avLst/>
            </a:prstGeom>
          </p:spPr>
          <p:txBody>
            <a:bodyPr vert="horz" lIns="0" tIns="0" rIns="0" bIns="0" rtlCol="0" anchor="t" anchorCtr="0">
              <a:noAutofit/>
            </a:bodyPr>
            <a:lstStyle>
              <a:lvl1pPr algn="l" defTabSz="609585" rtl="0" eaLnBrk="1" latinLnBrk="0" hangingPunct="1">
                <a:lnSpc>
                  <a:spcPct val="100000"/>
                </a:lnSpc>
                <a:spcBef>
                  <a:spcPct val="0"/>
                </a:spcBef>
                <a:buNone/>
                <a:defRPr sz="3733" b="0" i="0" kern="1200" spc="0" baseline="0">
                  <a:solidFill>
                    <a:schemeClr val="tx2"/>
                  </a:solidFill>
                  <a:latin typeface="Intel Clear"/>
                  <a:ea typeface="Intel Clear"/>
                  <a:cs typeface="Intel Clear"/>
                </a:defRPr>
              </a:lvl1pPr>
            </a:lstStyle>
            <a:p>
              <a:r>
                <a:rPr lang="en-US" dirty="0"/>
                <a:t>Platform Profiler</a:t>
              </a:r>
              <a:br>
                <a:rPr lang="en-US" sz="2000" dirty="0">
                  <a:solidFill>
                    <a:schemeClr val="bg2"/>
                  </a:solidFill>
                </a:rPr>
              </a:br>
              <a:r>
                <a:rPr lang="en-US" sz="2400" dirty="0"/>
                <a:t>Identify Core-to-Core level usage imbalances</a:t>
              </a:r>
            </a:p>
          </p:txBody>
        </p:sp>
        <p:sp>
          <p:nvSpPr>
            <p:cNvPr id="9" name="TextBox 8"/>
            <p:cNvSpPr txBox="1"/>
            <p:nvPr/>
          </p:nvSpPr>
          <p:spPr>
            <a:xfrm>
              <a:off x="655108" y="250466"/>
              <a:ext cx="2276967" cy="246221"/>
            </a:xfrm>
            <a:prstGeom prst="rect">
              <a:avLst/>
            </a:prstGeom>
            <a:noFill/>
          </p:spPr>
          <p:txBody>
            <a:bodyPr vert="horz" wrap="square" lIns="0" tIns="0" rIns="0" bIns="0" rtlCol="0">
              <a:spAutoFit/>
            </a:bodyPr>
            <a:lstStyle/>
            <a:p>
              <a:r>
                <a:rPr lang="en-US" sz="1600" dirty="0">
                  <a:solidFill>
                    <a:schemeClr val="tx2"/>
                  </a:solidFill>
                </a:rPr>
                <a:t>Intel® VTune Amplifier -</a:t>
              </a:r>
            </a:p>
          </p:txBody>
        </p:sp>
      </p:grpSp>
      <p:grpSp>
        <p:nvGrpSpPr>
          <p:cNvPr id="10" name="Group 9"/>
          <p:cNvGrpSpPr/>
          <p:nvPr/>
        </p:nvGrpSpPr>
        <p:grpSpPr>
          <a:xfrm>
            <a:off x="309427" y="1980688"/>
            <a:ext cx="4695710" cy="2074534"/>
            <a:chOff x="309427" y="1577028"/>
            <a:chExt cx="4695710" cy="2074534"/>
          </a:xfrm>
        </p:grpSpPr>
        <p:sp>
          <p:nvSpPr>
            <p:cNvPr id="11" name="TextBox 10"/>
            <p:cNvSpPr txBox="1"/>
            <p:nvPr/>
          </p:nvSpPr>
          <p:spPr>
            <a:xfrm>
              <a:off x="1049061" y="1577028"/>
              <a:ext cx="3216442" cy="240600"/>
            </a:xfrm>
            <a:prstGeom prst="rect">
              <a:avLst/>
            </a:prstGeom>
            <a:noFill/>
          </p:spPr>
          <p:txBody>
            <a:bodyPr vert="horz" wrap="none" lIns="0" tIns="0" rIns="0" bIns="0" rtlCol="0" anchor="ctr">
              <a:noAutofit/>
            </a:bodyPr>
            <a:lstStyle/>
            <a:p>
              <a:pPr algn="ctr"/>
              <a:r>
                <a:rPr lang="en-US" sz="1467" dirty="0">
                  <a:solidFill>
                    <a:srgbClr val="003C71"/>
                  </a:solidFill>
                </a:rPr>
                <a:t>Efficiency comparisons</a:t>
              </a:r>
            </a:p>
          </p:txBody>
        </p:sp>
        <p:pic>
          <p:nvPicPr>
            <p:cNvPr id="3" name="Picture 2"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9427" y="1821855"/>
              <a:ext cx="4695710" cy="1829707"/>
            </a:xfrm>
            <a:prstGeom prst="rect">
              <a:avLst/>
            </a:prstGeom>
          </p:spPr>
        </p:pic>
      </p:grpSp>
      <p:grpSp>
        <p:nvGrpSpPr>
          <p:cNvPr id="6" name="Group 5"/>
          <p:cNvGrpSpPr/>
          <p:nvPr/>
        </p:nvGrpSpPr>
        <p:grpSpPr>
          <a:xfrm>
            <a:off x="6096000" y="1980688"/>
            <a:ext cx="5291073" cy="2074534"/>
            <a:chOff x="6096000" y="1577028"/>
            <a:chExt cx="5291073" cy="2074534"/>
          </a:xfrm>
        </p:grpSpPr>
        <p:sp>
          <p:nvSpPr>
            <p:cNvPr id="13" name="TextBox 12"/>
            <p:cNvSpPr txBox="1"/>
            <p:nvPr/>
          </p:nvSpPr>
          <p:spPr>
            <a:xfrm>
              <a:off x="7194884" y="1577028"/>
              <a:ext cx="3216442" cy="240600"/>
            </a:xfrm>
            <a:prstGeom prst="rect">
              <a:avLst/>
            </a:prstGeom>
            <a:noFill/>
          </p:spPr>
          <p:txBody>
            <a:bodyPr vert="horz" wrap="none" lIns="0" tIns="0" rIns="0" bIns="0" rtlCol="0" anchor="ctr">
              <a:noAutofit/>
            </a:bodyPr>
            <a:lstStyle/>
            <a:p>
              <a:pPr algn="ctr"/>
              <a:r>
                <a:rPr lang="en-US" sz="1467" dirty="0">
                  <a:solidFill>
                    <a:srgbClr val="003C71"/>
                  </a:solidFill>
                </a:rPr>
                <a:t>Workload differences</a:t>
              </a:r>
            </a:p>
          </p:txBody>
        </p:sp>
        <p:pic>
          <p:nvPicPr>
            <p:cNvPr id="4" name="Picture 3" descr="Screen Clippi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0" y="1817628"/>
              <a:ext cx="5291073" cy="1833934"/>
            </a:xfrm>
            <a:prstGeom prst="rect">
              <a:avLst/>
            </a:prstGeom>
          </p:spPr>
        </p:pic>
      </p:grpSp>
    </p:spTree>
    <p:extLst>
      <p:ext uri="{BB962C8B-B14F-4D97-AF65-F5344CB8AC3E}">
        <p14:creationId xmlns:p14="http://schemas.microsoft.com/office/powerpoint/2010/main" val="37876993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07B074DC-53A4-4939-84C7-45108117554F}" type="slidenum">
              <a:rPr lang="en-US" smtClean="0"/>
              <a:t>11</a:t>
            </a:fld>
            <a:endParaRPr lang="en-US"/>
          </a:p>
        </p:txBody>
      </p:sp>
      <p:sp>
        <p:nvSpPr>
          <p:cNvPr id="5" name="Footer Placeholder 4"/>
          <p:cNvSpPr>
            <a:spLocks noGrp="1"/>
          </p:cNvSpPr>
          <p:nvPr>
            <p:ph type="ftr" sz="quarter" idx="3"/>
          </p:nvPr>
        </p:nvSpPr>
        <p:spPr/>
        <p:txBody>
          <a:bodyPr/>
          <a:lstStyle/>
          <a:p>
            <a:r>
              <a:rPr lang="en-US"/>
              <a:t>Intel Confidential</a:t>
            </a:r>
          </a:p>
        </p:txBody>
      </p:sp>
      <p:grpSp>
        <p:nvGrpSpPr>
          <p:cNvPr id="7" name="Group 6"/>
          <p:cNvGrpSpPr/>
          <p:nvPr/>
        </p:nvGrpSpPr>
        <p:grpSpPr>
          <a:xfrm>
            <a:off x="655108" y="250466"/>
            <a:ext cx="10972801" cy="1093653"/>
            <a:chOff x="655108" y="250466"/>
            <a:chExt cx="10972801" cy="1093653"/>
          </a:xfrm>
        </p:grpSpPr>
        <p:sp>
          <p:nvSpPr>
            <p:cNvPr id="8" name="Title 3"/>
            <p:cNvSpPr txBox="1">
              <a:spLocks/>
            </p:cNvSpPr>
            <p:nvPr/>
          </p:nvSpPr>
          <p:spPr>
            <a:xfrm>
              <a:off x="655109" y="411797"/>
              <a:ext cx="10972800" cy="932322"/>
            </a:xfrm>
            <a:prstGeom prst="rect">
              <a:avLst/>
            </a:prstGeom>
          </p:spPr>
          <p:txBody>
            <a:bodyPr vert="horz" lIns="0" tIns="0" rIns="0" bIns="0" rtlCol="0" anchor="t" anchorCtr="0">
              <a:noAutofit/>
            </a:bodyPr>
            <a:lstStyle>
              <a:lvl1pPr algn="l" defTabSz="609585" rtl="0" eaLnBrk="1" latinLnBrk="0" hangingPunct="1">
                <a:lnSpc>
                  <a:spcPct val="100000"/>
                </a:lnSpc>
                <a:spcBef>
                  <a:spcPct val="0"/>
                </a:spcBef>
                <a:buNone/>
                <a:defRPr sz="3733" b="0" i="0" kern="1200" spc="0" baseline="0">
                  <a:solidFill>
                    <a:schemeClr val="tx2"/>
                  </a:solidFill>
                  <a:latin typeface="Intel Clear"/>
                  <a:ea typeface="Intel Clear"/>
                  <a:cs typeface="Intel Clear"/>
                </a:defRPr>
              </a:lvl1pPr>
            </a:lstStyle>
            <a:p>
              <a:r>
                <a:rPr lang="en-US" dirty="0"/>
                <a:t>Platform Profiler</a:t>
              </a:r>
              <a:br>
                <a:rPr lang="en-US" sz="2000" dirty="0">
                  <a:solidFill>
                    <a:schemeClr val="bg2"/>
                  </a:solidFill>
                </a:rPr>
              </a:br>
              <a:r>
                <a:rPr lang="en-US" sz="2400" dirty="0"/>
                <a:t>Identify Memory usage imbalances</a:t>
              </a:r>
            </a:p>
          </p:txBody>
        </p:sp>
        <p:sp>
          <p:nvSpPr>
            <p:cNvPr id="9" name="TextBox 8"/>
            <p:cNvSpPr txBox="1"/>
            <p:nvPr/>
          </p:nvSpPr>
          <p:spPr>
            <a:xfrm>
              <a:off x="655108" y="250466"/>
              <a:ext cx="2276967" cy="246221"/>
            </a:xfrm>
            <a:prstGeom prst="rect">
              <a:avLst/>
            </a:prstGeom>
            <a:noFill/>
          </p:spPr>
          <p:txBody>
            <a:bodyPr vert="horz" wrap="square" lIns="0" tIns="0" rIns="0" bIns="0" rtlCol="0">
              <a:spAutoFit/>
            </a:bodyPr>
            <a:lstStyle/>
            <a:p>
              <a:r>
                <a:rPr lang="en-US" sz="1600" dirty="0">
                  <a:solidFill>
                    <a:schemeClr val="tx2"/>
                  </a:solidFill>
                </a:rPr>
                <a:t>Intel® VTune Amplifier -</a:t>
              </a:r>
            </a:p>
          </p:txBody>
        </p:sp>
      </p:grpSp>
      <p:grpSp>
        <p:nvGrpSpPr>
          <p:cNvPr id="3" name="Group 2"/>
          <p:cNvGrpSpPr/>
          <p:nvPr/>
        </p:nvGrpSpPr>
        <p:grpSpPr>
          <a:xfrm>
            <a:off x="344906" y="1881830"/>
            <a:ext cx="5943600" cy="2498269"/>
            <a:chOff x="344906" y="1577028"/>
            <a:chExt cx="5943600" cy="2498269"/>
          </a:xfrm>
        </p:grpSpPr>
        <p:sp>
          <p:nvSpPr>
            <p:cNvPr id="11" name="TextBox 10"/>
            <p:cNvSpPr txBox="1"/>
            <p:nvPr/>
          </p:nvSpPr>
          <p:spPr>
            <a:xfrm>
              <a:off x="1708485" y="1577028"/>
              <a:ext cx="3216442" cy="240600"/>
            </a:xfrm>
            <a:prstGeom prst="rect">
              <a:avLst/>
            </a:prstGeom>
            <a:noFill/>
          </p:spPr>
          <p:txBody>
            <a:bodyPr vert="horz" wrap="none" lIns="0" tIns="0" rIns="0" bIns="0" rtlCol="0" anchor="ctr">
              <a:noAutofit/>
            </a:bodyPr>
            <a:lstStyle/>
            <a:p>
              <a:pPr algn="ctr"/>
              <a:r>
                <a:rPr lang="en-US" sz="1467" dirty="0">
                  <a:solidFill>
                    <a:srgbClr val="003C71"/>
                  </a:solidFill>
                </a:rPr>
                <a:t>Traffic Patterns</a:t>
              </a:r>
            </a:p>
          </p:txBody>
        </p:sp>
        <p:pic>
          <p:nvPicPr>
            <p:cNvPr id="10" name="Picture 9" descr="Screen Clipp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4906" y="1842342"/>
              <a:ext cx="5943600" cy="2232955"/>
            </a:xfrm>
            <a:prstGeom prst="rect">
              <a:avLst/>
            </a:prstGeom>
          </p:spPr>
        </p:pic>
      </p:grpSp>
      <p:grpSp>
        <p:nvGrpSpPr>
          <p:cNvPr id="4" name="Group 3"/>
          <p:cNvGrpSpPr/>
          <p:nvPr/>
        </p:nvGrpSpPr>
        <p:grpSpPr>
          <a:xfrm>
            <a:off x="6454377" y="1881830"/>
            <a:ext cx="5173532" cy="2065154"/>
            <a:chOff x="6454377" y="1577028"/>
            <a:chExt cx="5173532" cy="2065154"/>
          </a:xfrm>
        </p:grpSpPr>
        <p:sp>
          <p:nvSpPr>
            <p:cNvPr id="13" name="TextBox 12"/>
            <p:cNvSpPr txBox="1"/>
            <p:nvPr/>
          </p:nvSpPr>
          <p:spPr>
            <a:xfrm>
              <a:off x="7432922" y="1577028"/>
              <a:ext cx="3216442" cy="240600"/>
            </a:xfrm>
            <a:prstGeom prst="rect">
              <a:avLst/>
            </a:prstGeom>
            <a:noFill/>
          </p:spPr>
          <p:txBody>
            <a:bodyPr vert="horz" wrap="none" lIns="0" tIns="0" rIns="0" bIns="0" rtlCol="0" anchor="ctr">
              <a:noAutofit/>
            </a:bodyPr>
            <a:lstStyle/>
            <a:p>
              <a:pPr algn="ctr"/>
              <a:r>
                <a:rPr lang="en-US" sz="1467" dirty="0">
                  <a:solidFill>
                    <a:srgbClr val="003C71"/>
                  </a:solidFill>
                </a:rPr>
                <a:t>NUMA and Latencies</a:t>
              </a:r>
            </a:p>
          </p:txBody>
        </p:sp>
        <p:pic>
          <p:nvPicPr>
            <p:cNvPr id="14" name="Picture 13"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54377" y="1842342"/>
              <a:ext cx="5173532" cy="1799840"/>
            </a:xfrm>
            <a:prstGeom prst="rect">
              <a:avLst/>
            </a:prstGeom>
          </p:spPr>
        </p:pic>
      </p:grpSp>
    </p:spTree>
    <p:extLst>
      <p:ext uri="{BB962C8B-B14F-4D97-AF65-F5344CB8AC3E}">
        <p14:creationId xmlns:p14="http://schemas.microsoft.com/office/powerpoint/2010/main" val="28829883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07B074DC-53A4-4939-84C7-45108117554F}" type="slidenum">
              <a:rPr lang="en-US" smtClean="0"/>
              <a:t>12</a:t>
            </a:fld>
            <a:endParaRPr lang="en-US"/>
          </a:p>
        </p:txBody>
      </p:sp>
      <p:sp>
        <p:nvSpPr>
          <p:cNvPr id="5" name="Footer Placeholder 4"/>
          <p:cNvSpPr>
            <a:spLocks noGrp="1"/>
          </p:cNvSpPr>
          <p:nvPr>
            <p:ph type="ftr" sz="quarter" idx="3"/>
          </p:nvPr>
        </p:nvSpPr>
        <p:spPr/>
        <p:txBody>
          <a:bodyPr/>
          <a:lstStyle/>
          <a:p>
            <a:r>
              <a:rPr lang="en-US"/>
              <a:t>Intel Confidential</a:t>
            </a:r>
          </a:p>
        </p:txBody>
      </p:sp>
      <p:grpSp>
        <p:nvGrpSpPr>
          <p:cNvPr id="7" name="Group 6"/>
          <p:cNvGrpSpPr/>
          <p:nvPr/>
        </p:nvGrpSpPr>
        <p:grpSpPr>
          <a:xfrm>
            <a:off x="655108" y="250466"/>
            <a:ext cx="10972801" cy="1093653"/>
            <a:chOff x="655108" y="250466"/>
            <a:chExt cx="10972801" cy="1093653"/>
          </a:xfrm>
        </p:grpSpPr>
        <p:sp>
          <p:nvSpPr>
            <p:cNvPr id="8" name="Title 3"/>
            <p:cNvSpPr txBox="1">
              <a:spLocks/>
            </p:cNvSpPr>
            <p:nvPr/>
          </p:nvSpPr>
          <p:spPr>
            <a:xfrm>
              <a:off x="655109" y="411797"/>
              <a:ext cx="10972800" cy="932322"/>
            </a:xfrm>
            <a:prstGeom prst="rect">
              <a:avLst/>
            </a:prstGeom>
          </p:spPr>
          <p:txBody>
            <a:bodyPr vert="horz" lIns="0" tIns="0" rIns="0" bIns="0" rtlCol="0" anchor="t" anchorCtr="0">
              <a:noAutofit/>
            </a:bodyPr>
            <a:lstStyle>
              <a:lvl1pPr algn="l" defTabSz="609585" rtl="0" eaLnBrk="1" latinLnBrk="0" hangingPunct="1">
                <a:lnSpc>
                  <a:spcPct val="100000"/>
                </a:lnSpc>
                <a:spcBef>
                  <a:spcPct val="0"/>
                </a:spcBef>
                <a:buNone/>
                <a:defRPr sz="3733" b="0" i="0" kern="1200" spc="0" baseline="0">
                  <a:solidFill>
                    <a:schemeClr val="tx2"/>
                  </a:solidFill>
                  <a:latin typeface="Intel Clear"/>
                  <a:ea typeface="Intel Clear"/>
                  <a:cs typeface="Intel Clear"/>
                </a:defRPr>
              </a:lvl1pPr>
            </a:lstStyle>
            <a:p>
              <a:r>
                <a:rPr lang="en-US" dirty="0"/>
                <a:t>Platform Profiler</a:t>
              </a:r>
              <a:br>
                <a:rPr lang="en-US" sz="2000" dirty="0">
                  <a:solidFill>
                    <a:schemeClr val="bg2"/>
                  </a:solidFill>
                </a:rPr>
              </a:br>
              <a:r>
                <a:rPr lang="en-US" sz="2400" dirty="0"/>
                <a:t>Investigate high-level Persistent Memory traffic</a:t>
              </a:r>
            </a:p>
          </p:txBody>
        </p:sp>
        <p:sp>
          <p:nvSpPr>
            <p:cNvPr id="9" name="TextBox 8"/>
            <p:cNvSpPr txBox="1"/>
            <p:nvPr/>
          </p:nvSpPr>
          <p:spPr>
            <a:xfrm>
              <a:off x="655108" y="250466"/>
              <a:ext cx="2276967" cy="246221"/>
            </a:xfrm>
            <a:prstGeom prst="rect">
              <a:avLst/>
            </a:prstGeom>
            <a:noFill/>
          </p:spPr>
          <p:txBody>
            <a:bodyPr vert="horz" wrap="square" lIns="0" tIns="0" rIns="0" bIns="0" rtlCol="0">
              <a:spAutoFit/>
            </a:bodyPr>
            <a:lstStyle/>
            <a:p>
              <a:r>
                <a:rPr lang="en-US" sz="1600" dirty="0">
                  <a:solidFill>
                    <a:schemeClr val="tx2"/>
                  </a:solidFill>
                </a:rPr>
                <a:t>Intel® VTune Amplifier -</a:t>
              </a:r>
            </a:p>
          </p:txBody>
        </p:sp>
      </p:grpSp>
      <p:pic>
        <p:nvPicPr>
          <p:cNvPr id="6" name="Picture 5"/>
          <p:cNvPicPr>
            <a:picLocks noChangeAspect="1"/>
          </p:cNvPicPr>
          <p:nvPr/>
        </p:nvPicPr>
        <p:blipFill>
          <a:blip r:embed="rId3"/>
          <a:stretch>
            <a:fillRect/>
          </a:stretch>
        </p:blipFill>
        <p:spPr>
          <a:xfrm>
            <a:off x="1033171" y="1727390"/>
            <a:ext cx="9550891" cy="3194214"/>
          </a:xfrm>
          <a:prstGeom prst="rect">
            <a:avLst/>
          </a:prstGeom>
        </p:spPr>
      </p:pic>
    </p:spTree>
    <p:extLst>
      <p:ext uri="{BB962C8B-B14F-4D97-AF65-F5344CB8AC3E}">
        <p14:creationId xmlns:p14="http://schemas.microsoft.com/office/powerpoint/2010/main" val="41340686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07B074DC-53A4-4939-84C7-45108117554F}" type="slidenum">
              <a:rPr lang="en-US" smtClean="0"/>
              <a:t>13</a:t>
            </a:fld>
            <a:endParaRPr lang="en-US"/>
          </a:p>
        </p:txBody>
      </p:sp>
      <p:sp>
        <p:nvSpPr>
          <p:cNvPr id="5" name="Footer Placeholder 4"/>
          <p:cNvSpPr>
            <a:spLocks noGrp="1"/>
          </p:cNvSpPr>
          <p:nvPr>
            <p:ph type="ftr" sz="quarter" idx="3"/>
          </p:nvPr>
        </p:nvSpPr>
        <p:spPr/>
        <p:txBody>
          <a:bodyPr/>
          <a:lstStyle/>
          <a:p>
            <a:r>
              <a:rPr lang="en-US"/>
              <a:t>Intel Confidential</a:t>
            </a:r>
          </a:p>
        </p:txBody>
      </p:sp>
      <p:grpSp>
        <p:nvGrpSpPr>
          <p:cNvPr id="7" name="Group 6"/>
          <p:cNvGrpSpPr/>
          <p:nvPr/>
        </p:nvGrpSpPr>
        <p:grpSpPr>
          <a:xfrm>
            <a:off x="655108" y="250466"/>
            <a:ext cx="10972801" cy="1093653"/>
            <a:chOff x="655108" y="250466"/>
            <a:chExt cx="10972801" cy="1093653"/>
          </a:xfrm>
        </p:grpSpPr>
        <p:sp>
          <p:nvSpPr>
            <p:cNvPr id="8" name="Title 3"/>
            <p:cNvSpPr txBox="1">
              <a:spLocks/>
            </p:cNvSpPr>
            <p:nvPr/>
          </p:nvSpPr>
          <p:spPr>
            <a:xfrm>
              <a:off x="655109" y="411797"/>
              <a:ext cx="10972800" cy="932322"/>
            </a:xfrm>
            <a:prstGeom prst="rect">
              <a:avLst/>
            </a:prstGeom>
          </p:spPr>
          <p:txBody>
            <a:bodyPr vert="horz" lIns="0" tIns="0" rIns="0" bIns="0" rtlCol="0" anchor="t" anchorCtr="0">
              <a:noAutofit/>
            </a:bodyPr>
            <a:lstStyle>
              <a:lvl1pPr algn="l" defTabSz="609585" rtl="0" eaLnBrk="1" latinLnBrk="0" hangingPunct="1">
                <a:lnSpc>
                  <a:spcPct val="100000"/>
                </a:lnSpc>
                <a:spcBef>
                  <a:spcPct val="0"/>
                </a:spcBef>
                <a:buNone/>
                <a:defRPr sz="3733" b="0" i="0" kern="1200" spc="0" baseline="0">
                  <a:solidFill>
                    <a:schemeClr val="tx2"/>
                  </a:solidFill>
                  <a:latin typeface="Intel Clear"/>
                  <a:ea typeface="Intel Clear"/>
                  <a:cs typeface="Intel Clear"/>
                </a:defRPr>
              </a:lvl1pPr>
            </a:lstStyle>
            <a:p>
              <a:r>
                <a:rPr lang="en-US" dirty="0"/>
                <a:t>Platform Profiler</a:t>
              </a:r>
              <a:br>
                <a:rPr lang="en-US" sz="2000" dirty="0">
                  <a:solidFill>
                    <a:schemeClr val="bg2"/>
                  </a:solidFill>
                </a:rPr>
              </a:br>
              <a:r>
                <a:rPr lang="en-US" sz="2400" dirty="0"/>
                <a:t>Identify disk utilization imbalances</a:t>
              </a:r>
            </a:p>
          </p:txBody>
        </p:sp>
        <p:sp>
          <p:nvSpPr>
            <p:cNvPr id="9" name="TextBox 8"/>
            <p:cNvSpPr txBox="1"/>
            <p:nvPr/>
          </p:nvSpPr>
          <p:spPr>
            <a:xfrm>
              <a:off x="655108" y="250466"/>
              <a:ext cx="2276967" cy="246221"/>
            </a:xfrm>
            <a:prstGeom prst="rect">
              <a:avLst/>
            </a:prstGeom>
            <a:noFill/>
          </p:spPr>
          <p:txBody>
            <a:bodyPr vert="horz" wrap="square" lIns="0" tIns="0" rIns="0" bIns="0" rtlCol="0">
              <a:spAutoFit/>
            </a:bodyPr>
            <a:lstStyle/>
            <a:p>
              <a:r>
                <a:rPr lang="en-US" sz="1600" dirty="0">
                  <a:solidFill>
                    <a:schemeClr val="tx2"/>
                  </a:solidFill>
                </a:rPr>
                <a:t>Intel® VTune Amplifier -</a:t>
              </a:r>
            </a:p>
          </p:txBody>
        </p:sp>
      </p:grpSp>
      <p:sp>
        <p:nvSpPr>
          <p:cNvPr id="11" name="TextBox 10"/>
          <p:cNvSpPr txBox="1"/>
          <p:nvPr/>
        </p:nvSpPr>
        <p:spPr>
          <a:xfrm>
            <a:off x="4403558" y="1521050"/>
            <a:ext cx="3216442" cy="240600"/>
          </a:xfrm>
          <a:prstGeom prst="rect">
            <a:avLst/>
          </a:prstGeom>
          <a:noFill/>
        </p:spPr>
        <p:txBody>
          <a:bodyPr vert="horz" wrap="none" lIns="0" tIns="0" rIns="0" bIns="0" rtlCol="0" anchor="ctr">
            <a:noAutofit/>
          </a:bodyPr>
          <a:lstStyle/>
          <a:p>
            <a:pPr algn="ctr"/>
            <a:r>
              <a:rPr lang="en-US" sz="1467" dirty="0">
                <a:solidFill>
                  <a:srgbClr val="003C71"/>
                </a:solidFill>
              </a:rPr>
              <a:t>Traffic Patterns</a:t>
            </a:r>
          </a:p>
        </p:txBody>
      </p:sp>
      <p:pic>
        <p:nvPicPr>
          <p:cNvPr id="3" name="Picture 2" descr="Screen Clipp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52800" y="1817628"/>
            <a:ext cx="5486399" cy="4262331"/>
          </a:xfrm>
          <a:prstGeom prst="rect">
            <a:avLst/>
          </a:prstGeom>
        </p:spPr>
      </p:pic>
    </p:spTree>
    <p:extLst>
      <p:ext uri="{BB962C8B-B14F-4D97-AF65-F5344CB8AC3E}">
        <p14:creationId xmlns:p14="http://schemas.microsoft.com/office/powerpoint/2010/main" val="20836682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2559E7D0-7987-45FB-ADFA-76FF10705580}" type="slidenum">
              <a:rPr lang="en-US" smtClean="0"/>
              <a:t>14</a:t>
            </a:fld>
            <a:endParaRPr lang="en-US"/>
          </a:p>
        </p:txBody>
      </p:sp>
      <p:sp>
        <p:nvSpPr>
          <p:cNvPr id="7" name="Title 6"/>
          <p:cNvSpPr>
            <a:spLocks noGrp="1"/>
          </p:cNvSpPr>
          <p:nvPr>
            <p:ph type="title"/>
          </p:nvPr>
        </p:nvSpPr>
        <p:spPr/>
        <p:txBody>
          <a:bodyPr/>
          <a:lstStyle/>
          <a:p>
            <a:r>
              <a:rPr lang="en-US" dirty="0"/>
              <a:t>Main components (and terminology)</a:t>
            </a:r>
          </a:p>
        </p:txBody>
      </p:sp>
      <p:sp>
        <p:nvSpPr>
          <p:cNvPr id="8" name="Content Placeholder 7"/>
          <p:cNvSpPr>
            <a:spLocks noGrp="1"/>
          </p:cNvSpPr>
          <p:nvPr>
            <p:ph sz="quarter" idx="13"/>
          </p:nvPr>
        </p:nvSpPr>
        <p:spPr/>
        <p:txBody>
          <a:bodyPr>
            <a:normAutofit fontScale="85000" lnSpcReduction="20000"/>
          </a:bodyPr>
          <a:lstStyle/>
          <a:p>
            <a:r>
              <a:rPr lang="en-US" dirty="0"/>
              <a:t>Data Collector</a:t>
            </a:r>
          </a:p>
          <a:p>
            <a:pPr lvl="1"/>
            <a:r>
              <a:rPr lang="en-US" dirty="0"/>
              <a:t>Collects system-level HW and OS performance counters, computes metrics</a:t>
            </a:r>
          </a:p>
          <a:p>
            <a:pPr lvl="1"/>
            <a:r>
              <a:rPr lang="en-US" dirty="0"/>
              <a:t>Stores collected data in human-readable data files (mostly CSV)</a:t>
            </a:r>
          </a:p>
          <a:p>
            <a:r>
              <a:rPr lang="en-US" dirty="0"/>
              <a:t>Platform Profiler Server</a:t>
            </a:r>
          </a:p>
          <a:p>
            <a:pPr lvl="1"/>
            <a:r>
              <a:rPr lang="en-US" dirty="0"/>
              <a:t>Post-processes collected data into a time-series database, correlates with system topology information</a:t>
            </a:r>
          </a:p>
          <a:p>
            <a:pPr lvl="1"/>
            <a:r>
              <a:rPr lang="en-US" dirty="0"/>
              <a:t>Serves data to HTTP-based clients using a simple RESTful API</a:t>
            </a:r>
          </a:p>
          <a:p>
            <a:r>
              <a:rPr lang="en-US" dirty="0"/>
              <a:t>Web-based user interface</a:t>
            </a:r>
          </a:p>
          <a:p>
            <a:pPr lvl="1"/>
            <a:r>
              <a:rPr lang="en-US" dirty="0"/>
              <a:t>“Progressive disclosure” of performance information</a:t>
            </a:r>
          </a:p>
          <a:p>
            <a:pPr lvl="1"/>
            <a:r>
              <a:rPr lang="en-US" dirty="0"/>
              <a:t>Interactive topology diagrams annotated with performance data</a:t>
            </a:r>
          </a:p>
          <a:p>
            <a:pPr lvl="1"/>
            <a:r>
              <a:rPr lang="en-US" dirty="0"/>
              <a:t>Interactive performance graphs with zoom/pan functionality </a:t>
            </a:r>
          </a:p>
        </p:txBody>
      </p:sp>
      <p:sp>
        <p:nvSpPr>
          <p:cNvPr id="6" name="Footer Placeholder 5"/>
          <p:cNvSpPr>
            <a:spLocks noGrp="1"/>
          </p:cNvSpPr>
          <p:nvPr>
            <p:ph type="ftr" sz="quarter" idx="3"/>
          </p:nvPr>
        </p:nvSpPr>
        <p:spPr/>
        <p:txBody>
          <a:bodyPr/>
          <a:lstStyle/>
          <a:p>
            <a:r>
              <a:rPr lang="en-US"/>
              <a:t>Intel Confidential</a:t>
            </a:r>
          </a:p>
        </p:txBody>
      </p:sp>
    </p:spTree>
    <p:extLst>
      <p:ext uri="{BB962C8B-B14F-4D97-AF65-F5344CB8AC3E}">
        <p14:creationId xmlns:p14="http://schemas.microsoft.com/office/powerpoint/2010/main" val="23113383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2559E7D0-7987-45FB-ADFA-76FF10705580}" type="slidenum">
              <a:rPr lang="en-US" smtClean="0"/>
              <a:t>15</a:t>
            </a:fld>
            <a:endParaRPr lang="en-US"/>
          </a:p>
        </p:txBody>
      </p:sp>
      <p:sp>
        <p:nvSpPr>
          <p:cNvPr id="3" name="Title 2"/>
          <p:cNvSpPr>
            <a:spLocks noGrp="1"/>
          </p:cNvSpPr>
          <p:nvPr>
            <p:ph type="title"/>
          </p:nvPr>
        </p:nvSpPr>
        <p:spPr>
          <a:xfrm>
            <a:off x="607484" y="411797"/>
            <a:ext cx="10972800" cy="965590"/>
          </a:xfrm>
        </p:spPr>
        <p:txBody>
          <a:bodyPr/>
          <a:lstStyle/>
          <a:p>
            <a:r>
              <a:rPr lang="en-US" dirty="0"/>
              <a:t>Workflow overview</a:t>
            </a:r>
          </a:p>
        </p:txBody>
      </p:sp>
      <p:sp>
        <p:nvSpPr>
          <p:cNvPr id="5" name="Footer Placeholder 4"/>
          <p:cNvSpPr>
            <a:spLocks noGrp="1"/>
          </p:cNvSpPr>
          <p:nvPr>
            <p:ph type="ftr" sz="quarter" idx="3"/>
          </p:nvPr>
        </p:nvSpPr>
        <p:spPr/>
        <p:txBody>
          <a:bodyPr/>
          <a:lstStyle/>
          <a:p>
            <a:r>
              <a:rPr lang="en-US"/>
              <a:t>Intel Confidential</a:t>
            </a:r>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73621" y="3195416"/>
            <a:ext cx="1438325" cy="1380792"/>
          </a:xfrm>
          <a:prstGeom prst="rect">
            <a:avLst/>
          </a:prstGeom>
        </p:spPr>
      </p:pic>
      <p:pic>
        <p:nvPicPr>
          <p:cNvPr id="9" name="Pictur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73621" y="4576208"/>
            <a:ext cx="1438325" cy="1380792"/>
          </a:xfrm>
          <a:prstGeom prst="rect">
            <a:avLst/>
          </a:prstGeom>
        </p:spPr>
      </p:pic>
      <p:sp>
        <p:nvSpPr>
          <p:cNvPr id="10" name="TextBox 9"/>
          <p:cNvSpPr txBox="1"/>
          <p:nvPr/>
        </p:nvSpPr>
        <p:spPr>
          <a:xfrm>
            <a:off x="378884" y="6011864"/>
            <a:ext cx="2027799" cy="215444"/>
          </a:xfrm>
          <a:prstGeom prst="rect">
            <a:avLst/>
          </a:prstGeom>
          <a:noFill/>
        </p:spPr>
        <p:txBody>
          <a:bodyPr vert="horz" wrap="none" lIns="0" tIns="0" rIns="0" bIns="0" rtlCol="0">
            <a:spAutoFit/>
          </a:bodyPr>
          <a:lstStyle/>
          <a:p>
            <a:r>
              <a:rPr lang="en-US" sz="1400" dirty="0">
                <a:solidFill>
                  <a:srgbClr val="003C71"/>
                </a:solidFill>
              </a:rPr>
              <a:t>Data Collection “Targets”</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311172" y="3228412"/>
            <a:ext cx="2015177" cy="2322576"/>
          </a:xfrm>
          <a:prstGeom prst="rect">
            <a:avLst/>
          </a:prstGeom>
        </p:spPr>
      </p:pic>
      <p:sp>
        <p:nvSpPr>
          <p:cNvPr id="12" name="TextBox 11"/>
          <p:cNvSpPr txBox="1"/>
          <p:nvPr/>
        </p:nvSpPr>
        <p:spPr>
          <a:xfrm>
            <a:off x="3930485" y="5526113"/>
            <a:ext cx="2922275" cy="430887"/>
          </a:xfrm>
          <a:prstGeom prst="rect">
            <a:avLst/>
          </a:prstGeom>
          <a:noFill/>
        </p:spPr>
        <p:txBody>
          <a:bodyPr vert="horz" wrap="none" lIns="0" tIns="0" rIns="0" bIns="0" rtlCol="0">
            <a:spAutoFit/>
          </a:bodyPr>
          <a:lstStyle/>
          <a:p>
            <a:pPr algn="ctr"/>
            <a:r>
              <a:rPr lang="en-US" sz="1400" dirty="0">
                <a:solidFill>
                  <a:srgbClr val="003C71"/>
                </a:solidFill>
              </a:rPr>
              <a:t>Platform Profiler Server</a:t>
            </a:r>
          </a:p>
          <a:p>
            <a:r>
              <a:rPr lang="en-US" sz="1400" dirty="0">
                <a:solidFill>
                  <a:srgbClr val="003C71"/>
                </a:solidFill>
              </a:rPr>
              <a:t>Referred as: my-vppserver.intel.com</a:t>
            </a:r>
          </a:p>
        </p:txBody>
      </p:sp>
      <p:pic>
        <p:nvPicPr>
          <p:cNvPr id="13" name="Picture 1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64055" y="3395206"/>
            <a:ext cx="2512785" cy="2281792"/>
          </a:xfrm>
          <a:prstGeom prst="rect">
            <a:avLst/>
          </a:prstGeom>
        </p:spPr>
      </p:pic>
      <p:sp>
        <p:nvSpPr>
          <p:cNvPr id="14" name="TextBox 13"/>
          <p:cNvSpPr txBox="1"/>
          <p:nvPr/>
        </p:nvSpPr>
        <p:spPr>
          <a:xfrm>
            <a:off x="9041763" y="5784720"/>
            <a:ext cx="1569340" cy="430887"/>
          </a:xfrm>
          <a:prstGeom prst="rect">
            <a:avLst/>
          </a:prstGeom>
          <a:noFill/>
        </p:spPr>
        <p:txBody>
          <a:bodyPr vert="horz" wrap="none" lIns="0" tIns="0" rIns="0" bIns="0" rtlCol="0">
            <a:spAutoFit/>
          </a:bodyPr>
          <a:lstStyle/>
          <a:p>
            <a:pPr algn="ctr"/>
            <a:r>
              <a:rPr lang="en-US" sz="1400" dirty="0">
                <a:solidFill>
                  <a:srgbClr val="003C71"/>
                </a:solidFill>
              </a:rPr>
              <a:t>Web-based UI</a:t>
            </a:r>
          </a:p>
          <a:p>
            <a:pPr algn="ctr"/>
            <a:r>
              <a:rPr lang="en-US" sz="1400" dirty="0">
                <a:solidFill>
                  <a:srgbClr val="003C71"/>
                </a:solidFill>
              </a:rPr>
              <a:t>Chrome works best</a:t>
            </a:r>
          </a:p>
        </p:txBody>
      </p:sp>
      <p:sp>
        <p:nvSpPr>
          <p:cNvPr id="15" name="TextBox 14"/>
          <p:cNvSpPr txBox="1"/>
          <p:nvPr/>
        </p:nvSpPr>
        <p:spPr>
          <a:xfrm>
            <a:off x="5720600" y="401540"/>
            <a:ext cx="4966424" cy="1169551"/>
          </a:xfrm>
          <a:prstGeom prst="rect">
            <a:avLst/>
          </a:prstGeom>
          <a:noFill/>
          <a:ln>
            <a:solidFill>
              <a:schemeClr val="tx2"/>
            </a:solidFill>
          </a:ln>
        </p:spPr>
        <p:txBody>
          <a:bodyPr vert="horz" wrap="none" lIns="91440" tIns="91440" rIns="91440" bIns="91440" rtlCol="0">
            <a:spAutoFit/>
          </a:bodyPr>
          <a:lstStyle/>
          <a:p>
            <a:pPr marL="342900" indent="-342900">
              <a:buAutoNum type="arabicPeriod"/>
            </a:pPr>
            <a:r>
              <a:rPr lang="en-US" sz="1600" dirty="0">
                <a:solidFill>
                  <a:srgbClr val="003C71"/>
                </a:solidFill>
              </a:rPr>
              <a:t>Install the Platform Profiler Server*</a:t>
            </a:r>
          </a:p>
          <a:p>
            <a:r>
              <a:rPr lang="en-US" sz="1600" dirty="0">
                <a:solidFill>
                  <a:srgbClr val="003C71"/>
                </a:solidFill>
              </a:rPr>
              <a:t>(does not have to be on the same machine)</a:t>
            </a:r>
          </a:p>
          <a:p>
            <a:r>
              <a:rPr lang="en-US" sz="1600" dirty="0">
                <a:solidFill>
                  <a:srgbClr val="003C71"/>
                </a:solidFill>
              </a:rPr>
              <a:t>*Supported OSes: Ubuntu, CentOS/RHEL, Windows.</a:t>
            </a:r>
            <a:br>
              <a:rPr lang="en-US" sz="1600" dirty="0">
                <a:solidFill>
                  <a:srgbClr val="003C71"/>
                </a:solidFill>
              </a:rPr>
            </a:br>
            <a:r>
              <a:rPr lang="en-US" sz="1600" dirty="0">
                <a:solidFill>
                  <a:srgbClr val="003C71"/>
                </a:solidFill>
              </a:rPr>
              <a:t>SUSE is WIP. </a:t>
            </a:r>
          </a:p>
        </p:txBody>
      </p:sp>
      <p:sp>
        <p:nvSpPr>
          <p:cNvPr id="16" name="TextBox 15"/>
          <p:cNvSpPr txBox="1"/>
          <p:nvPr/>
        </p:nvSpPr>
        <p:spPr>
          <a:xfrm>
            <a:off x="601804" y="1160817"/>
            <a:ext cx="4201791" cy="923330"/>
          </a:xfrm>
          <a:prstGeom prst="rect">
            <a:avLst/>
          </a:prstGeom>
          <a:noFill/>
          <a:ln>
            <a:solidFill>
              <a:schemeClr val="tx2"/>
            </a:solidFill>
          </a:ln>
        </p:spPr>
        <p:txBody>
          <a:bodyPr vert="horz" wrap="none" lIns="91440" tIns="91440" rIns="91440" bIns="91440" rtlCol="0">
            <a:spAutoFit/>
          </a:bodyPr>
          <a:lstStyle/>
          <a:p>
            <a:r>
              <a:rPr lang="en-US" sz="1600" dirty="0">
                <a:solidFill>
                  <a:srgbClr val="003C71"/>
                </a:solidFill>
              </a:rPr>
              <a:t>2. Install VTune Amplifier 2019 on “targets”</a:t>
            </a:r>
          </a:p>
          <a:p>
            <a:pPr algn="ctr"/>
            <a:r>
              <a:rPr lang="en-US" sz="1600" dirty="0">
                <a:solidFill>
                  <a:srgbClr val="003C71"/>
                </a:solidFill>
              </a:rPr>
              <a:t>(Linux or Windows)</a:t>
            </a:r>
          </a:p>
          <a:p>
            <a:pPr algn="ctr"/>
            <a:r>
              <a:rPr lang="en-US" sz="1600" dirty="0" err="1">
                <a:solidFill>
                  <a:srgbClr val="003C71"/>
                </a:solidFill>
              </a:rPr>
              <a:t>Ivybridge</a:t>
            </a:r>
            <a:r>
              <a:rPr lang="en-US" sz="1600" dirty="0">
                <a:solidFill>
                  <a:srgbClr val="003C71"/>
                </a:solidFill>
              </a:rPr>
              <a:t> or Later</a:t>
            </a:r>
          </a:p>
        </p:txBody>
      </p:sp>
      <p:sp>
        <p:nvSpPr>
          <p:cNvPr id="17" name="TextBox 16"/>
          <p:cNvSpPr txBox="1"/>
          <p:nvPr/>
        </p:nvSpPr>
        <p:spPr>
          <a:xfrm>
            <a:off x="601804" y="2492897"/>
            <a:ext cx="1503938" cy="430887"/>
          </a:xfrm>
          <a:prstGeom prst="rect">
            <a:avLst/>
          </a:prstGeom>
          <a:noFill/>
          <a:ln>
            <a:solidFill>
              <a:schemeClr val="tx2"/>
            </a:solidFill>
          </a:ln>
        </p:spPr>
        <p:txBody>
          <a:bodyPr vert="horz" wrap="none" lIns="91440" tIns="91440" rIns="91440" bIns="91440" rtlCol="0">
            <a:spAutoFit/>
          </a:bodyPr>
          <a:lstStyle/>
          <a:p>
            <a:r>
              <a:rPr lang="en-US" sz="1600" dirty="0">
                <a:solidFill>
                  <a:srgbClr val="003C71"/>
                </a:solidFill>
              </a:rPr>
              <a:t>3. Collect data</a:t>
            </a:r>
          </a:p>
        </p:txBody>
      </p:sp>
      <p:pic>
        <p:nvPicPr>
          <p:cNvPr id="18" name="Picture 1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019469" y="3584454"/>
            <a:ext cx="507993" cy="507993"/>
          </a:xfrm>
          <a:prstGeom prst="rect">
            <a:avLst/>
          </a:prstGeom>
        </p:spPr>
      </p:pic>
      <p:pic>
        <p:nvPicPr>
          <p:cNvPr id="19" name="Picture 1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019469" y="4911002"/>
            <a:ext cx="507993" cy="507993"/>
          </a:xfrm>
          <a:prstGeom prst="rect">
            <a:avLst/>
          </a:prstGeom>
        </p:spPr>
      </p:pic>
      <p:sp>
        <p:nvSpPr>
          <p:cNvPr id="20" name="TextBox 19"/>
          <p:cNvSpPr txBox="1"/>
          <p:nvPr/>
        </p:nvSpPr>
        <p:spPr>
          <a:xfrm>
            <a:off x="3655585" y="2492897"/>
            <a:ext cx="1532792" cy="430887"/>
          </a:xfrm>
          <a:prstGeom prst="rect">
            <a:avLst/>
          </a:prstGeom>
          <a:noFill/>
          <a:ln>
            <a:solidFill>
              <a:schemeClr val="tx2"/>
            </a:solidFill>
          </a:ln>
        </p:spPr>
        <p:txBody>
          <a:bodyPr vert="horz" wrap="none" lIns="91440" tIns="91440" rIns="91440" bIns="91440" rtlCol="0">
            <a:spAutoFit/>
          </a:bodyPr>
          <a:lstStyle/>
          <a:p>
            <a:r>
              <a:rPr lang="en-US" sz="1600" dirty="0">
                <a:solidFill>
                  <a:srgbClr val="003C71"/>
                </a:solidFill>
              </a:rPr>
              <a:t>4. Upload data</a:t>
            </a:r>
          </a:p>
        </p:txBody>
      </p:sp>
      <p:sp>
        <p:nvSpPr>
          <p:cNvPr id="21" name="TextBox 20"/>
          <p:cNvSpPr txBox="1"/>
          <p:nvPr/>
        </p:nvSpPr>
        <p:spPr>
          <a:xfrm>
            <a:off x="8364055" y="2492896"/>
            <a:ext cx="2674130" cy="430887"/>
          </a:xfrm>
          <a:prstGeom prst="rect">
            <a:avLst/>
          </a:prstGeom>
          <a:noFill/>
          <a:ln>
            <a:solidFill>
              <a:schemeClr val="tx2"/>
            </a:solidFill>
          </a:ln>
        </p:spPr>
        <p:txBody>
          <a:bodyPr vert="horz" wrap="none" lIns="91440" tIns="91440" rIns="91440" bIns="91440" rtlCol="0">
            <a:spAutoFit/>
          </a:bodyPr>
          <a:lstStyle/>
          <a:p>
            <a:r>
              <a:rPr lang="en-US" sz="1600" dirty="0">
                <a:solidFill>
                  <a:srgbClr val="003C71"/>
                </a:solidFill>
              </a:rPr>
              <a:t>5. View and analyze results</a:t>
            </a:r>
          </a:p>
        </p:txBody>
      </p:sp>
      <p:grpSp>
        <p:nvGrpSpPr>
          <p:cNvPr id="28" name="Group 27"/>
          <p:cNvGrpSpPr/>
          <p:nvPr/>
        </p:nvGrpSpPr>
        <p:grpSpPr>
          <a:xfrm>
            <a:off x="2527462" y="4137581"/>
            <a:ext cx="1894519" cy="252119"/>
            <a:chOff x="2527462" y="4137581"/>
            <a:chExt cx="1894519" cy="252119"/>
          </a:xfrm>
        </p:grpSpPr>
        <p:cxnSp>
          <p:nvCxnSpPr>
            <p:cNvPr id="23" name="Straight Arrow Connector 22"/>
            <p:cNvCxnSpPr/>
            <p:nvPr/>
          </p:nvCxnSpPr>
          <p:spPr>
            <a:xfrm>
              <a:off x="2527462" y="4389700"/>
              <a:ext cx="1894519" cy="0"/>
            </a:xfrm>
            <a:prstGeom prst="straightConnector1">
              <a:avLst/>
            </a:prstGeom>
            <a:ln w="28575">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3191691" y="4137581"/>
              <a:ext cx="455253" cy="215444"/>
            </a:xfrm>
            <a:prstGeom prst="rect">
              <a:avLst/>
            </a:prstGeom>
            <a:noFill/>
          </p:spPr>
          <p:txBody>
            <a:bodyPr vert="horz" wrap="none" lIns="0" tIns="0" rIns="0" bIns="0" rtlCol="0">
              <a:spAutoFit/>
            </a:bodyPr>
            <a:lstStyle/>
            <a:p>
              <a:r>
                <a:rPr lang="en-US" sz="1400" dirty="0">
                  <a:solidFill>
                    <a:srgbClr val="003C71"/>
                  </a:solidFill>
                </a:rPr>
                <a:t>HTTP</a:t>
              </a:r>
            </a:p>
          </p:txBody>
        </p:sp>
      </p:grpSp>
      <p:grpSp>
        <p:nvGrpSpPr>
          <p:cNvPr id="29" name="Group 28"/>
          <p:cNvGrpSpPr/>
          <p:nvPr/>
        </p:nvGrpSpPr>
        <p:grpSpPr>
          <a:xfrm>
            <a:off x="6326349" y="4137581"/>
            <a:ext cx="2965810" cy="255014"/>
            <a:chOff x="6326349" y="4137581"/>
            <a:chExt cx="2965810" cy="255014"/>
          </a:xfrm>
        </p:grpSpPr>
        <p:cxnSp>
          <p:nvCxnSpPr>
            <p:cNvPr id="25" name="Straight Arrow Connector 24"/>
            <p:cNvCxnSpPr>
              <a:stCxn id="11" idx="3"/>
            </p:cNvCxnSpPr>
            <p:nvPr/>
          </p:nvCxnSpPr>
          <p:spPr>
            <a:xfrm>
              <a:off x="6326349" y="4389700"/>
              <a:ext cx="2965810" cy="2895"/>
            </a:xfrm>
            <a:prstGeom prst="straightConnector1">
              <a:avLst/>
            </a:prstGeom>
            <a:ln w="28575">
              <a:solidFill>
                <a:schemeClr val="tx2"/>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7567420" y="4137581"/>
              <a:ext cx="455253" cy="215444"/>
            </a:xfrm>
            <a:prstGeom prst="rect">
              <a:avLst/>
            </a:prstGeom>
            <a:noFill/>
          </p:spPr>
          <p:txBody>
            <a:bodyPr vert="horz" wrap="none" lIns="0" tIns="0" rIns="0" bIns="0" rtlCol="0">
              <a:spAutoFit/>
            </a:bodyPr>
            <a:lstStyle/>
            <a:p>
              <a:r>
                <a:rPr lang="en-US" sz="1400" dirty="0">
                  <a:solidFill>
                    <a:srgbClr val="003C71"/>
                  </a:solidFill>
                </a:rPr>
                <a:t>HTTP</a:t>
              </a:r>
            </a:p>
          </p:txBody>
        </p:sp>
      </p:grpSp>
    </p:spTree>
    <p:extLst>
      <p:ext uri="{BB962C8B-B14F-4D97-AF65-F5344CB8AC3E}">
        <p14:creationId xmlns:p14="http://schemas.microsoft.com/office/powerpoint/2010/main" val="268867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9"/>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4" grpId="0"/>
      <p:bldP spid="16" grpId="0" animBg="1"/>
      <p:bldP spid="17" grpId="0" animBg="1"/>
      <p:bldP spid="20" grpId="0" animBg="1"/>
      <p:bldP spid="2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2559E7D0-7987-45FB-ADFA-76FF10705580}" type="slidenum">
              <a:rPr lang="en-US" smtClean="0"/>
              <a:t>16</a:t>
            </a:fld>
            <a:endParaRPr lang="en-US"/>
          </a:p>
        </p:txBody>
      </p:sp>
      <p:sp>
        <p:nvSpPr>
          <p:cNvPr id="7" name="Title 6"/>
          <p:cNvSpPr>
            <a:spLocks noGrp="1"/>
          </p:cNvSpPr>
          <p:nvPr>
            <p:ph type="title"/>
          </p:nvPr>
        </p:nvSpPr>
        <p:spPr/>
        <p:txBody>
          <a:bodyPr/>
          <a:lstStyle/>
          <a:p>
            <a:r>
              <a:rPr lang="en-US" dirty="0"/>
              <a:t>Installation</a:t>
            </a:r>
          </a:p>
        </p:txBody>
      </p:sp>
      <p:sp>
        <p:nvSpPr>
          <p:cNvPr id="8" name="Content Placeholder 7"/>
          <p:cNvSpPr>
            <a:spLocks noGrp="1"/>
          </p:cNvSpPr>
          <p:nvPr>
            <p:ph sz="quarter" idx="13"/>
          </p:nvPr>
        </p:nvSpPr>
        <p:spPr/>
        <p:txBody>
          <a:bodyPr>
            <a:normAutofit/>
          </a:bodyPr>
          <a:lstStyle/>
          <a:p>
            <a:r>
              <a:rPr lang="en-US" dirty="0"/>
              <a:t>Intel® VTune™ Platform Profiler is shipped with Intel® VTune™ Amplifier.</a:t>
            </a:r>
          </a:p>
          <a:p>
            <a:r>
              <a:rPr lang="en-US" dirty="0"/>
              <a:t>By default, the install directories are as follows</a:t>
            </a:r>
          </a:p>
          <a:p>
            <a:r>
              <a:rPr lang="en-US" dirty="0"/>
              <a:t>On Linux: </a:t>
            </a:r>
          </a:p>
          <a:p>
            <a:r>
              <a:rPr lang="en-US" dirty="0">
                <a:solidFill>
                  <a:schemeClr val="accent5"/>
                </a:solidFill>
                <a:latin typeface="Consolas" panose="020B0609020204030204" pitchFamily="49" charset="0"/>
              </a:rPr>
              <a:t>/opt/intel/</a:t>
            </a:r>
            <a:r>
              <a:rPr lang="en-US" dirty="0" err="1">
                <a:solidFill>
                  <a:schemeClr val="accent5"/>
                </a:solidFill>
                <a:latin typeface="Consolas" panose="020B0609020204030204" pitchFamily="49" charset="0"/>
              </a:rPr>
              <a:t>vtune_amplifier</a:t>
            </a:r>
            <a:r>
              <a:rPr lang="en-US" dirty="0">
                <a:solidFill>
                  <a:schemeClr val="accent5"/>
                </a:solidFill>
                <a:latin typeface="Consolas" panose="020B0609020204030204" pitchFamily="49" charset="0"/>
              </a:rPr>
              <a:t>/</a:t>
            </a:r>
            <a:r>
              <a:rPr lang="en-US" dirty="0" err="1">
                <a:solidFill>
                  <a:schemeClr val="accent5"/>
                </a:solidFill>
                <a:latin typeface="Consolas" panose="020B0609020204030204" pitchFamily="49" charset="0"/>
              </a:rPr>
              <a:t>vpp</a:t>
            </a:r>
            <a:endParaRPr lang="en-US" dirty="0">
              <a:solidFill>
                <a:schemeClr val="accent5"/>
              </a:solidFill>
              <a:latin typeface="Consolas" panose="020B0609020204030204" pitchFamily="49" charset="0"/>
            </a:endParaRPr>
          </a:p>
          <a:p>
            <a:r>
              <a:rPr lang="en-US" dirty="0"/>
              <a:t>On Windows: </a:t>
            </a:r>
          </a:p>
          <a:p>
            <a:r>
              <a:rPr lang="en-US" dirty="0">
                <a:solidFill>
                  <a:schemeClr val="accent5"/>
                </a:solidFill>
                <a:latin typeface="Consolas" panose="020B0609020204030204" pitchFamily="49" charset="0"/>
              </a:rPr>
              <a:t>C:\Program Files (x86)\</a:t>
            </a:r>
            <a:r>
              <a:rPr lang="en-US" dirty="0" err="1">
                <a:solidFill>
                  <a:schemeClr val="accent5"/>
                </a:solidFill>
                <a:latin typeface="Consolas" panose="020B0609020204030204" pitchFamily="49" charset="0"/>
              </a:rPr>
              <a:t>IntelSWTools</a:t>
            </a:r>
            <a:r>
              <a:rPr lang="en-US" dirty="0">
                <a:solidFill>
                  <a:schemeClr val="accent5"/>
                </a:solidFill>
                <a:latin typeface="Consolas" panose="020B0609020204030204" pitchFamily="49" charset="0"/>
              </a:rPr>
              <a:t>\VTune Amplifier 2019\</a:t>
            </a:r>
            <a:r>
              <a:rPr lang="en-US" dirty="0" err="1">
                <a:solidFill>
                  <a:schemeClr val="accent5"/>
                </a:solidFill>
                <a:latin typeface="Consolas" panose="020B0609020204030204" pitchFamily="49" charset="0"/>
              </a:rPr>
              <a:t>vpp</a:t>
            </a:r>
            <a:endParaRPr lang="en-US" dirty="0">
              <a:solidFill>
                <a:schemeClr val="accent5"/>
              </a:solidFill>
              <a:latin typeface="Consolas" panose="020B0609020204030204" pitchFamily="49" charset="0"/>
            </a:endParaRPr>
          </a:p>
        </p:txBody>
      </p:sp>
      <p:sp>
        <p:nvSpPr>
          <p:cNvPr id="6" name="Footer Placeholder 5"/>
          <p:cNvSpPr>
            <a:spLocks noGrp="1"/>
          </p:cNvSpPr>
          <p:nvPr>
            <p:ph type="ftr" sz="quarter" idx="3"/>
          </p:nvPr>
        </p:nvSpPr>
        <p:spPr/>
        <p:txBody>
          <a:bodyPr/>
          <a:lstStyle/>
          <a:p>
            <a:r>
              <a:rPr lang="en-US"/>
              <a:t>Intel Confidential</a:t>
            </a:r>
          </a:p>
        </p:txBody>
      </p:sp>
    </p:spTree>
    <p:extLst>
      <p:ext uri="{BB962C8B-B14F-4D97-AF65-F5344CB8AC3E}">
        <p14:creationId xmlns:p14="http://schemas.microsoft.com/office/powerpoint/2010/main" val="27498130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Collect the profiles</a:t>
            </a:r>
          </a:p>
        </p:txBody>
      </p:sp>
      <p:sp>
        <p:nvSpPr>
          <p:cNvPr id="2" name="Slide Number Placeholder 1"/>
          <p:cNvSpPr>
            <a:spLocks noGrp="1"/>
          </p:cNvSpPr>
          <p:nvPr>
            <p:ph type="sldNum" sz="quarter" idx="12"/>
          </p:nvPr>
        </p:nvSpPr>
        <p:spPr/>
        <p:txBody>
          <a:bodyPr/>
          <a:lstStyle/>
          <a:p>
            <a:fld id="{2559E7D0-7987-45FB-ADFA-76FF10705580}" type="slidenum">
              <a:rPr lang="en-US" smtClean="0"/>
              <a:t>17</a:t>
            </a:fld>
            <a:endParaRPr lang="en-US"/>
          </a:p>
        </p:txBody>
      </p:sp>
      <p:sp>
        <p:nvSpPr>
          <p:cNvPr id="5" name="Footer Placeholder 4"/>
          <p:cNvSpPr>
            <a:spLocks noGrp="1"/>
          </p:cNvSpPr>
          <p:nvPr>
            <p:ph type="ftr" sz="quarter" idx="3"/>
          </p:nvPr>
        </p:nvSpPr>
        <p:spPr/>
        <p:txBody>
          <a:bodyPr/>
          <a:lstStyle/>
          <a:p>
            <a:r>
              <a:rPr lang="en-US"/>
              <a:t>Intel Confidential</a:t>
            </a:r>
          </a:p>
        </p:txBody>
      </p:sp>
    </p:spTree>
    <p:extLst>
      <p:ext uri="{BB962C8B-B14F-4D97-AF65-F5344CB8AC3E}">
        <p14:creationId xmlns:p14="http://schemas.microsoft.com/office/powerpoint/2010/main" val="24484423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2559E7D0-7987-45FB-ADFA-76FF10705580}" type="slidenum">
              <a:rPr lang="en-US" smtClean="0"/>
              <a:t>18</a:t>
            </a:fld>
            <a:endParaRPr lang="en-US"/>
          </a:p>
        </p:txBody>
      </p:sp>
      <p:sp>
        <p:nvSpPr>
          <p:cNvPr id="7" name="Title 6"/>
          <p:cNvSpPr>
            <a:spLocks noGrp="1"/>
          </p:cNvSpPr>
          <p:nvPr>
            <p:ph type="title"/>
          </p:nvPr>
        </p:nvSpPr>
        <p:spPr/>
        <p:txBody>
          <a:bodyPr/>
          <a:lstStyle/>
          <a:p>
            <a:r>
              <a:rPr lang="en-US" dirty="0"/>
              <a:t>Quick-usage primer</a:t>
            </a:r>
          </a:p>
        </p:txBody>
      </p:sp>
      <p:sp>
        <p:nvSpPr>
          <p:cNvPr id="8" name="Content Placeholder 7"/>
          <p:cNvSpPr>
            <a:spLocks noGrp="1"/>
          </p:cNvSpPr>
          <p:nvPr>
            <p:ph sz="quarter" idx="13"/>
          </p:nvPr>
        </p:nvSpPr>
        <p:spPr/>
        <p:txBody>
          <a:bodyPr>
            <a:normAutofit/>
          </a:bodyPr>
          <a:lstStyle/>
          <a:p>
            <a:r>
              <a:rPr lang="en-US" b="1" dirty="0"/>
              <a:t>Start a collection</a:t>
            </a:r>
          </a:p>
          <a:p>
            <a:r>
              <a:rPr lang="en-US" dirty="0">
                <a:solidFill>
                  <a:schemeClr val="accent5"/>
                </a:solidFill>
                <a:latin typeface="Consolas" panose="020B0609020204030204" pitchFamily="49" charset="0"/>
              </a:rPr>
              <a:t>source /opt/intel/vtune_amplifier/vpp/collector/vpp-collect-vars.sh</a:t>
            </a:r>
          </a:p>
          <a:p>
            <a:r>
              <a:rPr lang="en-US" dirty="0" err="1">
                <a:solidFill>
                  <a:schemeClr val="accent5"/>
                </a:solidFill>
                <a:latin typeface="Consolas" panose="020B0609020204030204" pitchFamily="49" charset="0"/>
              </a:rPr>
              <a:t>vpp</a:t>
            </a:r>
            <a:r>
              <a:rPr lang="en-US" dirty="0">
                <a:solidFill>
                  <a:schemeClr val="accent5"/>
                </a:solidFill>
                <a:latin typeface="Consolas" panose="020B0609020204030204" pitchFamily="49" charset="0"/>
              </a:rPr>
              <a:t>-collect-start</a:t>
            </a:r>
          </a:p>
          <a:p>
            <a:r>
              <a:rPr lang="en-US" b="1" dirty="0"/>
              <a:t>Stop a collection</a:t>
            </a:r>
          </a:p>
          <a:p>
            <a:r>
              <a:rPr lang="en-US" dirty="0" err="1">
                <a:solidFill>
                  <a:schemeClr val="accent5"/>
                </a:solidFill>
                <a:latin typeface="Consolas" panose="020B0609020204030204" pitchFamily="49" charset="0"/>
              </a:rPr>
              <a:t>vpp</a:t>
            </a:r>
            <a:r>
              <a:rPr lang="en-US" dirty="0">
                <a:solidFill>
                  <a:schemeClr val="accent5"/>
                </a:solidFill>
                <a:latin typeface="Consolas" panose="020B0609020204030204" pitchFamily="49" charset="0"/>
              </a:rPr>
              <a:t>-collect-stop</a:t>
            </a:r>
          </a:p>
        </p:txBody>
      </p:sp>
      <p:sp>
        <p:nvSpPr>
          <p:cNvPr id="6" name="Footer Placeholder 5"/>
          <p:cNvSpPr>
            <a:spLocks noGrp="1"/>
          </p:cNvSpPr>
          <p:nvPr>
            <p:ph type="ftr" sz="quarter" idx="3"/>
          </p:nvPr>
        </p:nvSpPr>
        <p:spPr/>
        <p:txBody>
          <a:bodyPr/>
          <a:lstStyle/>
          <a:p>
            <a:r>
              <a:rPr lang="en-US"/>
              <a:t>Intel Confidential</a:t>
            </a:r>
          </a:p>
        </p:txBody>
      </p:sp>
    </p:spTree>
    <p:extLst>
      <p:ext uri="{BB962C8B-B14F-4D97-AF65-F5344CB8AC3E}">
        <p14:creationId xmlns:p14="http://schemas.microsoft.com/office/powerpoint/2010/main" val="17552317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2559E7D0-7987-45FB-ADFA-76FF10705580}" type="slidenum">
              <a:rPr lang="en-US" smtClean="0"/>
              <a:t>19</a:t>
            </a:fld>
            <a:endParaRPr lang="en-US"/>
          </a:p>
        </p:txBody>
      </p:sp>
      <p:sp>
        <p:nvSpPr>
          <p:cNvPr id="3" name="Title 2"/>
          <p:cNvSpPr>
            <a:spLocks noGrp="1"/>
          </p:cNvSpPr>
          <p:nvPr>
            <p:ph type="title"/>
          </p:nvPr>
        </p:nvSpPr>
        <p:spPr/>
        <p:txBody>
          <a:bodyPr/>
          <a:lstStyle/>
          <a:p>
            <a:r>
              <a:rPr lang="en-US" dirty="0"/>
              <a:t>Collecting data (Linux and Windows) </a:t>
            </a:r>
          </a:p>
        </p:txBody>
      </p:sp>
      <p:sp>
        <p:nvSpPr>
          <p:cNvPr id="4" name="Content Placeholder 3"/>
          <p:cNvSpPr>
            <a:spLocks noGrp="1"/>
          </p:cNvSpPr>
          <p:nvPr>
            <p:ph sz="quarter" idx="13"/>
          </p:nvPr>
        </p:nvSpPr>
        <p:spPr>
          <a:xfrm>
            <a:off x="607484" y="1091133"/>
            <a:ext cx="10970683" cy="4567229"/>
          </a:xfrm>
        </p:spPr>
        <p:txBody>
          <a:bodyPr>
            <a:normAutofit fontScale="85000" lnSpcReduction="20000"/>
          </a:bodyPr>
          <a:lstStyle/>
          <a:p>
            <a:pPr marL="457200" indent="-457200">
              <a:buAutoNum type="arabicParenBoth"/>
            </a:pPr>
            <a:r>
              <a:rPr lang="en-US" dirty="0"/>
              <a:t>Pick a workload</a:t>
            </a:r>
          </a:p>
          <a:p>
            <a:pPr marL="457200" indent="-457200">
              <a:buAutoNum type="arabicParenBoth"/>
            </a:pPr>
            <a:r>
              <a:rPr lang="en-US" dirty="0"/>
              <a:t>Set up the environment</a:t>
            </a:r>
          </a:p>
          <a:p>
            <a:pPr marL="0" lvl="1" indent="0">
              <a:buNone/>
            </a:pPr>
            <a:r>
              <a:rPr lang="en-US" dirty="0"/>
              <a:t>Linux: </a:t>
            </a:r>
            <a:r>
              <a:rPr lang="en-US" dirty="0">
                <a:solidFill>
                  <a:schemeClr val="accent5"/>
                </a:solidFill>
                <a:latin typeface="Courier New" panose="02070309020205020404" pitchFamily="49" charset="0"/>
                <a:cs typeface="Courier New" panose="02070309020205020404" pitchFamily="49" charset="0"/>
              </a:rPr>
              <a:t>source /opt/intel/vtune_amplifier/vpp/collector/vpp-collect-vars.sh </a:t>
            </a:r>
          </a:p>
          <a:p>
            <a:pPr marL="0" lvl="1" indent="0">
              <a:buNone/>
            </a:pPr>
            <a:r>
              <a:rPr lang="en-US" dirty="0"/>
              <a:t>Windows: </a:t>
            </a:r>
            <a:r>
              <a:rPr lang="en-US" dirty="0">
                <a:solidFill>
                  <a:schemeClr val="accent5"/>
                </a:solidFill>
                <a:latin typeface="Courier New" panose="02070309020205020404" pitchFamily="49" charset="0"/>
                <a:cs typeface="Courier New" panose="02070309020205020404" pitchFamily="49" charset="0"/>
              </a:rPr>
              <a:t>C:\&lt;path_to_vpp&gt;\vpp-collect-vars.cmd </a:t>
            </a:r>
          </a:p>
          <a:p>
            <a:pPr marL="457200" indent="-457200">
              <a:buAutoNum type="arabicParenBoth"/>
            </a:pPr>
            <a:r>
              <a:rPr lang="en-US" dirty="0"/>
              <a:t>Start data collection</a:t>
            </a:r>
          </a:p>
          <a:p>
            <a:pPr marL="0" lvl="1" indent="0">
              <a:buNone/>
            </a:pPr>
            <a:r>
              <a:rPr lang="en-US" dirty="0" err="1">
                <a:solidFill>
                  <a:schemeClr val="accent5"/>
                </a:solidFill>
                <a:latin typeface="Courier New" panose="02070309020205020404" pitchFamily="49" charset="0"/>
                <a:cs typeface="Courier New" panose="02070309020205020404" pitchFamily="49" charset="0"/>
              </a:rPr>
              <a:t>vpp</a:t>
            </a:r>
            <a:r>
              <a:rPr lang="en-US" dirty="0">
                <a:solidFill>
                  <a:schemeClr val="accent5"/>
                </a:solidFill>
                <a:latin typeface="Courier New" panose="02070309020205020404" pitchFamily="49" charset="0"/>
                <a:cs typeface="Courier New" panose="02070309020205020404" pitchFamily="49" charset="0"/>
              </a:rPr>
              <a:t>-collect-start [-c “workload description – free text comment”]</a:t>
            </a:r>
          </a:p>
          <a:p>
            <a:pPr marL="457200" indent="-457200">
              <a:buAutoNum type="arabicParenBoth"/>
            </a:pPr>
            <a:r>
              <a:rPr lang="en-US" dirty="0"/>
              <a:t>Optional - add timeline markers (as little or as much as you want)</a:t>
            </a:r>
          </a:p>
          <a:p>
            <a:pPr marL="0" lvl="1" indent="0">
              <a:buNone/>
            </a:pPr>
            <a:r>
              <a:rPr lang="en-US" dirty="0" err="1">
                <a:solidFill>
                  <a:schemeClr val="accent5"/>
                </a:solidFill>
                <a:latin typeface="Courier New" panose="02070309020205020404" pitchFamily="49" charset="0"/>
                <a:cs typeface="Courier New" panose="02070309020205020404" pitchFamily="49" charset="0"/>
              </a:rPr>
              <a:t>vpp</a:t>
            </a:r>
            <a:r>
              <a:rPr lang="en-US" dirty="0">
                <a:solidFill>
                  <a:schemeClr val="accent5"/>
                </a:solidFill>
                <a:latin typeface="Courier New" panose="02070309020205020404" pitchFamily="49" charset="0"/>
                <a:cs typeface="Courier New" panose="02070309020205020404" pitchFamily="49" charset="0"/>
              </a:rPr>
              <a:t>-collect-mark [“an optional label/text/comment”]</a:t>
            </a:r>
          </a:p>
          <a:p>
            <a:pPr marL="457200" indent="-457200">
              <a:buAutoNum type="arabicParenBoth"/>
            </a:pPr>
            <a:r>
              <a:rPr lang="en-US" dirty="0"/>
              <a:t>Stop data collection</a:t>
            </a:r>
          </a:p>
          <a:p>
            <a:pPr marL="0" lvl="1" indent="0">
              <a:buNone/>
            </a:pPr>
            <a:r>
              <a:rPr lang="en-US" dirty="0" err="1">
                <a:solidFill>
                  <a:schemeClr val="accent5"/>
                </a:solidFill>
                <a:latin typeface="Courier New" panose="02070309020205020404" pitchFamily="49" charset="0"/>
                <a:cs typeface="Courier New" panose="02070309020205020404" pitchFamily="49" charset="0"/>
              </a:rPr>
              <a:t>vpp</a:t>
            </a:r>
            <a:r>
              <a:rPr lang="en-US" dirty="0">
                <a:solidFill>
                  <a:schemeClr val="accent5"/>
                </a:solidFill>
                <a:latin typeface="Courier New" panose="02070309020205020404" pitchFamily="49" charset="0"/>
                <a:cs typeface="Courier New" panose="02070309020205020404" pitchFamily="49" charset="0"/>
              </a:rPr>
              <a:t>-collect-stop</a:t>
            </a:r>
          </a:p>
        </p:txBody>
      </p:sp>
      <p:sp>
        <p:nvSpPr>
          <p:cNvPr id="5" name="Footer Placeholder 4"/>
          <p:cNvSpPr>
            <a:spLocks noGrp="1"/>
          </p:cNvSpPr>
          <p:nvPr>
            <p:ph type="ftr" sz="quarter" idx="3"/>
          </p:nvPr>
        </p:nvSpPr>
        <p:spPr/>
        <p:txBody>
          <a:bodyPr/>
          <a:lstStyle/>
          <a:p>
            <a:r>
              <a:rPr lang="en-US"/>
              <a:t>Intel Confidential</a:t>
            </a:r>
          </a:p>
        </p:txBody>
      </p:sp>
      <p:sp>
        <p:nvSpPr>
          <p:cNvPr id="6" name="TextBox 5"/>
          <p:cNvSpPr txBox="1"/>
          <p:nvPr/>
        </p:nvSpPr>
        <p:spPr>
          <a:xfrm>
            <a:off x="557742" y="5692760"/>
            <a:ext cx="11020425" cy="593854"/>
          </a:xfrm>
          <a:prstGeom prst="rect">
            <a:avLst/>
          </a:prstGeom>
          <a:noFill/>
          <a:ln>
            <a:noFill/>
          </a:ln>
        </p:spPr>
        <p:style>
          <a:lnRef idx="2">
            <a:schemeClr val="accent4">
              <a:shade val="50000"/>
            </a:schemeClr>
          </a:lnRef>
          <a:fillRef idx="1">
            <a:schemeClr val="accent4"/>
          </a:fillRef>
          <a:effectRef idx="0">
            <a:schemeClr val="accent4"/>
          </a:effectRef>
          <a:fontRef idx="minor">
            <a:schemeClr val="lt1"/>
          </a:fontRef>
        </p:style>
        <p:txBody>
          <a:bodyPr vert="horz" wrap="square" lIns="91440" tIns="91440" rIns="91440" bIns="91440" rtlCol="0" anchor="ctr">
            <a:noAutofit/>
          </a:bodyPr>
          <a:lstStyle/>
          <a:p>
            <a:r>
              <a:rPr lang="en-US" sz="2000" dirty="0">
                <a:solidFill>
                  <a:schemeClr val="accent1"/>
                </a:solidFill>
              </a:rPr>
              <a:t>Collection results are available in a compressed file in the current directory</a:t>
            </a:r>
            <a:br>
              <a:rPr lang="en-US" sz="2000" dirty="0">
                <a:solidFill>
                  <a:schemeClr val="accent1"/>
                </a:solidFill>
              </a:rPr>
            </a:br>
            <a:r>
              <a:rPr lang="en-US" sz="2000" dirty="0">
                <a:solidFill>
                  <a:schemeClr val="accent1"/>
                </a:solidFill>
              </a:rPr>
              <a:t>(</a:t>
            </a:r>
            <a:r>
              <a:rPr lang="en-US" sz="2000" dirty="0">
                <a:solidFill>
                  <a:schemeClr val="accent1"/>
                </a:solidFill>
                <a:latin typeface="Consolas" panose="020B0609020204030204" pitchFamily="49" charset="0"/>
              </a:rPr>
              <a:t>&lt;machine-name&gt;_&lt;</a:t>
            </a:r>
            <a:r>
              <a:rPr lang="en-US" sz="2000" dirty="0" err="1">
                <a:solidFill>
                  <a:schemeClr val="accent1"/>
                </a:solidFill>
                <a:latin typeface="Consolas" panose="020B0609020204030204" pitchFamily="49" charset="0"/>
              </a:rPr>
              <a:t>datetime</a:t>
            </a:r>
            <a:r>
              <a:rPr lang="en-US" sz="2000" dirty="0">
                <a:solidFill>
                  <a:schemeClr val="accent1"/>
                </a:solidFill>
                <a:latin typeface="Consolas" panose="020B0609020204030204" pitchFamily="49" charset="0"/>
              </a:rPr>
              <a:t>&gt;.</a:t>
            </a:r>
            <a:r>
              <a:rPr lang="en-US" sz="2000" dirty="0" err="1">
                <a:solidFill>
                  <a:schemeClr val="accent1"/>
                </a:solidFill>
                <a:latin typeface="Consolas" panose="020B0609020204030204" pitchFamily="49" charset="0"/>
              </a:rPr>
              <a:t>tgz</a:t>
            </a:r>
            <a:r>
              <a:rPr lang="en-US" sz="2000" dirty="0">
                <a:solidFill>
                  <a:schemeClr val="accent1"/>
                </a:solidFill>
                <a:latin typeface="Consolas" panose="020B0609020204030204" pitchFamily="49" charset="0"/>
              </a:rPr>
              <a:t>/zip</a:t>
            </a:r>
            <a:r>
              <a:rPr lang="en-US" sz="2000" dirty="0">
                <a:solidFill>
                  <a:schemeClr val="accent1"/>
                </a:solidFill>
              </a:rPr>
              <a:t>)</a:t>
            </a:r>
          </a:p>
        </p:txBody>
      </p:sp>
    </p:spTree>
    <p:extLst>
      <p:ext uri="{BB962C8B-B14F-4D97-AF65-F5344CB8AC3E}">
        <p14:creationId xmlns:p14="http://schemas.microsoft.com/office/powerpoint/2010/main" val="4408226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Upload the profiles</a:t>
            </a:r>
          </a:p>
        </p:txBody>
      </p:sp>
      <p:sp>
        <p:nvSpPr>
          <p:cNvPr id="2" name="Slide Number Placeholder 1"/>
          <p:cNvSpPr>
            <a:spLocks noGrp="1"/>
          </p:cNvSpPr>
          <p:nvPr>
            <p:ph type="sldNum" sz="quarter" idx="12"/>
          </p:nvPr>
        </p:nvSpPr>
        <p:spPr/>
        <p:txBody>
          <a:bodyPr/>
          <a:lstStyle/>
          <a:p>
            <a:fld id="{2559E7D0-7987-45FB-ADFA-76FF10705580}" type="slidenum">
              <a:rPr lang="en-US" smtClean="0"/>
              <a:t>20</a:t>
            </a:fld>
            <a:endParaRPr lang="en-US"/>
          </a:p>
        </p:txBody>
      </p:sp>
      <p:sp>
        <p:nvSpPr>
          <p:cNvPr id="5" name="Footer Placeholder 4"/>
          <p:cNvSpPr>
            <a:spLocks noGrp="1"/>
          </p:cNvSpPr>
          <p:nvPr>
            <p:ph type="ftr" sz="quarter" idx="3"/>
          </p:nvPr>
        </p:nvSpPr>
        <p:spPr/>
        <p:txBody>
          <a:bodyPr/>
          <a:lstStyle/>
          <a:p>
            <a:r>
              <a:rPr lang="en-US"/>
              <a:t>Intel Confidential</a:t>
            </a:r>
          </a:p>
        </p:txBody>
      </p:sp>
    </p:spTree>
    <p:extLst>
      <p:ext uri="{BB962C8B-B14F-4D97-AF65-F5344CB8AC3E}">
        <p14:creationId xmlns:p14="http://schemas.microsoft.com/office/powerpoint/2010/main" val="41723948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2559E7D0-7987-45FB-ADFA-76FF10705580}" type="slidenum">
              <a:rPr lang="en-US" smtClean="0"/>
              <a:t>21</a:t>
            </a:fld>
            <a:endParaRPr lang="en-US"/>
          </a:p>
        </p:txBody>
      </p:sp>
      <p:sp>
        <p:nvSpPr>
          <p:cNvPr id="3" name="Title 2"/>
          <p:cNvSpPr>
            <a:spLocks noGrp="1"/>
          </p:cNvSpPr>
          <p:nvPr>
            <p:ph type="title"/>
          </p:nvPr>
        </p:nvSpPr>
        <p:spPr>
          <a:xfrm>
            <a:off x="607484" y="411797"/>
            <a:ext cx="10972800" cy="965590"/>
          </a:xfrm>
        </p:spPr>
        <p:txBody>
          <a:bodyPr/>
          <a:lstStyle/>
          <a:p>
            <a:r>
              <a:rPr lang="en-US" dirty="0"/>
              <a:t>Workflow overview</a:t>
            </a:r>
          </a:p>
        </p:txBody>
      </p:sp>
      <p:sp>
        <p:nvSpPr>
          <p:cNvPr id="5" name="Footer Placeholder 4"/>
          <p:cNvSpPr>
            <a:spLocks noGrp="1"/>
          </p:cNvSpPr>
          <p:nvPr>
            <p:ph type="ftr" sz="quarter" idx="3"/>
          </p:nvPr>
        </p:nvSpPr>
        <p:spPr/>
        <p:txBody>
          <a:bodyPr/>
          <a:lstStyle/>
          <a:p>
            <a:r>
              <a:rPr lang="en-US"/>
              <a:t>Intel Confidential</a:t>
            </a:r>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73621" y="3195416"/>
            <a:ext cx="1438325" cy="1380792"/>
          </a:xfrm>
          <a:prstGeom prst="rect">
            <a:avLst/>
          </a:prstGeom>
        </p:spPr>
      </p:pic>
      <p:pic>
        <p:nvPicPr>
          <p:cNvPr id="9" name="Pictur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73621" y="4576208"/>
            <a:ext cx="1438325" cy="1380792"/>
          </a:xfrm>
          <a:prstGeom prst="rect">
            <a:avLst/>
          </a:prstGeom>
        </p:spPr>
      </p:pic>
      <p:sp>
        <p:nvSpPr>
          <p:cNvPr id="10" name="TextBox 9"/>
          <p:cNvSpPr txBox="1"/>
          <p:nvPr/>
        </p:nvSpPr>
        <p:spPr>
          <a:xfrm>
            <a:off x="378884" y="6011864"/>
            <a:ext cx="2027799" cy="215444"/>
          </a:xfrm>
          <a:prstGeom prst="rect">
            <a:avLst/>
          </a:prstGeom>
          <a:noFill/>
        </p:spPr>
        <p:txBody>
          <a:bodyPr vert="horz" wrap="none" lIns="0" tIns="0" rIns="0" bIns="0" rtlCol="0">
            <a:spAutoFit/>
          </a:bodyPr>
          <a:lstStyle/>
          <a:p>
            <a:r>
              <a:rPr lang="en-US" sz="1400" dirty="0">
                <a:solidFill>
                  <a:srgbClr val="003C71"/>
                </a:solidFill>
              </a:rPr>
              <a:t>Data Collection “Targets”</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311172" y="3228412"/>
            <a:ext cx="2015177" cy="2322576"/>
          </a:xfrm>
          <a:prstGeom prst="rect">
            <a:avLst/>
          </a:prstGeom>
        </p:spPr>
      </p:pic>
      <p:sp>
        <p:nvSpPr>
          <p:cNvPr id="12" name="TextBox 11"/>
          <p:cNvSpPr txBox="1"/>
          <p:nvPr/>
        </p:nvSpPr>
        <p:spPr>
          <a:xfrm>
            <a:off x="4359363" y="5569276"/>
            <a:ext cx="1918795" cy="215444"/>
          </a:xfrm>
          <a:prstGeom prst="rect">
            <a:avLst/>
          </a:prstGeom>
          <a:noFill/>
        </p:spPr>
        <p:txBody>
          <a:bodyPr vert="horz" wrap="none" lIns="0" tIns="0" rIns="0" bIns="0" rtlCol="0">
            <a:spAutoFit/>
          </a:bodyPr>
          <a:lstStyle/>
          <a:p>
            <a:r>
              <a:rPr lang="en-US" sz="1400" dirty="0">
                <a:solidFill>
                  <a:srgbClr val="003C71"/>
                </a:solidFill>
              </a:rPr>
              <a:t>Platform Profiler Server</a:t>
            </a:r>
          </a:p>
        </p:txBody>
      </p:sp>
      <p:pic>
        <p:nvPicPr>
          <p:cNvPr id="13" name="Picture 1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64055" y="3395206"/>
            <a:ext cx="2512785" cy="2281792"/>
          </a:xfrm>
          <a:prstGeom prst="rect">
            <a:avLst/>
          </a:prstGeom>
        </p:spPr>
      </p:pic>
      <p:sp>
        <p:nvSpPr>
          <p:cNvPr id="14" name="TextBox 13"/>
          <p:cNvSpPr txBox="1"/>
          <p:nvPr/>
        </p:nvSpPr>
        <p:spPr>
          <a:xfrm>
            <a:off x="9041763" y="5784720"/>
            <a:ext cx="1157368" cy="215444"/>
          </a:xfrm>
          <a:prstGeom prst="rect">
            <a:avLst/>
          </a:prstGeom>
          <a:noFill/>
        </p:spPr>
        <p:txBody>
          <a:bodyPr vert="horz" wrap="none" lIns="0" tIns="0" rIns="0" bIns="0" rtlCol="0">
            <a:spAutoFit/>
          </a:bodyPr>
          <a:lstStyle/>
          <a:p>
            <a:r>
              <a:rPr lang="en-US" sz="1400" dirty="0">
                <a:solidFill>
                  <a:srgbClr val="003C71"/>
                </a:solidFill>
              </a:rPr>
              <a:t>Web-based UI</a:t>
            </a:r>
          </a:p>
        </p:txBody>
      </p:sp>
      <p:sp>
        <p:nvSpPr>
          <p:cNvPr id="15" name="TextBox 14"/>
          <p:cNvSpPr txBox="1"/>
          <p:nvPr/>
        </p:nvSpPr>
        <p:spPr>
          <a:xfrm>
            <a:off x="4407554" y="1160817"/>
            <a:ext cx="3613490" cy="430887"/>
          </a:xfrm>
          <a:prstGeom prst="rect">
            <a:avLst/>
          </a:prstGeom>
          <a:noFill/>
          <a:ln>
            <a:solidFill>
              <a:schemeClr val="tx2"/>
            </a:solidFill>
          </a:ln>
        </p:spPr>
        <p:txBody>
          <a:bodyPr vert="horz" wrap="none" lIns="91440" tIns="91440" rIns="91440" bIns="91440" rtlCol="0">
            <a:spAutoFit/>
          </a:bodyPr>
          <a:lstStyle/>
          <a:p>
            <a:r>
              <a:rPr lang="en-US" sz="1600" dirty="0">
                <a:solidFill>
                  <a:srgbClr val="003C71"/>
                </a:solidFill>
              </a:rPr>
              <a:t>1. Install the Platform Profiler Server</a:t>
            </a:r>
          </a:p>
        </p:txBody>
      </p:sp>
      <p:sp>
        <p:nvSpPr>
          <p:cNvPr id="16" name="TextBox 15"/>
          <p:cNvSpPr txBox="1"/>
          <p:nvPr/>
        </p:nvSpPr>
        <p:spPr>
          <a:xfrm>
            <a:off x="601804" y="1160817"/>
            <a:ext cx="3422732" cy="430887"/>
          </a:xfrm>
          <a:prstGeom prst="rect">
            <a:avLst/>
          </a:prstGeom>
          <a:noFill/>
          <a:ln>
            <a:solidFill>
              <a:schemeClr val="tx2"/>
            </a:solidFill>
          </a:ln>
        </p:spPr>
        <p:txBody>
          <a:bodyPr vert="horz" wrap="none" lIns="91440" tIns="91440" rIns="91440" bIns="91440" rtlCol="0">
            <a:spAutoFit/>
          </a:bodyPr>
          <a:lstStyle/>
          <a:p>
            <a:r>
              <a:rPr lang="en-US" sz="1600" dirty="0">
                <a:solidFill>
                  <a:srgbClr val="003C71"/>
                </a:solidFill>
              </a:rPr>
              <a:t>2. Install data collector on “targets”</a:t>
            </a:r>
          </a:p>
        </p:txBody>
      </p:sp>
      <p:sp>
        <p:nvSpPr>
          <p:cNvPr id="17" name="TextBox 16"/>
          <p:cNvSpPr txBox="1"/>
          <p:nvPr/>
        </p:nvSpPr>
        <p:spPr>
          <a:xfrm>
            <a:off x="601804" y="2492897"/>
            <a:ext cx="1503938" cy="430887"/>
          </a:xfrm>
          <a:prstGeom prst="rect">
            <a:avLst/>
          </a:prstGeom>
          <a:noFill/>
          <a:ln>
            <a:solidFill>
              <a:schemeClr val="tx2"/>
            </a:solidFill>
          </a:ln>
        </p:spPr>
        <p:txBody>
          <a:bodyPr vert="horz" wrap="none" lIns="91440" tIns="91440" rIns="91440" bIns="91440" rtlCol="0">
            <a:spAutoFit/>
          </a:bodyPr>
          <a:lstStyle/>
          <a:p>
            <a:r>
              <a:rPr lang="en-US" sz="1600" dirty="0">
                <a:solidFill>
                  <a:srgbClr val="003C71"/>
                </a:solidFill>
              </a:rPr>
              <a:t>3. Collect data</a:t>
            </a:r>
          </a:p>
        </p:txBody>
      </p:sp>
      <p:pic>
        <p:nvPicPr>
          <p:cNvPr id="18" name="Picture 1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019469" y="3584454"/>
            <a:ext cx="507993" cy="507993"/>
          </a:xfrm>
          <a:prstGeom prst="rect">
            <a:avLst/>
          </a:prstGeom>
        </p:spPr>
      </p:pic>
      <p:pic>
        <p:nvPicPr>
          <p:cNvPr id="19" name="Picture 1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019469" y="4911002"/>
            <a:ext cx="507993" cy="507993"/>
          </a:xfrm>
          <a:prstGeom prst="rect">
            <a:avLst/>
          </a:prstGeom>
        </p:spPr>
      </p:pic>
      <p:sp>
        <p:nvSpPr>
          <p:cNvPr id="20" name="TextBox 19"/>
          <p:cNvSpPr txBox="1"/>
          <p:nvPr/>
        </p:nvSpPr>
        <p:spPr>
          <a:xfrm>
            <a:off x="3655585" y="2492897"/>
            <a:ext cx="1532792" cy="430887"/>
          </a:xfrm>
          <a:prstGeom prst="rect">
            <a:avLst/>
          </a:prstGeom>
          <a:noFill/>
          <a:ln>
            <a:solidFill>
              <a:schemeClr val="tx2"/>
            </a:solidFill>
          </a:ln>
        </p:spPr>
        <p:txBody>
          <a:bodyPr vert="horz" wrap="none" lIns="91440" tIns="91440" rIns="91440" bIns="91440" rtlCol="0">
            <a:spAutoFit/>
          </a:bodyPr>
          <a:lstStyle/>
          <a:p>
            <a:r>
              <a:rPr lang="en-US" sz="1600" dirty="0">
                <a:solidFill>
                  <a:srgbClr val="003C71"/>
                </a:solidFill>
              </a:rPr>
              <a:t>4. Upload data</a:t>
            </a:r>
          </a:p>
        </p:txBody>
      </p:sp>
      <p:sp>
        <p:nvSpPr>
          <p:cNvPr id="21" name="TextBox 20"/>
          <p:cNvSpPr txBox="1"/>
          <p:nvPr/>
        </p:nvSpPr>
        <p:spPr>
          <a:xfrm>
            <a:off x="8364055" y="2492896"/>
            <a:ext cx="2674130" cy="430887"/>
          </a:xfrm>
          <a:prstGeom prst="rect">
            <a:avLst/>
          </a:prstGeom>
          <a:noFill/>
          <a:ln>
            <a:solidFill>
              <a:schemeClr val="tx2"/>
            </a:solidFill>
          </a:ln>
        </p:spPr>
        <p:txBody>
          <a:bodyPr vert="horz" wrap="none" lIns="91440" tIns="91440" rIns="91440" bIns="91440" rtlCol="0">
            <a:spAutoFit/>
          </a:bodyPr>
          <a:lstStyle/>
          <a:p>
            <a:r>
              <a:rPr lang="en-US" sz="1600" dirty="0">
                <a:solidFill>
                  <a:srgbClr val="003C71"/>
                </a:solidFill>
              </a:rPr>
              <a:t>5. View and analyze results</a:t>
            </a:r>
          </a:p>
        </p:txBody>
      </p:sp>
      <p:grpSp>
        <p:nvGrpSpPr>
          <p:cNvPr id="28" name="Group 27"/>
          <p:cNvGrpSpPr/>
          <p:nvPr/>
        </p:nvGrpSpPr>
        <p:grpSpPr>
          <a:xfrm>
            <a:off x="2527462" y="4137581"/>
            <a:ext cx="1894519" cy="252119"/>
            <a:chOff x="2527462" y="4137581"/>
            <a:chExt cx="1894519" cy="252119"/>
          </a:xfrm>
        </p:grpSpPr>
        <p:cxnSp>
          <p:nvCxnSpPr>
            <p:cNvPr id="23" name="Straight Arrow Connector 22"/>
            <p:cNvCxnSpPr/>
            <p:nvPr/>
          </p:nvCxnSpPr>
          <p:spPr>
            <a:xfrm>
              <a:off x="2527462" y="4389700"/>
              <a:ext cx="1894519" cy="0"/>
            </a:xfrm>
            <a:prstGeom prst="straightConnector1">
              <a:avLst/>
            </a:prstGeom>
            <a:ln w="28575">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3191691" y="4137581"/>
              <a:ext cx="455253" cy="215444"/>
            </a:xfrm>
            <a:prstGeom prst="rect">
              <a:avLst/>
            </a:prstGeom>
            <a:noFill/>
          </p:spPr>
          <p:txBody>
            <a:bodyPr vert="horz" wrap="none" lIns="0" tIns="0" rIns="0" bIns="0" rtlCol="0">
              <a:spAutoFit/>
            </a:bodyPr>
            <a:lstStyle/>
            <a:p>
              <a:r>
                <a:rPr lang="en-US" sz="1400" dirty="0">
                  <a:solidFill>
                    <a:srgbClr val="003C71"/>
                  </a:solidFill>
                </a:rPr>
                <a:t>HTTP</a:t>
              </a:r>
            </a:p>
          </p:txBody>
        </p:sp>
      </p:grpSp>
      <p:grpSp>
        <p:nvGrpSpPr>
          <p:cNvPr id="29" name="Group 28"/>
          <p:cNvGrpSpPr/>
          <p:nvPr/>
        </p:nvGrpSpPr>
        <p:grpSpPr>
          <a:xfrm>
            <a:off x="6326349" y="4137581"/>
            <a:ext cx="2965810" cy="255014"/>
            <a:chOff x="6326349" y="4137581"/>
            <a:chExt cx="2965810" cy="255014"/>
          </a:xfrm>
        </p:grpSpPr>
        <p:cxnSp>
          <p:nvCxnSpPr>
            <p:cNvPr id="25" name="Straight Arrow Connector 24"/>
            <p:cNvCxnSpPr>
              <a:stCxn id="11" idx="3"/>
            </p:cNvCxnSpPr>
            <p:nvPr/>
          </p:nvCxnSpPr>
          <p:spPr>
            <a:xfrm>
              <a:off x="6326349" y="4389700"/>
              <a:ext cx="2965810" cy="2895"/>
            </a:xfrm>
            <a:prstGeom prst="straightConnector1">
              <a:avLst/>
            </a:prstGeom>
            <a:ln w="28575">
              <a:solidFill>
                <a:schemeClr val="tx2"/>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7567420" y="4137581"/>
              <a:ext cx="455253" cy="215444"/>
            </a:xfrm>
            <a:prstGeom prst="rect">
              <a:avLst/>
            </a:prstGeom>
            <a:noFill/>
          </p:spPr>
          <p:txBody>
            <a:bodyPr vert="horz" wrap="none" lIns="0" tIns="0" rIns="0" bIns="0" rtlCol="0">
              <a:spAutoFit/>
            </a:bodyPr>
            <a:lstStyle/>
            <a:p>
              <a:r>
                <a:rPr lang="en-US" sz="1400" dirty="0">
                  <a:solidFill>
                    <a:srgbClr val="003C71"/>
                  </a:solidFill>
                </a:rPr>
                <a:t>HTTP</a:t>
              </a:r>
            </a:p>
          </p:txBody>
        </p:sp>
      </p:grpSp>
    </p:spTree>
    <p:extLst>
      <p:ext uri="{BB962C8B-B14F-4D97-AF65-F5344CB8AC3E}">
        <p14:creationId xmlns:p14="http://schemas.microsoft.com/office/powerpoint/2010/main" val="34595291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7"/>
                                        </p:tgtEl>
                                      </p:cBhvr>
                                    </p:animEffect>
                                    <p:set>
                                      <p:cBhvr>
                                        <p:cTn id="7" dur="1" fill="hold">
                                          <p:stCondLst>
                                            <p:cond delay="499"/>
                                          </p:stCondLst>
                                        </p:cTn>
                                        <p:tgtEl>
                                          <p:spTgt spid="17"/>
                                        </p:tgtEl>
                                        <p:attrNameLst>
                                          <p:attrName>style.visibility</p:attrName>
                                        </p:attrNameLst>
                                      </p:cBhvr>
                                      <p:to>
                                        <p:strVal val="hidden"/>
                                      </p:to>
                                    </p:set>
                                  </p:childTnLst>
                                </p:cTn>
                              </p:par>
                              <p:par>
                                <p:cTn id="8" presetID="10" presetClass="exit" presetSubtype="0" fill="hold" grpId="0" nodeType="withEffect">
                                  <p:stCondLst>
                                    <p:cond delay="0"/>
                                  </p:stCondLst>
                                  <p:childTnLst>
                                    <p:animEffect transition="out" filter="fade">
                                      <p:cBhvr>
                                        <p:cTn id="9" dur="500"/>
                                        <p:tgtEl>
                                          <p:spTgt spid="16"/>
                                        </p:tgtEl>
                                      </p:cBhvr>
                                    </p:animEffect>
                                    <p:set>
                                      <p:cBhvr>
                                        <p:cTn id="10" dur="1" fill="hold">
                                          <p:stCondLst>
                                            <p:cond delay="499"/>
                                          </p:stCondLst>
                                        </p:cTn>
                                        <p:tgtEl>
                                          <p:spTgt spid="16"/>
                                        </p:tgtEl>
                                        <p:attrNameLst>
                                          <p:attrName>style.visibility</p:attrName>
                                        </p:attrNameLst>
                                      </p:cBhvr>
                                      <p:to>
                                        <p:strVal val="hidden"/>
                                      </p:to>
                                    </p:set>
                                  </p:childTnLst>
                                </p:cTn>
                              </p:par>
                              <p:par>
                                <p:cTn id="11" presetID="10" presetClass="exit" presetSubtype="0" fill="hold" grpId="0" nodeType="withEffect">
                                  <p:stCondLst>
                                    <p:cond delay="0"/>
                                  </p:stCondLst>
                                  <p:childTnLst>
                                    <p:animEffect transition="out" filter="fade">
                                      <p:cBhvr>
                                        <p:cTn id="12" dur="500"/>
                                        <p:tgtEl>
                                          <p:spTgt spid="15"/>
                                        </p:tgtEl>
                                      </p:cBhvr>
                                    </p:animEffect>
                                    <p:set>
                                      <p:cBhvr>
                                        <p:cTn id="13" dur="1" fill="hold">
                                          <p:stCondLst>
                                            <p:cond delay="499"/>
                                          </p:stCondLst>
                                        </p:cTn>
                                        <p:tgtEl>
                                          <p:spTgt spid="15"/>
                                        </p:tgtEl>
                                        <p:attrNameLst>
                                          <p:attrName>style.visibility</p:attrName>
                                        </p:attrNameLst>
                                      </p:cBhvr>
                                      <p:to>
                                        <p:strVal val="hidden"/>
                                      </p:to>
                                    </p:set>
                                  </p:childTnLst>
                                </p:cTn>
                              </p:par>
                              <p:par>
                                <p:cTn id="14" presetID="10" presetClass="exit" presetSubtype="0" fill="hold" grpId="0" nodeType="withEffect">
                                  <p:stCondLst>
                                    <p:cond delay="0"/>
                                  </p:stCondLst>
                                  <p:childTnLst>
                                    <p:animEffect transition="out" filter="fade">
                                      <p:cBhvr>
                                        <p:cTn id="15" dur="500"/>
                                        <p:tgtEl>
                                          <p:spTgt spid="21"/>
                                        </p:tgtEl>
                                      </p:cBhvr>
                                    </p:animEffect>
                                    <p:set>
                                      <p:cBhvr>
                                        <p:cTn id="16" dur="1" fill="hold">
                                          <p:stCondLst>
                                            <p:cond delay="499"/>
                                          </p:stCondLst>
                                        </p:cTn>
                                        <p:tgtEl>
                                          <p:spTgt spid="21"/>
                                        </p:tgtEl>
                                        <p:attrNameLst>
                                          <p:attrName>style.visibility</p:attrName>
                                        </p:attrNameLst>
                                      </p:cBhvr>
                                      <p:to>
                                        <p:strVal val="hidden"/>
                                      </p:to>
                                    </p:set>
                                  </p:childTnLst>
                                </p:cTn>
                              </p:par>
                              <p:par>
                                <p:cTn id="17" presetID="10" presetClass="exit" presetSubtype="0" fill="hold" nodeType="withEffect">
                                  <p:stCondLst>
                                    <p:cond delay="0"/>
                                  </p:stCondLst>
                                  <p:childTnLst>
                                    <p:animEffect transition="out" filter="fade">
                                      <p:cBhvr>
                                        <p:cTn id="18" dur="500"/>
                                        <p:tgtEl>
                                          <p:spTgt spid="29"/>
                                        </p:tgtEl>
                                      </p:cBhvr>
                                    </p:animEffect>
                                    <p:set>
                                      <p:cBhvr>
                                        <p:cTn id="19" dur="1" fill="hold">
                                          <p:stCondLst>
                                            <p:cond delay="499"/>
                                          </p:stCondLst>
                                        </p:cTn>
                                        <p:tgtEl>
                                          <p:spTgt spid="29"/>
                                        </p:tgtEl>
                                        <p:attrNameLst>
                                          <p:attrName>style.visibility</p:attrName>
                                        </p:attrNameLst>
                                      </p:cBhvr>
                                      <p:to>
                                        <p:strVal val="hidden"/>
                                      </p:to>
                                    </p:set>
                                  </p:childTnLst>
                                </p:cTn>
                              </p:par>
                              <p:par>
                                <p:cTn id="20" presetID="10" presetClass="exit" presetSubtype="0" fill="hold" nodeType="withEffect">
                                  <p:stCondLst>
                                    <p:cond delay="0"/>
                                  </p:stCondLst>
                                  <p:childTnLst>
                                    <p:animEffect transition="out" filter="fade">
                                      <p:cBhvr>
                                        <p:cTn id="21" dur="500"/>
                                        <p:tgtEl>
                                          <p:spTgt spid="13"/>
                                        </p:tgtEl>
                                      </p:cBhvr>
                                    </p:animEffect>
                                    <p:set>
                                      <p:cBhvr>
                                        <p:cTn id="22" dur="1" fill="hold">
                                          <p:stCondLst>
                                            <p:cond delay="499"/>
                                          </p:stCondLst>
                                        </p:cTn>
                                        <p:tgtEl>
                                          <p:spTgt spid="13"/>
                                        </p:tgtEl>
                                        <p:attrNameLst>
                                          <p:attrName>style.visibility</p:attrName>
                                        </p:attrNameLst>
                                      </p:cBhvr>
                                      <p:to>
                                        <p:strVal val="hidden"/>
                                      </p:to>
                                    </p:set>
                                  </p:childTnLst>
                                </p:cTn>
                              </p:par>
                              <p:par>
                                <p:cTn id="23" presetID="10" presetClass="exit" presetSubtype="0" fill="hold" grpId="0" nodeType="withEffect">
                                  <p:stCondLst>
                                    <p:cond delay="0"/>
                                  </p:stCondLst>
                                  <p:childTnLst>
                                    <p:animEffect transition="out" filter="fade">
                                      <p:cBhvr>
                                        <p:cTn id="24" dur="500"/>
                                        <p:tgtEl>
                                          <p:spTgt spid="14"/>
                                        </p:tgtEl>
                                      </p:cBhvr>
                                    </p:animEffect>
                                    <p:set>
                                      <p:cBhvr>
                                        <p:cTn id="25" dur="1" fill="hold">
                                          <p:stCondLst>
                                            <p:cond delay="499"/>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animBg="1"/>
      <p:bldP spid="16" grpId="0" animBg="1"/>
      <p:bldP spid="17" grpId="0" animBg="1"/>
      <p:bldP spid="21"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2559E7D0-7987-45FB-ADFA-76FF10705580}" type="slidenum">
              <a:rPr lang="en-US" smtClean="0"/>
              <a:t>22</a:t>
            </a:fld>
            <a:endParaRPr lang="en-US"/>
          </a:p>
        </p:txBody>
      </p:sp>
      <p:sp>
        <p:nvSpPr>
          <p:cNvPr id="3" name="Title 2"/>
          <p:cNvSpPr>
            <a:spLocks noGrp="1"/>
          </p:cNvSpPr>
          <p:nvPr>
            <p:ph type="title"/>
          </p:nvPr>
        </p:nvSpPr>
        <p:spPr/>
        <p:txBody>
          <a:bodyPr/>
          <a:lstStyle/>
          <a:p>
            <a:r>
              <a:rPr lang="en-US" dirty="0"/>
              <a:t>Uploading data using command line</a:t>
            </a:r>
          </a:p>
        </p:txBody>
      </p:sp>
      <p:sp>
        <p:nvSpPr>
          <p:cNvPr id="4" name="Content Placeholder 3"/>
          <p:cNvSpPr>
            <a:spLocks noGrp="1"/>
          </p:cNvSpPr>
          <p:nvPr>
            <p:ph sz="quarter" idx="13"/>
          </p:nvPr>
        </p:nvSpPr>
        <p:spPr>
          <a:xfrm>
            <a:off x="607484" y="1604434"/>
            <a:ext cx="11400452" cy="4567767"/>
          </a:xfrm>
        </p:spPr>
        <p:txBody>
          <a:bodyPr/>
          <a:lstStyle/>
          <a:p>
            <a:r>
              <a:rPr lang="en-US" dirty="0"/>
              <a:t>From the “target” machine on which data was collected:</a:t>
            </a:r>
          </a:p>
          <a:p>
            <a:pPr marL="0" lvl="1" indent="0">
              <a:buNone/>
            </a:pPr>
            <a:r>
              <a:rPr lang="en-US" dirty="0" err="1">
                <a:solidFill>
                  <a:schemeClr val="accent5"/>
                </a:solidFill>
                <a:latin typeface="Courier New" panose="02070309020205020404" pitchFamily="49" charset="0"/>
                <a:cs typeface="Courier New" panose="02070309020205020404" pitchFamily="49" charset="0"/>
              </a:rPr>
              <a:t>vpp</a:t>
            </a:r>
            <a:r>
              <a:rPr lang="en-US" dirty="0">
                <a:solidFill>
                  <a:schemeClr val="accent5"/>
                </a:solidFill>
                <a:latin typeface="Courier New" panose="02070309020205020404" pitchFamily="49" charset="0"/>
                <a:cs typeface="Courier New" panose="02070309020205020404" pitchFamily="49" charset="0"/>
              </a:rPr>
              <a:t>-collect-upload [-d target-directory] &lt;collection results&gt;</a:t>
            </a:r>
          </a:p>
          <a:p>
            <a:pPr marL="0" lvl="1" indent="0">
              <a:buNone/>
            </a:pPr>
            <a:r>
              <a:rPr lang="en-US" dirty="0"/>
              <a:t>Example:</a:t>
            </a:r>
          </a:p>
          <a:p>
            <a:pPr lvl="1">
              <a:buFont typeface="Wingdings" panose="05000000000000000000" pitchFamily="2" charset="2"/>
              <a:buChar char="Ø"/>
            </a:pPr>
            <a:r>
              <a:rPr lang="en-US" b="1" dirty="0" err="1">
                <a:latin typeface="Courier New" panose="02070309020205020404" pitchFamily="49" charset="0"/>
                <a:cs typeface="Courier New" panose="02070309020205020404" pitchFamily="49" charset="0"/>
              </a:rPr>
              <a:t>vpp</a:t>
            </a:r>
            <a:r>
              <a:rPr lang="en-US" b="1" dirty="0">
                <a:latin typeface="Courier New" panose="02070309020205020404" pitchFamily="49" charset="0"/>
                <a:cs typeface="Courier New" panose="02070309020205020404" pitchFamily="49" charset="0"/>
              </a:rPr>
              <a:t>-collect-upload sles12sp3_20181210-1329.tar.gz</a:t>
            </a:r>
          </a:p>
          <a:p>
            <a:pPr lvl="1">
              <a:buFont typeface="Wingdings" panose="05000000000000000000" pitchFamily="2" charset="2"/>
              <a:buChar char="Ø"/>
            </a:pPr>
            <a:r>
              <a:rPr lang="en-US" dirty="0">
                <a:latin typeface="Courier New" panose="02070309020205020404" pitchFamily="49" charset="0"/>
                <a:cs typeface="Courier New" panose="02070309020205020404" pitchFamily="49" charset="0"/>
              </a:rPr>
              <a:t>Please enter server name (): </a:t>
            </a:r>
            <a:r>
              <a:rPr lang="en-US" b="1" dirty="0">
                <a:latin typeface="Courier New" panose="02070309020205020404" pitchFamily="49" charset="0"/>
                <a:cs typeface="Courier New" panose="02070309020205020404" pitchFamily="49" charset="0"/>
              </a:rPr>
              <a:t>&lt;my-</a:t>
            </a:r>
            <a:r>
              <a:rPr lang="en-US" b="1" dirty="0" err="1">
                <a:latin typeface="Courier New" panose="02070309020205020404" pitchFamily="49" charset="0"/>
                <a:cs typeface="Courier New" panose="02070309020205020404" pitchFamily="49" charset="0"/>
              </a:rPr>
              <a:t>vppserver</a:t>
            </a:r>
            <a:r>
              <a:rPr lang="en-US" b="1" dirty="0">
                <a:latin typeface="Courier New" panose="02070309020205020404" pitchFamily="49" charset="0"/>
                <a:cs typeface="Courier New" panose="02070309020205020404" pitchFamily="49" charset="0"/>
              </a:rPr>
              <a:t>&gt;.intel.com&lt;Enter&gt;</a:t>
            </a:r>
          </a:p>
          <a:p>
            <a:pPr marL="0" lvl="1" indent="0">
              <a:buNone/>
            </a:pPr>
            <a:r>
              <a:rPr lang="en-US" dirty="0">
                <a:latin typeface="Courier New" panose="02070309020205020404" pitchFamily="49" charset="0"/>
                <a:cs typeface="Courier New" panose="02070309020205020404" pitchFamily="49" charset="0"/>
              </a:rPr>
              <a:t>Please enter server port (6543): </a:t>
            </a:r>
            <a:r>
              <a:rPr lang="en-US" b="1" dirty="0">
                <a:latin typeface="Courier New" panose="02070309020205020404" pitchFamily="49" charset="0"/>
                <a:cs typeface="Courier New" panose="02070309020205020404" pitchFamily="49" charset="0"/>
              </a:rPr>
              <a:t>&lt;Enter&gt;</a:t>
            </a:r>
          </a:p>
        </p:txBody>
      </p:sp>
      <p:sp>
        <p:nvSpPr>
          <p:cNvPr id="5" name="Footer Placeholder 4"/>
          <p:cNvSpPr>
            <a:spLocks noGrp="1"/>
          </p:cNvSpPr>
          <p:nvPr>
            <p:ph type="ftr" sz="quarter" idx="3"/>
          </p:nvPr>
        </p:nvSpPr>
        <p:spPr/>
        <p:txBody>
          <a:bodyPr/>
          <a:lstStyle/>
          <a:p>
            <a:r>
              <a:rPr lang="en-US"/>
              <a:t>Intel Confidential</a:t>
            </a:r>
          </a:p>
        </p:txBody>
      </p:sp>
    </p:spTree>
    <p:extLst>
      <p:ext uri="{BB962C8B-B14F-4D97-AF65-F5344CB8AC3E}">
        <p14:creationId xmlns:p14="http://schemas.microsoft.com/office/powerpoint/2010/main" val="1773887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2559E7D0-7987-45FB-ADFA-76FF10705580}" type="slidenum">
              <a:rPr lang="en-US" smtClean="0"/>
              <a:t>23</a:t>
            </a:fld>
            <a:endParaRPr lang="en-US"/>
          </a:p>
        </p:txBody>
      </p:sp>
      <p:sp>
        <p:nvSpPr>
          <p:cNvPr id="3" name="Title 2"/>
          <p:cNvSpPr>
            <a:spLocks noGrp="1"/>
          </p:cNvSpPr>
          <p:nvPr>
            <p:ph type="title"/>
          </p:nvPr>
        </p:nvSpPr>
        <p:spPr/>
        <p:txBody>
          <a:bodyPr/>
          <a:lstStyle/>
          <a:p>
            <a:r>
              <a:rPr lang="en-US" dirty="0"/>
              <a:t>Uploading data using web interface</a:t>
            </a:r>
          </a:p>
        </p:txBody>
      </p:sp>
      <p:sp>
        <p:nvSpPr>
          <p:cNvPr id="4" name="Content Placeholder 3"/>
          <p:cNvSpPr>
            <a:spLocks noGrp="1"/>
          </p:cNvSpPr>
          <p:nvPr>
            <p:ph sz="quarter" idx="13"/>
          </p:nvPr>
        </p:nvSpPr>
        <p:spPr>
          <a:xfrm>
            <a:off x="607484" y="1005306"/>
            <a:ext cx="10970683" cy="5166896"/>
          </a:xfrm>
        </p:spPr>
        <p:txBody>
          <a:bodyPr/>
          <a:lstStyle/>
          <a:p>
            <a:r>
              <a:rPr lang="en-US" dirty="0"/>
              <a:t>VTune Platform Profiler server can be started from VTune Amplifier itself.</a:t>
            </a:r>
          </a:p>
          <a:p>
            <a:r>
              <a:rPr lang="en-US" dirty="0"/>
              <a:t>From any machine that has access to the Platform Profiler Server:</a:t>
            </a:r>
          </a:p>
          <a:p>
            <a:pPr marL="457200" lvl="1" indent="-457200">
              <a:buAutoNum type="arabicParenBoth"/>
            </a:pPr>
            <a:r>
              <a:rPr lang="en-US" dirty="0"/>
              <a:t>Point your browser to the server, e.g. </a:t>
            </a:r>
            <a:r>
              <a:rPr lang="en-US" dirty="0">
                <a:hlinkClick r:id="rId2"/>
              </a:rPr>
              <a:t>http://&lt;my-vppserver&gt;.intel.com:6543</a:t>
            </a:r>
            <a:endParaRPr lang="en-US" dirty="0"/>
          </a:p>
          <a:p>
            <a:pPr marL="457200" lvl="1" indent="-457200">
              <a:buAutoNum type="arabicParenBoth"/>
            </a:pPr>
            <a:r>
              <a:rPr lang="en-US" dirty="0"/>
              <a:t>Click Upload at the top-right corner and select the file to upload:</a:t>
            </a:r>
          </a:p>
          <a:p>
            <a:pPr algn="ctr"/>
            <a:endParaRPr lang="en-US" sz="2800" dirty="0"/>
          </a:p>
          <a:p>
            <a:pPr algn="ctr"/>
            <a:endParaRPr lang="en-US" sz="2800" dirty="0"/>
          </a:p>
          <a:p>
            <a:pPr algn="ctr"/>
            <a:endParaRPr lang="en-US" sz="2800" dirty="0"/>
          </a:p>
        </p:txBody>
      </p:sp>
      <p:sp>
        <p:nvSpPr>
          <p:cNvPr id="5" name="Footer Placeholder 4"/>
          <p:cNvSpPr>
            <a:spLocks noGrp="1"/>
          </p:cNvSpPr>
          <p:nvPr>
            <p:ph type="ftr" sz="quarter" idx="3"/>
          </p:nvPr>
        </p:nvSpPr>
        <p:spPr/>
        <p:txBody>
          <a:bodyPr/>
          <a:lstStyle/>
          <a:p>
            <a:r>
              <a:rPr lang="en-US" dirty="0"/>
              <a:t>Intel Confidential</a:t>
            </a:r>
          </a:p>
        </p:txBody>
      </p:sp>
      <p:pic>
        <p:nvPicPr>
          <p:cNvPr id="6" name="Picture 5"/>
          <p:cNvPicPr>
            <a:picLocks noChangeAspect="1"/>
          </p:cNvPicPr>
          <p:nvPr/>
        </p:nvPicPr>
        <p:blipFill>
          <a:blip r:embed="rId3"/>
          <a:stretch>
            <a:fillRect/>
          </a:stretch>
        </p:blipFill>
        <p:spPr>
          <a:xfrm>
            <a:off x="2034640" y="3369927"/>
            <a:ext cx="5991760" cy="2184438"/>
          </a:xfrm>
          <a:prstGeom prst="rect">
            <a:avLst/>
          </a:prstGeom>
          <a:ln>
            <a:noFill/>
          </a:ln>
          <a:effectLst>
            <a:outerShdw blurRad="292100" dist="139700" dir="2700000" algn="tl" rotWithShape="0">
              <a:srgbClr val="333333">
                <a:alpha val="65000"/>
              </a:srgbClr>
            </a:outerShdw>
          </a:effectLst>
        </p:spPr>
      </p:pic>
      <p:sp>
        <p:nvSpPr>
          <p:cNvPr id="7" name="Rectangle 6"/>
          <p:cNvSpPr/>
          <p:nvPr/>
        </p:nvSpPr>
        <p:spPr>
          <a:xfrm>
            <a:off x="6201260" y="4674455"/>
            <a:ext cx="851203" cy="392131"/>
          </a:xfrm>
          <a:prstGeom prst="rect">
            <a:avLst/>
          </a:prstGeom>
          <a:no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en-US">
              <a:noFill/>
            </a:endParaRPr>
          </a:p>
        </p:txBody>
      </p:sp>
    </p:spTree>
    <p:extLst>
      <p:ext uri="{BB962C8B-B14F-4D97-AF65-F5344CB8AC3E}">
        <p14:creationId xmlns:p14="http://schemas.microsoft.com/office/powerpoint/2010/main" val="10806731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View the results</a:t>
            </a:r>
          </a:p>
        </p:txBody>
      </p:sp>
      <p:sp>
        <p:nvSpPr>
          <p:cNvPr id="2" name="Slide Number Placeholder 1"/>
          <p:cNvSpPr>
            <a:spLocks noGrp="1"/>
          </p:cNvSpPr>
          <p:nvPr>
            <p:ph type="sldNum" sz="quarter" idx="12"/>
          </p:nvPr>
        </p:nvSpPr>
        <p:spPr/>
        <p:txBody>
          <a:bodyPr/>
          <a:lstStyle/>
          <a:p>
            <a:fld id="{2559E7D0-7987-45FB-ADFA-76FF10705580}" type="slidenum">
              <a:rPr lang="en-US" smtClean="0"/>
              <a:t>24</a:t>
            </a:fld>
            <a:endParaRPr lang="en-US"/>
          </a:p>
        </p:txBody>
      </p:sp>
      <p:sp>
        <p:nvSpPr>
          <p:cNvPr id="5" name="Footer Placeholder 4"/>
          <p:cNvSpPr>
            <a:spLocks noGrp="1"/>
          </p:cNvSpPr>
          <p:nvPr>
            <p:ph type="ftr" sz="quarter" idx="3"/>
          </p:nvPr>
        </p:nvSpPr>
        <p:spPr/>
        <p:txBody>
          <a:bodyPr/>
          <a:lstStyle/>
          <a:p>
            <a:r>
              <a:rPr lang="en-US"/>
              <a:t>Intel Confidential</a:t>
            </a:r>
          </a:p>
        </p:txBody>
      </p:sp>
    </p:spTree>
    <p:extLst>
      <p:ext uri="{BB962C8B-B14F-4D97-AF65-F5344CB8AC3E}">
        <p14:creationId xmlns:p14="http://schemas.microsoft.com/office/powerpoint/2010/main" val="2527765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2559E7D0-7987-45FB-ADFA-76FF10705580}" type="slidenum">
              <a:rPr lang="en-US" smtClean="0"/>
              <a:t>25</a:t>
            </a:fld>
            <a:endParaRPr lang="en-US"/>
          </a:p>
        </p:txBody>
      </p:sp>
      <p:sp>
        <p:nvSpPr>
          <p:cNvPr id="3" name="Title 2"/>
          <p:cNvSpPr>
            <a:spLocks noGrp="1"/>
          </p:cNvSpPr>
          <p:nvPr>
            <p:ph type="title"/>
          </p:nvPr>
        </p:nvSpPr>
        <p:spPr>
          <a:xfrm>
            <a:off x="607484" y="411797"/>
            <a:ext cx="10972800" cy="965590"/>
          </a:xfrm>
        </p:spPr>
        <p:txBody>
          <a:bodyPr/>
          <a:lstStyle/>
          <a:p>
            <a:r>
              <a:rPr lang="en-US" dirty="0"/>
              <a:t>Workflow overview</a:t>
            </a:r>
          </a:p>
        </p:txBody>
      </p:sp>
      <p:sp>
        <p:nvSpPr>
          <p:cNvPr id="5" name="Footer Placeholder 4"/>
          <p:cNvSpPr>
            <a:spLocks noGrp="1"/>
          </p:cNvSpPr>
          <p:nvPr>
            <p:ph type="ftr" sz="quarter" idx="3"/>
          </p:nvPr>
        </p:nvSpPr>
        <p:spPr/>
        <p:txBody>
          <a:bodyPr/>
          <a:lstStyle/>
          <a:p>
            <a:r>
              <a:rPr lang="en-US"/>
              <a:t>Intel Confidential</a:t>
            </a:r>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73621" y="3195416"/>
            <a:ext cx="1438325" cy="1380792"/>
          </a:xfrm>
          <a:prstGeom prst="rect">
            <a:avLst/>
          </a:prstGeom>
        </p:spPr>
      </p:pic>
      <p:pic>
        <p:nvPicPr>
          <p:cNvPr id="9" name="Pictur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73621" y="4576208"/>
            <a:ext cx="1438325" cy="1380792"/>
          </a:xfrm>
          <a:prstGeom prst="rect">
            <a:avLst/>
          </a:prstGeom>
        </p:spPr>
      </p:pic>
      <p:sp>
        <p:nvSpPr>
          <p:cNvPr id="10" name="TextBox 9"/>
          <p:cNvSpPr txBox="1"/>
          <p:nvPr/>
        </p:nvSpPr>
        <p:spPr>
          <a:xfrm>
            <a:off x="378884" y="6011864"/>
            <a:ext cx="2027799" cy="215444"/>
          </a:xfrm>
          <a:prstGeom prst="rect">
            <a:avLst/>
          </a:prstGeom>
          <a:noFill/>
        </p:spPr>
        <p:txBody>
          <a:bodyPr vert="horz" wrap="none" lIns="0" tIns="0" rIns="0" bIns="0" rtlCol="0">
            <a:spAutoFit/>
          </a:bodyPr>
          <a:lstStyle/>
          <a:p>
            <a:r>
              <a:rPr lang="en-US" sz="1400" dirty="0">
                <a:solidFill>
                  <a:srgbClr val="003C71"/>
                </a:solidFill>
              </a:rPr>
              <a:t>Data Collection “Targets”</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311172" y="3228412"/>
            <a:ext cx="2015177" cy="2322576"/>
          </a:xfrm>
          <a:prstGeom prst="rect">
            <a:avLst/>
          </a:prstGeom>
        </p:spPr>
      </p:pic>
      <p:sp>
        <p:nvSpPr>
          <p:cNvPr id="12" name="TextBox 11"/>
          <p:cNvSpPr txBox="1"/>
          <p:nvPr/>
        </p:nvSpPr>
        <p:spPr>
          <a:xfrm>
            <a:off x="4359363" y="5569276"/>
            <a:ext cx="1918795" cy="215444"/>
          </a:xfrm>
          <a:prstGeom prst="rect">
            <a:avLst/>
          </a:prstGeom>
          <a:noFill/>
        </p:spPr>
        <p:txBody>
          <a:bodyPr vert="horz" wrap="none" lIns="0" tIns="0" rIns="0" bIns="0" rtlCol="0">
            <a:spAutoFit/>
          </a:bodyPr>
          <a:lstStyle/>
          <a:p>
            <a:r>
              <a:rPr lang="en-US" sz="1400" dirty="0">
                <a:solidFill>
                  <a:srgbClr val="003C71"/>
                </a:solidFill>
              </a:rPr>
              <a:t>Platform Profiler Server</a:t>
            </a:r>
          </a:p>
        </p:txBody>
      </p:sp>
      <p:pic>
        <p:nvPicPr>
          <p:cNvPr id="13" name="Picture 1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64055" y="3395206"/>
            <a:ext cx="2512785" cy="2281792"/>
          </a:xfrm>
          <a:prstGeom prst="rect">
            <a:avLst/>
          </a:prstGeom>
        </p:spPr>
      </p:pic>
      <p:sp>
        <p:nvSpPr>
          <p:cNvPr id="14" name="TextBox 13"/>
          <p:cNvSpPr txBox="1"/>
          <p:nvPr/>
        </p:nvSpPr>
        <p:spPr>
          <a:xfrm>
            <a:off x="9041763" y="5784720"/>
            <a:ext cx="1157368" cy="215444"/>
          </a:xfrm>
          <a:prstGeom prst="rect">
            <a:avLst/>
          </a:prstGeom>
          <a:noFill/>
        </p:spPr>
        <p:txBody>
          <a:bodyPr vert="horz" wrap="none" lIns="0" tIns="0" rIns="0" bIns="0" rtlCol="0">
            <a:spAutoFit/>
          </a:bodyPr>
          <a:lstStyle/>
          <a:p>
            <a:r>
              <a:rPr lang="en-US" sz="1400" dirty="0">
                <a:solidFill>
                  <a:srgbClr val="003C71"/>
                </a:solidFill>
              </a:rPr>
              <a:t>Web-based UI</a:t>
            </a:r>
          </a:p>
        </p:txBody>
      </p:sp>
      <p:sp>
        <p:nvSpPr>
          <p:cNvPr id="15" name="TextBox 14"/>
          <p:cNvSpPr txBox="1"/>
          <p:nvPr/>
        </p:nvSpPr>
        <p:spPr>
          <a:xfrm>
            <a:off x="4407554" y="1160817"/>
            <a:ext cx="3693640" cy="430887"/>
          </a:xfrm>
          <a:prstGeom prst="rect">
            <a:avLst/>
          </a:prstGeom>
          <a:noFill/>
          <a:ln>
            <a:solidFill>
              <a:schemeClr val="tx2"/>
            </a:solidFill>
          </a:ln>
        </p:spPr>
        <p:txBody>
          <a:bodyPr vert="horz" wrap="none" lIns="91440" tIns="91440" rIns="91440" bIns="91440" rtlCol="0">
            <a:spAutoFit/>
          </a:bodyPr>
          <a:lstStyle/>
          <a:p>
            <a:pPr marL="342900" indent="-342900">
              <a:buAutoNum type="arabicPeriod"/>
            </a:pPr>
            <a:r>
              <a:rPr lang="en-US" sz="1600" dirty="0">
                <a:solidFill>
                  <a:srgbClr val="003C71"/>
                </a:solidFill>
              </a:rPr>
              <a:t>Install the Platform Profiler Server</a:t>
            </a:r>
          </a:p>
        </p:txBody>
      </p:sp>
      <p:sp>
        <p:nvSpPr>
          <p:cNvPr id="16" name="TextBox 15"/>
          <p:cNvSpPr txBox="1"/>
          <p:nvPr/>
        </p:nvSpPr>
        <p:spPr>
          <a:xfrm>
            <a:off x="601804" y="1160817"/>
            <a:ext cx="3422732" cy="430887"/>
          </a:xfrm>
          <a:prstGeom prst="rect">
            <a:avLst/>
          </a:prstGeom>
          <a:noFill/>
          <a:ln>
            <a:solidFill>
              <a:schemeClr val="tx2"/>
            </a:solidFill>
          </a:ln>
        </p:spPr>
        <p:txBody>
          <a:bodyPr vert="horz" wrap="none" lIns="91440" tIns="91440" rIns="91440" bIns="91440" rtlCol="0">
            <a:spAutoFit/>
          </a:bodyPr>
          <a:lstStyle/>
          <a:p>
            <a:r>
              <a:rPr lang="en-US" sz="1600" dirty="0">
                <a:solidFill>
                  <a:srgbClr val="003C71"/>
                </a:solidFill>
              </a:rPr>
              <a:t>2. Install data collector on “targets”</a:t>
            </a:r>
          </a:p>
        </p:txBody>
      </p:sp>
      <p:sp>
        <p:nvSpPr>
          <p:cNvPr id="17" name="TextBox 16"/>
          <p:cNvSpPr txBox="1"/>
          <p:nvPr/>
        </p:nvSpPr>
        <p:spPr>
          <a:xfrm>
            <a:off x="601804" y="2492897"/>
            <a:ext cx="1503938" cy="430887"/>
          </a:xfrm>
          <a:prstGeom prst="rect">
            <a:avLst/>
          </a:prstGeom>
          <a:noFill/>
          <a:ln>
            <a:solidFill>
              <a:schemeClr val="tx2"/>
            </a:solidFill>
          </a:ln>
        </p:spPr>
        <p:txBody>
          <a:bodyPr vert="horz" wrap="none" lIns="91440" tIns="91440" rIns="91440" bIns="91440" rtlCol="0">
            <a:spAutoFit/>
          </a:bodyPr>
          <a:lstStyle/>
          <a:p>
            <a:r>
              <a:rPr lang="en-US" sz="1600" dirty="0">
                <a:solidFill>
                  <a:srgbClr val="003C71"/>
                </a:solidFill>
              </a:rPr>
              <a:t>3. Collect data</a:t>
            </a:r>
          </a:p>
        </p:txBody>
      </p:sp>
      <p:pic>
        <p:nvPicPr>
          <p:cNvPr id="18" name="Picture 1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019469" y="3584454"/>
            <a:ext cx="507993" cy="507993"/>
          </a:xfrm>
          <a:prstGeom prst="rect">
            <a:avLst/>
          </a:prstGeom>
        </p:spPr>
      </p:pic>
      <p:pic>
        <p:nvPicPr>
          <p:cNvPr id="19" name="Picture 1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019469" y="4911002"/>
            <a:ext cx="507993" cy="507993"/>
          </a:xfrm>
          <a:prstGeom prst="rect">
            <a:avLst/>
          </a:prstGeom>
        </p:spPr>
      </p:pic>
      <p:sp>
        <p:nvSpPr>
          <p:cNvPr id="20" name="TextBox 19"/>
          <p:cNvSpPr txBox="1"/>
          <p:nvPr/>
        </p:nvSpPr>
        <p:spPr>
          <a:xfrm>
            <a:off x="3655585" y="2492897"/>
            <a:ext cx="1532792" cy="430887"/>
          </a:xfrm>
          <a:prstGeom prst="rect">
            <a:avLst/>
          </a:prstGeom>
          <a:noFill/>
          <a:ln>
            <a:solidFill>
              <a:schemeClr val="tx2"/>
            </a:solidFill>
          </a:ln>
        </p:spPr>
        <p:txBody>
          <a:bodyPr vert="horz" wrap="none" lIns="91440" tIns="91440" rIns="91440" bIns="91440" rtlCol="0">
            <a:spAutoFit/>
          </a:bodyPr>
          <a:lstStyle/>
          <a:p>
            <a:r>
              <a:rPr lang="en-US" sz="1600" dirty="0">
                <a:solidFill>
                  <a:srgbClr val="003C71"/>
                </a:solidFill>
              </a:rPr>
              <a:t>4. Upload data</a:t>
            </a:r>
          </a:p>
        </p:txBody>
      </p:sp>
      <p:sp>
        <p:nvSpPr>
          <p:cNvPr id="21" name="TextBox 20"/>
          <p:cNvSpPr txBox="1"/>
          <p:nvPr/>
        </p:nvSpPr>
        <p:spPr>
          <a:xfrm>
            <a:off x="8364055" y="2492896"/>
            <a:ext cx="2674130" cy="430887"/>
          </a:xfrm>
          <a:prstGeom prst="rect">
            <a:avLst/>
          </a:prstGeom>
          <a:noFill/>
          <a:ln>
            <a:solidFill>
              <a:schemeClr val="tx2"/>
            </a:solidFill>
          </a:ln>
        </p:spPr>
        <p:txBody>
          <a:bodyPr vert="horz" wrap="none" lIns="91440" tIns="91440" rIns="91440" bIns="91440" rtlCol="0">
            <a:spAutoFit/>
          </a:bodyPr>
          <a:lstStyle/>
          <a:p>
            <a:r>
              <a:rPr lang="en-US" sz="1600" dirty="0">
                <a:solidFill>
                  <a:srgbClr val="003C71"/>
                </a:solidFill>
              </a:rPr>
              <a:t>5. View and analyze results</a:t>
            </a:r>
          </a:p>
        </p:txBody>
      </p:sp>
      <p:grpSp>
        <p:nvGrpSpPr>
          <p:cNvPr id="28" name="Group 27"/>
          <p:cNvGrpSpPr/>
          <p:nvPr/>
        </p:nvGrpSpPr>
        <p:grpSpPr>
          <a:xfrm>
            <a:off x="2527462" y="4137581"/>
            <a:ext cx="1894519" cy="252119"/>
            <a:chOff x="2527462" y="4137581"/>
            <a:chExt cx="1894519" cy="252119"/>
          </a:xfrm>
        </p:grpSpPr>
        <p:cxnSp>
          <p:nvCxnSpPr>
            <p:cNvPr id="23" name="Straight Arrow Connector 22"/>
            <p:cNvCxnSpPr/>
            <p:nvPr/>
          </p:nvCxnSpPr>
          <p:spPr>
            <a:xfrm>
              <a:off x="2527462" y="4389700"/>
              <a:ext cx="1894519" cy="0"/>
            </a:xfrm>
            <a:prstGeom prst="straightConnector1">
              <a:avLst/>
            </a:prstGeom>
            <a:ln w="28575">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3191691" y="4137581"/>
              <a:ext cx="455253" cy="215444"/>
            </a:xfrm>
            <a:prstGeom prst="rect">
              <a:avLst/>
            </a:prstGeom>
            <a:noFill/>
          </p:spPr>
          <p:txBody>
            <a:bodyPr vert="horz" wrap="none" lIns="0" tIns="0" rIns="0" bIns="0" rtlCol="0">
              <a:spAutoFit/>
            </a:bodyPr>
            <a:lstStyle/>
            <a:p>
              <a:r>
                <a:rPr lang="en-US" sz="1400" dirty="0">
                  <a:solidFill>
                    <a:srgbClr val="003C71"/>
                  </a:solidFill>
                </a:rPr>
                <a:t>HTTP</a:t>
              </a:r>
            </a:p>
          </p:txBody>
        </p:sp>
      </p:grpSp>
      <p:grpSp>
        <p:nvGrpSpPr>
          <p:cNvPr id="29" name="Group 28"/>
          <p:cNvGrpSpPr/>
          <p:nvPr/>
        </p:nvGrpSpPr>
        <p:grpSpPr>
          <a:xfrm>
            <a:off x="6326349" y="4137581"/>
            <a:ext cx="2965810" cy="255014"/>
            <a:chOff x="6326349" y="4137581"/>
            <a:chExt cx="2965810" cy="255014"/>
          </a:xfrm>
        </p:grpSpPr>
        <p:cxnSp>
          <p:nvCxnSpPr>
            <p:cNvPr id="25" name="Straight Arrow Connector 24"/>
            <p:cNvCxnSpPr>
              <a:stCxn id="11" idx="3"/>
            </p:cNvCxnSpPr>
            <p:nvPr/>
          </p:nvCxnSpPr>
          <p:spPr>
            <a:xfrm>
              <a:off x="6326349" y="4389700"/>
              <a:ext cx="2965810" cy="2895"/>
            </a:xfrm>
            <a:prstGeom prst="straightConnector1">
              <a:avLst/>
            </a:prstGeom>
            <a:ln w="28575">
              <a:solidFill>
                <a:schemeClr val="tx2"/>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7567420" y="4137581"/>
              <a:ext cx="455253" cy="215444"/>
            </a:xfrm>
            <a:prstGeom prst="rect">
              <a:avLst/>
            </a:prstGeom>
            <a:noFill/>
          </p:spPr>
          <p:txBody>
            <a:bodyPr vert="horz" wrap="none" lIns="0" tIns="0" rIns="0" bIns="0" rtlCol="0">
              <a:spAutoFit/>
            </a:bodyPr>
            <a:lstStyle/>
            <a:p>
              <a:r>
                <a:rPr lang="en-US" sz="1400" dirty="0">
                  <a:solidFill>
                    <a:srgbClr val="003C71"/>
                  </a:solidFill>
                </a:rPr>
                <a:t>HTTP</a:t>
              </a:r>
            </a:p>
          </p:txBody>
        </p:sp>
      </p:grpSp>
    </p:spTree>
    <p:extLst>
      <p:ext uri="{BB962C8B-B14F-4D97-AF65-F5344CB8AC3E}">
        <p14:creationId xmlns:p14="http://schemas.microsoft.com/office/powerpoint/2010/main" val="1382900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28"/>
                                        </p:tgtEl>
                                      </p:cBhvr>
                                    </p:animEffect>
                                    <p:set>
                                      <p:cBhvr>
                                        <p:cTn id="7" dur="1" fill="hold">
                                          <p:stCondLst>
                                            <p:cond delay="499"/>
                                          </p:stCondLst>
                                        </p:cTn>
                                        <p:tgtEl>
                                          <p:spTgt spid="28"/>
                                        </p:tgtEl>
                                        <p:attrNameLst>
                                          <p:attrName>style.visibility</p:attrName>
                                        </p:attrNameLst>
                                      </p:cBhvr>
                                      <p:to>
                                        <p:strVal val="hidden"/>
                                      </p:to>
                                    </p:set>
                                  </p:childTnLst>
                                </p:cTn>
                              </p:par>
                              <p:par>
                                <p:cTn id="8" presetID="10" presetClass="exit" presetSubtype="0" fill="hold" nodeType="withEffect">
                                  <p:stCondLst>
                                    <p:cond delay="0"/>
                                  </p:stCondLst>
                                  <p:childTnLst>
                                    <p:animEffect transition="out" filter="fade">
                                      <p:cBhvr>
                                        <p:cTn id="9" dur="500"/>
                                        <p:tgtEl>
                                          <p:spTgt spid="9"/>
                                        </p:tgtEl>
                                      </p:cBhvr>
                                    </p:animEffect>
                                    <p:set>
                                      <p:cBhvr>
                                        <p:cTn id="10" dur="1" fill="hold">
                                          <p:stCondLst>
                                            <p:cond delay="499"/>
                                          </p:stCondLst>
                                        </p:cTn>
                                        <p:tgtEl>
                                          <p:spTgt spid="9"/>
                                        </p:tgtEl>
                                        <p:attrNameLst>
                                          <p:attrName>style.visibility</p:attrName>
                                        </p:attrNameLst>
                                      </p:cBhvr>
                                      <p:to>
                                        <p:strVal val="hidden"/>
                                      </p:to>
                                    </p:set>
                                  </p:childTnLst>
                                </p:cTn>
                              </p:par>
                              <p:par>
                                <p:cTn id="11" presetID="10" presetClass="exit" presetSubtype="0" fill="hold" nodeType="withEffect">
                                  <p:stCondLst>
                                    <p:cond delay="0"/>
                                  </p:stCondLst>
                                  <p:childTnLst>
                                    <p:animEffect transition="out" filter="fade">
                                      <p:cBhvr>
                                        <p:cTn id="12" dur="500"/>
                                        <p:tgtEl>
                                          <p:spTgt spid="19"/>
                                        </p:tgtEl>
                                      </p:cBhvr>
                                    </p:animEffect>
                                    <p:set>
                                      <p:cBhvr>
                                        <p:cTn id="13" dur="1" fill="hold">
                                          <p:stCondLst>
                                            <p:cond delay="499"/>
                                          </p:stCondLst>
                                        </p:cTn>
                                        <p:tgtEl>
                                          <p:spTgt spid="19"/>
                                        </p:tgtEl>
                                        <p:attrNameLst>
                                          <p:attrName>style.visibility</p:attrName>
                                        </p:attrNameLst>
                                      </p:cBhvr>
                                      <p:to>
                                        <p:strVal val="hidden"/>
                                      </p:to>
                                    </p:set>
                                  </p:childTnLst>
                                </p:cTn>
                              </p:par>
                              <p:par>
                                <p:cTn id="14" presetID="10" presetClass="exit" presetSubtype="0" fill="hold" nodeType="withEffect">
                                  <p:stCondLst>
                                    <p:cond delay="0"/>
                                  </p:stCondLst>
                                  <p:childTnLst>
                                    <p:animEffect transition="out" filter="fade">
                                      <p:cBhvr>
                                        <p:cTn id="15" dur="500"/>
                                        <p:tgtEl>
                                          <p:spTgt spid="18"/>
                                        </p:tgtEl>
                                      </p:cBhvr>
                                    </p:animEffect>
                                    <p:set>
                                      <p:cBhvr>
                                        <p:cTn id="16" dur="1" fill="hold">
                                          <p:stCondLst>
                                            <p:cond delay="499"/>
                                          </p:stCondLst>
                                        </p:cTn>
                                        <p:tgtEl>
                                          <p:spTgt spid="18"/>
                                        </p:tgtEl>
                                        <p:attrNameLst>
                                          <p:attrName>style.visibility</p:attrName>
                                        </p:attrNameLst>
                                      </p:cBhvr>
                                      <p:to>
                                        <p:strVal val="hidden"/>
                                      </p:to>
                                    </p:set>
                                  </p:childTnLst>
                                </p:cTn>
                              </p:par>
                              <p:par>
                                <p:cTn id="17" presetID="10" presetClass="exit" presetSubtype="0" fill="hold" nodeType="withEffect">
                                  <p:stCondLst>
                                    <p:cond delay="0"/>
                                  </p:stCondLst>
                                  <p:childTnLst>
                                    <p:animEffect transition="out" filter="fade">
                                      <p:cBhvr>
                                        <p:cTn id="18" dur="500"/>
                                        <p:tgtEl>
                                          <p:spTgt spid="8"/>
                                        </p:tgtEl>
                                      </p:cBhvr>
                                    </p:animEffect>
                                    <p:set>
                                      <p:cBhvr>
                                        <p:cTn id="19" dur="1" fill="hold">
                                          <p:stCondLst>
                                            <p:cond delay="499"/>
                                          </p:stCondLst>
                                        </p:cTn>
                                        <p:tgtEl>
                                          <p:spTgt spid="8"/>
                                        </p:tgtEl>
                                        <p:attrNameLst>
                                          <p:attrName>style.visibility</p:attrName>
                                        </p:attrNameLst>
                                      </p:cBhvr>
                                      <p:to>
                                        <p:strVal val="hidden"/>
                                      </p:to>
                                    </p:set>
                                  </p:childTnLst>
                                </p:cTn>
                              </p:par>
                              <p:par>
                                <p:cTn id="20" presetID="10" presetClass="exit" presetSubtype="0" fill="hold" grpId="0" nodeType="withEffect">
                                  <p:stCondLst>
                                    <p:cond delay="0"/>
                                  </p:stCondLst>
                                  <p:childTnLst>
                                    <p:animEffect transition="out" filter="fade">
                                      <p:cBhvr>
                                        <p:cTn id="21" dur="500"/>
                                        <p:tgtEl>
                                          <p:spTgt spid="17"/>
                                        </p:tgtEl>
                                      </p:cBhvr>
                                    </p:animEffect>
                                    <p:set>
                                      <p:cBhvr>
                                        <p:cTn id="22" dur="1" fill="hold">
                                          <p:stCondLst>
                                            <p:cond delay="499"/>
                                          </p:stCondLst>
                                        </p:cTn>
                                        <p:tgtEl>
                                          <p:spTgt spid="17"/>
                                        </p:tgtEl>
                                        <p:attrNameLst>
                                          <p:attrName>style.visibility</p:attrName>
                                        </p:attrNameLst>
                                      </p:cBhvr>
                                      <p:to>
                                        <p:strVal val="hidden"/>
                                      </p:to>
                                    </p:set>
                                  </p:childTnLst>
                                </p:cTn>
                              </p:par>
                              <p:par>
                                <p:cTn id="23" presetID="10" presetClass="exit" presetSubtype="0" fill="hold" grpId="0" nodeType="withEffect">
                                  <p:stCondLst>
                                    <p:cond delay="0"/>
                                  </p:stCondLst>
                                  <p:childTnLst>
                                    <p:animEffect transition="out" filter="fade">
                                      <p:cBhvr>
                                        <p:cTn id="24" dur="500"/>
                                        <p:tgtEl>
                                          <p:spTgt spid="20"/>
                                        </p:tgtEl>
                                      </p:cBhvr>
                                    </p:animEffect>
                                    <p:set>
                                      <p:cBhvr>
                                        <p:cTn id="25" dur="1" fill="hold">
                                          <p:stCondLst>
                                            <p:cond delay="499"/>
                                          </p:stCondLst>
                                        </p:cTn>
                                        <p:tgtEl>
                                          <p:spTgt spid="20"/>
                                        </p:tgtEl>
                                        <p:attrNameLst>
                                          <p:attrName>style.visibility</p:attrName>
                                        </p:attrNameLst>
                                      </p:cBhvr>
                                      <p:to>
                                        <p:strVal val="hidden"/>
                                      </p:to>
                                    </p:set>
                                  </p:childTnLst>
                                </p:cTn>
                              </p:par>
                              <p:par>
                                <p:cTn id="26" presetID="10" presetClass="exit" presetSubtype="0" fill="hold" grpId="0" nodeType="withEffect">
                                  <p:stCondLst>
                                    <p:cond delay="0"/>
                                  </p:stCondLst>
                                  <p:childTnLst>
                                    <p:animEffect transition="out" filter="fade">
                                      <p:cBhvr>
                                        <p:cTn id="27" dur="500"/>
                                        <p:tgtEl>
                                          <p:spTgt spid="16"/>
                                        </p:tgtEl>
                                      </p:cBhvr>
                                    </p:animEffect>
                                    <p:set>
                                      <p:cBhvr>
                                        <p:cTn id="28" dur="1" fill="hold">
                                          <p:stCondLst>
                                            <p:cond delay="499"/>
                                          </p:stCondLst>
                                        </p:cTn>
                                        <p:tgtEl>
                                          <p:spTgt spid="16"/>
                                        </p:tgtEl>
                                        <p:attrNameLst>
                                          <p:attrName>style.visibility</p:attrName>
                                        </p:attrNameLst>
                                      </p:cBhvr>
                                      <p:to>
                                        <p:strVal val="hidden"/>
                                      </p:to>
                                    </p:set>
                                  </p:childTnLst>
                                </p:cTn>
                              </p:par>
                              <p:par>
                                <p:cTn id="29" presetID="10" presetClass="exit" presetSubtype="0" fill="hold" grpId="0" nodeType="withEffect">
                                  <p:stCondLst>
                                    <p:cond delay="0"/>
                                  </p:stCondLst>
                                  <p:childTnLst>
                                    <p:animEffect transition="out" filter="fade">
                                      <p:cBhvr>
                                        <p:cTn id="30" dur="500"/>
                                        <p:tgtEl>
                                          <p:spTgt spid="15"/>
                                        </p:tgtEl>
                                      </p:cBhvr>
                                    </p:animEffect>
                                    <p:set>
                                      <p:cBhvr>
                                        <p:cTn id="31" dur="1" fill="hold">
                                          <p:stCondLst>
                                            <p:cond delay="499"/>
                                          </p:stCondLst>
                                        </p:cTn>
                                        <p:tgtEl>
                                          <p:spTgt spid="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20"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2559E7D0-7987-45FB-ADFA-76FF10705580}" type="slidenum">
              <a:rPr lang="en-US" smtClean="0"/>
              <a:t>26</a:t>
            </a:fld>
            <a:endParaRPr lang="en-US"/>
          </a:p>
        </p:txBody>
      </p:sp>
      <p:sp>
        <p:nvSpPr>
          <p:cNvPr id="3" name="Title 2"/>
          <p:cNvSpPr>
            <a:spLocks noGrp="1"/>
          </p:cNvSpPr>
          <p:nvPr>
            <p:ph type="title"/>
          </p:nvPr>
        </p:nvSpPr>
        <p:spPr/>
        <p:txBody>
          <a:bodyPr/>
          <a:lstStyle/>
          <a:p>
            <a:r>
              <a:rPr lang="en-US" dirty="0"/>
              <a:t>Viewing and analyzing results</a:t>
            </a:r>
          </a:p>
        </p:txBody>
      </p:sp>
      <p:sp>
        <p:nvSpPr>
          <p:cNvPr id="4" name="Content Placeholder 3"/>
          <p:cNvSpPr>
            <a:spLocks noGrp="1"/>
          </p:cNvSpPr>
          <p:nvPr>
            <p:ph sz="quarter" idx="13"/>
          </p:nvPr>
        </p:nvSpPr>
        <p:spPr>
          <a:xfrm>
            <a:off x="607484" y="1604434"/>
            <a:ext cx="10970683" cy="1674379"/>
          </a:xfrm>
        </p:spPr>
        <p:txBody>
          <a:bodyPr/>
          <a:lstStyle/>
          <a:p>
            <a:r>
              <a:rPr lang="en-US" dirty="0"/>
              <a:t>From any machine that has access to the Platform Profiler Server:</a:t>
            </a:r>
          </a:p>
          <a:p>
            <a:pPr marL="457200" lvl="1" indent="-457200">
              <a:buAutoNum type="arabicParenBoth"/>
            </a:pPr>
            <a:r>
              <a:rPr lang="en-US" dirty="0"/>
              <a:t>Point your browser to the server, e.g. </a:t>
            </a:r>
            <a:r>
              <a:rPr lang="en-US" dirty="0">
                <a:hlinkClick r:id="rId2"/>
              </a:rPr>
              <a:t>http://&lt;my-vppserver&gt;.intel.com:6543</a:t>
            </a:r>
            <a:endParaRPr lang="en-US" dirty="0"/>
          </a:p>
          <a:p>
            <a:pPr marL="457200" lvl="1" indent="-457200">
              <a:buAutoNum type="arabicParenBoth"/>
            </a:pPr>
            <a:r>
              <a:rPr lang="en-US" dirty="0"/>
              <a:t>Select the results you want to view:</a:t>
            </a:r>
          </a:p>
          <a:p>
            <a:pPr algn="ctr"/>
            <a:endParaRPr lang="en-US" sz="2800" dirty="0"/>
          </a:p>
          <a:p>
            <a:pPr algn="ctr"/>
            <a:endParaRPr lang="en-US" sz="2800" dirty="0"/>
          </a:p>
          <a:p>
            <a:pPr algn="ctr"/>
            <a:endParaRPr lang="en-US" sz="2800" dirty="0"/>
          </a:p>
          <a:p>
            <a:pPr algn="ctr"/>
            <a:endParaRPr lang="en-US" sz="2800" dirty="0"/>
          </a:p>
        </p:txBody>
      </p:sp>
      <p:sp>
        <p:nvSpPr>
          <p:cNvPr id="5" name="Footer Placeholder 4"/>
          <p:cNvSpPr>
            <a:spLocks noGrp="1"/>
          </p:cNvSpPr>
          <p:nvPr>
            <p:ph type="ftr" sz="quarter" idx="3"/>
          </p:nvPr>
        </p:nvSpPr>
        <p:spPr/>
        <p:txBody>
          <a:bodyPr/>
          <a:lstStyle/>
          <a:p>
            <a:r>
              <a:rPr lang="en-US"/>
              <a:t>Intel Confidential</a:t>
            </a:r>
          </a:p>
        </p:txBody>
      </p:sp>
      <p:pic>
        <p:nvPicPr>
          <p:cNvPr id="8" name="Picture 7"/>
          <p:cNvPicPr>
            <a:picLocks noChangeAspect="1"/>
          </p:cNvPicPr>
          <p:nvPr/>
        </p:nvPicPr>
        <p:blipFill>
          <a:blip r:embed="rId3"/>
          <a:stretch>
            <a:fillRect/>
          </a:stretch>
        </p:blipFill>
        <p:spPr>
          <a:xfrm>
            <a:off x="607484" y="3691248"/>
            <a:ext cx="7830460" cy="2309650"/>
          </a:xfrm>
          <a:prstGeom prst="rect">
            <a:avLst/>
          </a:prstGeom>
          <a:ln>
            <a:noFill/>
          </a:ln>
          <a:effectLst>
            <a:outerShdw blurRad="292100" dist="139700" dir="2700000" algn="tl" rotWithShape="0">
              <a:srgbClr val="333333">
                <a:alpha val="65000"/>
              </a:srgbClr>
            </a:outerShdw>
          </a:effectLst>
        </p:spPr>
      </p:pic>
      <p:sp>
        <p:nvSpPr>
          <p:cNvPr id="10" name="Rectangle 9"/>
          <p:cNvSpPr/>
          <p:nvPr/>
        </p:nvSpPr>
        <p:spPr>
          <a:xfrm>
            <a:off x="1256513" y="4351316"/>
            <a:ext cx="2448512" cy="392131"/>
          </a:xfrm>
          <a:prstGeom prst="rect">
            <a:avLst/>
          </a:prstGeom>
          <a:no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en-US">
              <a:noFill/>
            </a:endParaRPr>
          </a:p>
        </p:txBody>
      </p:sp>
    </p:spTree>
    <p:extLst>
      <p:ext uri="{BB962C8B-B14F-4D97-AF65-F5344CB8AC3E}">
        <p14:creationId xmlns:p14="http://schemas.microsoft.com/office/powerpoint/2010/main" val="10884034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navigate the results</a:t>
            </a:r>
          </a:p>
        </p:txBody>
      </p:sp>
      <p:sp>
        <p:nvSpPr>
          <p:cNvPr id="2" name="Slide Number Placeholder 1"/>
          <p:cNvSpPr>
            <a:spLocks noGrp="1"/>
          </p:cNvSpPr>
          <p:nvPr>
            <p:ph type="sldNum" sz="quarter" idx="12"/>
          </p:nvPr>
        </p:nvSpPr>
        <p:spPr/>
        <p:txBody>
          <a:bodyPr/>
          <a:lstStyle/>
          <a:p>
            <a:fld id="{2559E7D0-7987-45FB-ADFA-76FF10705580}" type="slidenum">
              <a:rPr lang="en-US" smtClean="0"/>
              <a:t>27</a:t>
            </a:fld>
            <a:endParaRPr lang="en-US"/>
          </a:p>
        </p:txBody>
      </p:sp>
      <p:sp>
        <p:nvSpPr>
          <p:cNvPr id="5" name="Footer Placeholder 4"/>
          <p:cNvSpPr>
            <a:spLocks noGrp="1"/>
          </p:cNvSpPr>
          <p:nvPr>
            <p:ph type="ftr" sz="quarter" idx="3"/>
          </p:nvPr>
        </p:nvSpPr>
        <p:spPr/>
        <p:txBody>
          <a:bodyPr/>
          <a:lstStyle/>
          <a:p>
            <a:r>
              <a:rPr lang="en-US"/>
              <a:t>Intel Confidential</a:t>
            </a:r>
          </a:p>
        </p:txBody>
      </p:sp>
    </p:spTree>
    <p:extLst>
      <p:ext uri="{BB962C8B-B14F-4D97-AF65-F5344CB8AC3E}">
        <p14:creationId xmlns:p14="http://schemas.microsoft.com/office/powerpoint/2010/main" val="28785570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2559E7D0-7987-45FB-ADFA-76FF10705580}" type="slidenum">
              <a:rPr lang="en-US" smtClean="0"/>
              <a:t>28</a:t>
            </a:fld>
            <a:endParaRPr lang="en-US"/>
          </a:p>
        </p:txBody>
      </p:sp>
      <p:sp>
        <p:nvSpPr>
          <p:cNvPr id="5" name="Footer Placeholder 4"/>
          <p:cNvSpPr>
            <a:spLocks noGrp="1"/>
          </p:cNvSpPr>
          <p:nvPr>
            <p:ph type="ftr" sz="quarter" idx="3"/>
          </p:nvPr>
        </p:nvSpPr>
        <p:spPr/>
        <p:txBody>
          <a:bodyPr/>
          <a:lstStyle/>
          <a:p>
            <a:r>
              <a:rPr lang="en-US"/>
              <a:t>Intel Confidential</a:t>
            </a:r>
          </a:p>
        </p:txBody>
      </p:sp>
      <p:pic>
        <p:nvPicPr>
          <p:cNvPr id="6" name="Picture 5" descr="Screen Clipp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4832" y="0"/>
            <a:ext cx="8205386" cy="5601810"/>
          </a:xfrm>
          <a:prstGeom prst="rect">
            <a:avLst/>
          </a:prstGeom>
        </p:spPr>
      </p:pic>
      <p:sp>
        <p:nvSpPr>
          <p:cNvPr id="7" name="Rounded Rectangle 6"/>
          <p:cNvSpPr/>
          <p:nvPr/>
        </p:nvSpPr>
        <p:spPr>
          <a:xfrm>
            <a:off x="8913181" y="887767"/>
            <a:ext cx="2254928" cy="905522"/>
          </a:xfrm>
          <a:prstGeom prst="round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Name of data set</a:t>
            </a:r>
          </a:p>
          <a:p>
            <a:pPr algn="ctr"/>
            <a:r>
              <a:rPr lang="en-US" dirty="0"/>
              <a:t>Hover for details</a:t>
            </a:r>
          </a:p>
        </p:txBody>
      </p:sp>
      <p:cxnSp>
        <p:nvCxnSpPr>
          <p:cNvPr id="9" name="Straight Arrow Connector 8"/>
          <p:cNvCxnSpPr>
            <a:stCxn id="7" idx="1"/>
            <a:endCxn id="12" idx="3"/>
          </p:cNvCxnSpPr>
          <p:nvPr/>
        </p:nvCxnSpPr>
        <p:spPr>
          <a:xfrm flipH="1" flipV="1">
            <a:off x="3001918" y="186432"/>
            <a:ext cx="5911263" cy="1154096"/>
          </a:xfrm>
          <a:prstGeom prst="straightConnector1">
            <a:avLst/>
          </a:prstGeom>
          <a:ln>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26485" y="8878"/>
            <a:ext cx="2575433" cy="355107"/>
          </a:xfrm>
          <a:prstGeom prst="roundRect">
            <a:avLst/>
          </a:prstGeom>
          <a:no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ounded Rectangle 14"/>
          <p:cNvSpPr/>
          <p:nvPr/>
        </p:nvSpPr>
        <p:spPr>
          <a:xfrm>
            <a:off x="5389317" y="8878"/>
            <a:ext cx="1881496" cy="355107"/>
          </a:xfrm>
          <a:prstGeom prst="roundRect">
            <a:avLst/>
          </a:prstGeom>
          <a:no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Rounded Rectangle 16"/>
          <p:cNvSpPr/>
          <p:nvPr/>
        </p:nvSpPr>
        <p:spPr>
          <a:xfrm>
            <a:off x="8913181" y="208627"/>
            <a:ext cx="2254928" cy="481614"/>
          </a:xfrm>
          <a:prstGeom prst="round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Navigation – changes view</a:t>
            </a:r>
          </a:p>
        </p:txBody>
      </p:sp>
      <p:cxnSp>
        <p:nvCxnSpPr>
          <p:cNvPr id="18" name="Straight Arrow Connector 17"/>
          <p:cNvCxnSpPr>
            <a:stCxn id="17" idx="1"/>
          </p:cNvCxnSpPr>
          <p:nvPr/>
        </p:nvCxnSpPr>
        <p:spPr>
          <a:xfrm flipH="1" flipV="1">
            <a:off x="7270813" y="208627"/>
            <a:ext cx="1642368" cy="240807"/>
          </a:xfrm>
          <a:prstGeom prst="straightConnector1">
            <a:avLst/>
          </a:prstGeom>
          <a:ln>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8913181" y="2179467"/>
            <a:ext cx="2254928" cy="1049045"/>
          </a:xfrm>
          <a:prstGeom prst="round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Topology – Click through for deeper dive and to change view</a:t>
            </a:r>
          </a:p>
        </p:txBody>
      </p:sp>
      <p:sp>
        <p:nvSpPr>
          <p:cNvPr id="22" name="Right Brace 21"/>
          <p:cNvSpPr/>
          <p:nvPr/>
        </p:nvSpPr>
        <p:spPr>
          <a:xfrm>
            <a:off x="8605793" y="412904"/>
            <a:ext cx="199745" cy="1702291"/>
          </a:xfrm>
          <a:prstGeom prst="rightBrace">
            <a:avLst/>
          </a:prstGeom>
          <a:ln>
            <a:solidFill>
              <a:schemeClr val="tx2"/>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23" name="Straight Arrow Connector 22"/>
          <p:cNvCxnSpPr/>
          <p:nvPr/>
        </p:nvCxnSpPr>
        <p:spPr>
          <a:xfrm flipH="1" flipV="1">
            <a:off x="8706774" y="1425235"/>
            <a:ext cx="195309" cy="1016493"/>
          </a:xfrm>
          <a:prstGeom prst="straightConnector1">
            <a:avLst/>
          </a:prstGeom>
          <a:ln>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880940" y="2441728"/>
            <a:ext cx="1881496" cy="133165"/>
          </a:xfrm>
          <a:prstGeom prst="roundRect">
            <a:avLst/>
          </a:prstGeom>
          <a:no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Rounded Rectangle 26"/>
          <p:cNvSpPr/>
          <p:nvPr/>
        </p:nvSpPr>
        <p:spPr>
          <a:xfrm>
            <a:off x="7899616" y="2220526"/>
            <a:ext cx="720602" cy="355107"/>
          </a:xfrm>
          <a:prstGeom prst="roundRect">
            <a:avLst/>
          </a:prstGeom>
          <a:no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dirty="0"/>
          </a:p>
        </p:txBody>
      </p:sp>
      <p:sp>
        <p:nvSpPr>
          <p:cNvPr id="28" name="Rounded Rectangle 27"/>
          <p:cNvSpPr/>
          <p:nvPr/>
        </p:nvSpPr>
        <p:spPr>
          <a:xfrm>
            <a:off x="8915023" y="3951018"/>
            <a:ext cx="2326987" cy="910331"/>
          </a:xfrm>
          <a:prstGeom prst="round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Timeline markers from </a:t>
            </a:r>
            <a:br>
              <a:rPr lang="en-US" dirty="0"/>
            </a:br>
            <a:r>
              <a:rPr lang="en-US" dirty="0" err="1">
                <a:latin typeface="Consolas" panose="020B0609020204030204" pitchFamily="49" charset="0"/>
              </a:rPr>
              <a:t>vpp</a:t>
            </a:r>
            <a:r>
              <a:rPr lang="en-US" dirty="0">
                <a:latin typeface="Consolas" panose="020B0609020204030204" pitchFamily="49" charset="0"/>
              </a:rPr>
              <a:t>-collect-mark</a:t>
            </a:r>
          </a:p>
        </p:txBody>
      </p:sp>
      <p:cxnSp>
        <p:nvCxnSpPr>
          <p:cNvPr id="29" name="Straight Arrow Connector 28"/>
          <p:cNvCxnSpPr/>
          <p:nvPr/>
        </p:nvCxnSpPr>
        <p:spPr>
          <a:xfrm flipH="1" flipV="1">
            <a:off x="2762436" y="2508310"/>
            <a:ext cx="6214368" cy="2001547"/>
          </a:xfrm>
          <a:prstGeom prst="straightConnector1">
            <a:avLst/>
          </a:prstGeom>
          <a:ln>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8913181" y="3305082"/>
            <a:ext cx="2254928" cy="597763"/>
          </a:xfrm>
          <a:prstGeom prst="round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Timeline of profile</a:t>
            </a:r>
          </a:p>
        </p:txBody>
      </p:sp>
      <p:cxnSp>
        <p:nvCxnSpPr>
          <p:cNvPr id="31" name="Straight Arrow Connector 30"/>
          <p:cNvCxnSpPr/>
          <p:nvPr/>
        </p:nvCxnSpPr>
        <p:spPr>
          <a:xfrm flipH="1" flipV="1">
            <a:off x="8717872" y="2929631"/>
            <a:ext cx="258932" cy="718351"/>
          </a:xfrm>
          <a:prstGeom prst="straightConnector1">
            <a:avLst/>
          </a:prstGeom>
          <a:ln>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sp>
        <p:nvSpPr>
          <p:cNvPr id="33" name="Right Brace 32"/>
          <p:cNvSpPr/>
          <p:nvPr/>
        </p:nvSpPr>
        <p:spPr>
          <a:xfrm>
            <a:off x="8601354" y="2204991"/>
            <a:ext cx="173114" cy="782713"/>
          </a:xfrm>
          <a:prstGeom prst="rightBrace">
            <a:avLst/>
          </a:prstGeom>
          <a:ln>
            <a:solidFill>
              <a:schemeClr val="tx2"/>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36" name="Right Brace 35"/>
          <p:cNvSpPr/>
          <p:nvPr/>
        </p:nvSpPr>
        <p:spPr>
          <a:xfrm>
            <a:off x="8615779" y="3133815"/>
            <a:ext cx="199746" cy="2467995"/>
          </a:xfrm>
          <a:prstGeom prst="rightBrace">
            <a:avLst/>
          </a:prstGeom>
          <a:ln>
            <a:solidFill>
              <a:schemeClr val="tx2"/>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37" name="Rounded Rectangle 36"/>
          <p:cNvSpPr/>
          <p:nvPr/>
        </p:nvSpPr>
        <p:spPr>
          <a:xfrm>
            <a:off x="8913181" y="4889746"/>
            <a:ext cx="2254928" cy="597763"/>
          </a:xfrm>
          <a:prstGeom prst="round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Detailed performance data</a:t>
            </a:r>
          </a:p>
        </p:txBody>
      </p:sp>
      <p:sp>
        <p:nvSpPr>
          <p:cNvPr id="38" name="Rounded Rectangle 37"/>
          <p:cNvSpPr/>
          <p:nvPr/>
        </p:nvSpPr>
        <p:spPr>
          <a:xfrm>
            <a:off x="7483876" y="4352276"/>
            <a:ext cx="461640" cy="355107"/>
          </a:xfrm>
          <a:prstGeom prst="roundRect">
            <a:avLst/>
          </a:prstGeom>
          <a:no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dirty="0"/>
          </a:p>
        </p:txBody>
      </p:sp>
      <p:sp>
        <p:nvSpPr>
          <p:cNvPr id="39" name="Rounded Rectangle 38"/>
          <p:cNvSpPr/>
          <p:nvPr/>
        </p:nvSpPr>
        <p:spPr>
          <a:xfrm>
            <a:off x="8913181" y="5601810"/>
            <a:ext cx="2254928" cy="763298"/>
          </a:xfrm>
          <a:prstGeom prst="round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Average for selected time range</a:t>
            </a:r>
          </a:p>
        </p:txBody>
      </p:sp>
      <p:cxnSp>
        <p:nvCxnSpPr>
          <p:cNvPr id="40" name="Straight Arrow Connector 39"/>
          <p:cNvCxnSpPr/>
          <p:nvPr/>
        </p:nvCxnSpPr>
        <p:spPr>
          <a:xfrm flipH="1" flipV="1">
            <a:off x="7945516" y="4586426"/>
            <a:ext cx="967665" cy="1303909"/>
          </a:xfrm>
          <a:prstGeom prst="straightConnector1">
            <a:avLst/>
          </a:prstGeom>
          <a:ln>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7471314" y="4867182"/>
            <a:ext cx="461640" cy="355107"/>
          </a:xfrm>
          <a:prstGeom prst="roundRect">
            <a:avLst/>
          </a:prstGeom>
          <a:no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dirty="0"/>
          </a:p>
        </p:txBody>
      </p:sp>
      <p:cxnSp>
        <p:nvCxnSpPr>
          <p:cNvPr id="44" name="Straight Arrow Connector 43"/>
          <p:cNvCxnSpPr/>
          <p:nvPr/>
        </p:nvCxnSpPr>
        <p:spPr>
          <a:xfrm flipH="1" flipV="1">
            <a:off x="7945516" y="5029755"/>
            <a:ext cx="1120066" cy="1012981"/>
          </a:xfrm>
          <a:prstGeom prst="straightConnector1">
            <a:avLst/>
          </a:prstGeom>
          <a:ln>
            <a:solidFill>
              <a:schemeClr val="tx2"/>
            </a:solidFill>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764217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0"/>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1"/>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6"/>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0"/>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43"/>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8"/>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44"/>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2" grpId="0" animBg="1"/>
      <p:bldP spid="15" grpId="0" animBg="1"/>
      <p:bldP spid="17" grpId="0" animBg="1"/>
      <p:bldP spid="21" grpId="0" animBg="1"/>
      <p:bldP spid="22" grpId="0" animBg="1"/>
      <p:bldP spid="26" grpId="0" animBg="1"/>
      <p:bldP spid="27" grpId="0" animBg="1"/>
      <p:bldP spid="28" grpId="0" animBg="1"/>
      <p:bldP spid="30" grpId="0" animBg="1"/>
      <p:bldP spid="33" grpId="0" animBg="1"/>
      <p:bldP spid="36" grpId="0" animBg="1"/>
      <p:bldP spid="37" grpId="0" animBg="1"/>
      <p:bldP spid="38" grpId="0" animBg="1"/>
      <p:bldP spid="39" grpId="0" animBg="1"/>
      <p:bldP spid="43"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Explanation of Views</a:t>
            </a:r>
          </a:p>
        </p:txBody>
      </p:sp>
      <p:sp>
        <p:nvSpPr>
          <p:cNvPr id="2" name="Slide Number Placeholder 1"/>
          <p:cNvSpPr>
            <a:spLocks noGrp="1"/>
          </p:cNvSpPr>
          <p:nvPr>
            <p:ph type="sldNum" sz="quarter" idx="12"/>
          </p:nvPr>
        </p:nvSpPr>
        <p:spPr/>
        <p:txBody>
          <a:bodyPr/>
          <a:lstStyle/>
          <a:p>
            <a:fld id="{2559E7D0-7987-45FB-ADFA-76FF10705580}" type="slidenum">
              <a:rPr lang="en-US" smtClean="0"/>
              <a:t>29</a:t>
            </a:fld>
            <a:endParaRPr lang="en-US"/>
          </a:p>
        </p:txBody>
      </p:sp>
      <p:sp>
        <p:nvSpPr>
          <p:cNvPr id="5" name="Footer Placeholder 4"/>
          <p:cNvSpPr>
            <a:spLocks noGrp="1"/>
          </p:cNvSpPr>
          <p:nvPr>
            <p:ph type="ftr" sz="quarter" idx="3"/>
          </p:nvPr>
        </p:nvSpPr>
        <p:spPr/>
        <p:txBody>
          <a:bodyPr/>
          <a:lstStyle/>
          <a:p>
            <a:r>
              <a:rPr lang="en-US"/>
              <a:t>Intel Confidential</a:t>
            </a:r>
          </a:p>
        </p:txBody>
      </p:sp>
    </p:spTree>
    <p:extLst>
      <p:ext uri="{BB962C8B-B14F-4D97-AF65-F5344CB8AC3E}">
        <p14:creationId xmlns:p14="http://schemas.microsoft.com/office/powerpoint/2010/main" val="26987045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7B074DC-53A4-4939-84C7-45108117554F}" type="slidenum">
              <a:rPr lang="en-US" smtClean="0"/>
              <a:t>30</a:t>
            </a:fld>
            <a:endParaRPr lang="en-US"/>
          </a:p>
        </p:txBody>
      </p:sp>
      <p:sp>
        <p:nvSpPr>
          <p:cNvPr id="6" name="Title 5"/>
          <p:cNvSpPr>
            <a:spLocks noGrp="1"/>
          </p:cNvSpPr>
          <p:nvPr>
            <p:ph type="title"/>
          </p:nvPr>
        </p:nvSpPr>
        <p:spPr>
          <a:xfrm>
            <a:off x="607484" y="0"/>
            <a:ext cx="10972800" cy="1158240"/>
          </a:xfrm>
        </p:spPr>
        <p:txBody>
          <a:bodyPr/>
          <a:lstStyle/>
          <a:p>
            <a:r>
              <a:rPr lang="en-US" dirty="0"/>
              <a:t>Overview i.e. Opening View –</a:t>
            </a:r>
            <a:br>
              <a:rPr lang="en-US" dirty="0"/>
            </a:br>
            <a:r>
              <a:rPr lang="en-US" sz="2800" dirty="0"/>
              <a:t>How is the system behaving?</a:t>
            </a:r>
          </a:p>
        </p:txBody>
      </p:sp>
      <p:sp>
        <p:nvSpPr>
          <p:cNvPr id="7" name="Content Placeholder 6"/>
          <p:cNvSpPr>
            <a:spLocks noGrp="1"/>
          </p:cNvSpPr>
          <p:nvPr>
            <p:ph sz="quarter" idx="13"/>
          </p:nvPr>
        </p:nvSpPr>
        <p:spPr>
          <a:xfrm>
            <a:off x="607484" y="1158240"/>
            <a:ext cx="10970683" cy="5013961"/>
          </a:xfrm>
        </p:spPr>
        <p:txBody>
          <a:bodyPr numCol="2">
            <a:normAutofit lnSpcReduction="10000"/>
          </a:bodyPr>
          <a:lstStyle/>
          <a:p>
            <a:pPr marL="342900" indent="-342900">
              <a:buFont typeface="Arial" panose="020B0604020202020204" pitchFamily="34" charset="0"/>
              <a:buChar char="•"/>
            </a:pPr>
            <a:r>
              <a:rPr lang="en-US" dirty="0"/>
              <a:t>CPU (System Level) Metrics</a:t>
            </a:r>
          </a:p>
          <a:p>
            <a:pPr marL="643459" lvl="1" indent="-342900">
              <a:buFont typeface="Arial" panose="020B0604020202020204" pitchFamily="34" charset="0"/>
              <a:buChar char="•"/>
            </a:pPr>
            <a:r>
              <a:rPr lang="en-US" dirty="0"/>
              <a:t>Utilization</a:t>
            </a:r>
          </a:p>
          <a:p>
            <a:pPr marL="643459" lvl="1" indent="-342900">
              <a:buFont typeface="Arial" panose="020B0604020202020204" pitchFamily="34" charset="0"/>
              <a:buChar char="•"/>
            </a:pPr>
            <a:r>
              <a:rPr lang="en-US" dirty="0"/>
              <a:t>Frequency</a:t>
            </a:r>
          </a:p>
          <a:p>
            <a:pPr marL="643459" lvl="1" indent="-342900">
              <a:buFont typeface="Arial" panose="020B0604020202020204" pitchFamily="34" charset="0"/>
              <a:buChar char="•"/>
            </a:pPr>
            <a:r>
              <a:rPr lang="en-US" dirty="0"/>
              <a:t>Power (Watts and C-State)</a:t>
            </a:r>
          </a:p>
          <a:p>
            <a:pPr marL="643459" lvl="1" indent="-342900">
              <a:buFont typeface="Arial" panose="020B0604020202020204" pitchFamily="34" charset="0"/>
              <a:buChar char="•"/>
            </a:pPr>
            <a:r>
              <a:rPr lang="en-US" dirty="0"/>
              <a:t>CPI</a:t>
            </a:r>
          </a:p>
          <a:p>
            <a:pPr marL="342900" indent="-342900">
              <a:buFont typeface="Arial" panose="020B0604020202020204" pitchFamily="34" charset="0"/>
              <a:buChar char="•"/>
            </a:pPr>
            <a:r>
              <a:rPr lang="en-US" dirty="0"/>
              <a:t>Interconnect Metrics</a:t>
            </a:r>
          </a:p>
          <a:p>
            <a:pPr marL="643459" lvl="1" indent="-342900">
              <a:buFont typeface="Arial" panose="020B0604020202020204" pitchFamily="34" charset="0"/>
              <a:buChar char="•"/>
            </a:pPr>
            <a:r>
              <a:rPr lang="en-US" dirty="0"/>
              <a:t>Memory Throughput</a:t>
            </a:r>
          </a:p>
          <a:p>
            <a:pPr marL="1104881" lvl="2" indent="-342900">
              <a:buFont typeface="Arial" panose="020B0604020202020204" pitchFamily="34" charset="0"/>
              <a:buChar char="•"/>
            </a:pPr>
            <a:r>
              <a:rPr lang="en-US" dirty="0"/>
              <a:t>DRAM and Intel® </a:t>
            </a:r>
            <a:r>
              <a:rPr lang="en-US" dirty="0" err="1"/>
              <a:t>Optane</a:t>
            </a:r>
            <a:r>
              <a:rPr lang="en-US" dirty="0"/>
              <a:t>™ DC Persistent Memory</a:t>
            </a:r>
          </a:p>
          <a:p>
            <a:pPr marL="643459" lvl="1" indent="-342900">
              <a:buFont typeface="Arial" panose="020B0604020202020204" pitchFamily="34" charset="0"/>
              <a:buChar char="•"/>
            </a:pPr>
            <a:r>
              <a:rPr lang="en-US" dirty="0"/>
              <a:t>Socket Interconnect Throughput</a:t>
            </a:r>
          </a:p>
          <a:p>
            <a:pPr marL="643459" lvl="1" indent="-342900">
              <a:buFont typeface="Arial" panose="020B0604020202020204" pitchFamily="34" charset="0"/>
              <a:buChar char="•"/>
            </a:pPr>
            <a:r>
              <a:rPr lang="en-US" dirty="0"/>
              <a:t>I/O Throughput</a:t>
            </a:r>
          </a:p>
          <a:p>
            <a:pPr marL="342900" indent="-342900">
              <a:buFont typeface="Arial" panose="020B0604020202020204" pitchFamily="34" charset="0"/>
              <a:buChar char="•"/>
            </a:pPr>
            <a:r>
              <a:rPr lang="en-US" dirty="0"/>
              <a:t>Device Metrics</a:t>
            </a:r>
          </a:p>
          <a:p>
            <a:pPr marL="643459" lvl="1" indent="-342900">
              <a:buFont typeface="Arial" panose="020B0604020202020204" pitchFamily="34" charset="0"/>
              <a:buChar char="•"/>
            </a:pPr>
            <a:r>
              <a:rPr lang="en-US" dirty="0"/>
              <a:t>Disk</a:t>
            </a:r>
          </a:p>
          <a:p>
            <a:pPr marL="1104881" lvl="2" indent="-342900">
              <a:buFont typeface="Arial" panose="020B0604020202020204" pitchFamily="34" charset="0"/>
              <a:buChar char="•"/>
            </a:pPr>
            <a:r>
              <a:rPr lang="en-US" dirty="0"/>
              <a:t>Throughput</a:t>
            </a:r>
          </a:p>
          <a:p>
            <a:pPr marL="1104881" lvl="2" indent="-342900">
              <a:buFont typeface="Arial" panose="020B0604020202020204" pitchFamily="34" charset="0"/>
              <a:buChar char="•"/>
            </a:pPr>
            <a:r>
              <a:rPr lang="en-US" dirty="0"/>
              <a:t>IOPS</a:t>
            </a:r>
          </a:p>
          <a:p>
            <a:pPr marL="643459" lvl="1" indent="-342900">
              <a:buFont typeface="Arial" panose="020B0604020202020204" pitchFamily="34" charset="0"/>
              <a:buChar char="•"/>
            </a:pPr>
            <a:r>
              <a:rPr lang="en-US" dirty="0"/>
              <a:t>Network</a:t>
            </a:r>
          </a:p>
          <a:p>
            <a:pPr marL="1104881" lvl="2" indent="-342900">
              <a:buFont typeface="Arial" panose="020B0604020202020204" pitchFamily="34" charset="0"/>
              <a:buChar char="•"/>
            </a:pPr>
            <a:r>
              <a:rPr lang="en-US" dirty="0"/>
              <a:t>Send / Receive Throughput</a:t>
            </a:r>
          </a:p>
          <a:p>
            <a:pPr marL="1104881" lvl="2" indent="-342900">
              <a:buFont typeface="Arial" panose="020B0604020202020204" pitchFamily="34" charset="0"/>
              <a:buChar char="•"/>
            </a:pPr>
            <a:r>
              <a:rPr lang="en-US" dirty="0" err="1"/>
              <a:t>Infiniband</a:t>
            </a:r>
            <a:r>
              <a:rPr lang="en-US" dirty="0"/>
              <a:t> - RDMA</a:t>
            </a:r>
          </a:p>
          <a:p>
            <a:r>
              <a:rPr lang="en-US" dirty="0"/>
              <a:t>	</a:t>
            </a:r>
          </a:p>
        </p:txBody>
      </p:sp>
      <p:sp>
        <p:nvSpPr>
          <p:cNvPr id="5" name="Footer Placeholder 4"/>
          <p:cNvSpPr>
            <a:spLocks noGrp="1"/>
          </p:cNvSpPr>
          <p:nvPr>
            <p:ph type="ftr" sz="quarter" idx="3"/>
          </p:nvPr>
        </p:nvSpPr>
        <p:spPr/>
        <p:txBody>
          <a:bodyPr/>
          <a:lstStyle/>
          <a:p>
            <a:r>
              <a:rPr lang="en-US"/>
              <a:t>Intel Confidential</a:t>
            </a:r>
          </a:p>
        </p:txBody>
      </p:sp>
    </p:spTree>
    <p:extLst>
      <p:ext uri="{BB962C8B-B14F-4D97-AF65-F5344CB8AC3E}">
        <p14:creationId xmlns:p14="http://schemas.microsoft.com/office/powerpoint/2010/main" val="307023776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07B074DC-53A4-4939-84C7-45108117554F}" type="slidenum">
              <a:rPr lang="en-US" smtClean="0"/>
              <a:t>31</a:t>
            </a:fld>
            <a:endParaRPr lang="en-US"/>
          </a:p>
        </p:txBody>
      </p:sp>
      <p:sp>
        <p:nvSpPr>
          <p:cNvPr id="3" name="Title 2"/>
          <p:cNvSpPr>
            <a:spLocks noGrp="1"/>
          </p:cNvSpPr>
          <p:nvPr>
            <p:ph type="title"/>
          </p:nvPr>
        </p:nvSpPr>
        <p:spPr>
          <a:xfrm>
            <a:off x="605367" y="0"/>
            <a:ext cx="10972800" cy="1158240"/>
          </a:xfrm>
        </p:spPr>
        <p:txBody>
          <a:bodyPr/>
          <a:lstStyle/>
          <a:p>
            <a:r>
              <a:rPr lang="en-US" dirty="0"/>
              <a:t>Socket View -</a:t>
            </a:r>
            <a:br>
              <a:rPr lang="en-US" dirty="0"/>
            </a:br>
            <a:r>
              <a:rPr lang="en-US" sz="2400" dirty="0"/>
              <a:t>How is this socket behaving?</a:t>
            </a:r>
          </a:p>
        </p:txBody>
      </p:sp>
      <p:sp>
        <p:nvSpPr>
          <p:cNvPr id="4" name="Content Placeholder 3"/>
          <p:cNvSpPr>
            <a:spLocks noGrp="1"/>
          </p:cNvSpPr>
          <p:nvPr>
            <p:ph sz="quarter" idx="13"/>
          </p:nvPr>
        </p:nvSpPr>
        <p:spPr>
          <a:xfrm>
            <a:off x="607484" y="1158240"/>
            <a:ext cx="10970683" cy="5013961"/>
          </a:xfrm>
        </p:spPr>
        <p:txBody>
          <a:bodyPr numCol="2">
            <a:normAutofit fontScale="92500" lnSpcReduction="20000"/>
          </a:bodyPr>
          <a:lstStyle/>
          <a:p>
            <a:pPr marL="342900" indent="-342900">
              <a:buFont typeface="Arial" panose="020B0604020202020204" pitchFamily="34" charset="0"/>
              <a:buChar char="•"/>
            </a:pPr>
            <a:r>
              <a:rPr lang="en-US" dirty="0"/>
              <a:t>Core Comparisons</a:t>
            </a:r>
          </a:p>
          <a:p>
            <a:pPr marL="643459" lvl="1" indent="-342900">
              <a:buFont typeface="Arial" panose="020B0604020202020204" pitchFamily="34" charset="0"/>
              <a:buChar char="•"/>
            </a:pPr>
            <a:r>
              <a:rPr lang="en-US" dirty="0"/>
              <a:t>Frequency</a:t>
            </a:r>
          </a:p>
          <a:p>
            <a:pPr marL="643459" lvl="1" indent="-342900">
              <a:buFont typeface="Arial" panose="020B0604020202020204" pitchFamily="34" charset="0"/>
              <a:buChar char="•"/>
            </a:pPr>
            <a:r>
              <a:rPr lang="en-US" dirty="0"/>
              <a:t>CPI</a:t>
            </a:r>
          </a:p>
          <a:p>
            <a:pPr marL="643459" lvl="1" indent="-342900">
              <a:buFont typeface="Arial" panose="020B0604020202020204" pitchFamily="34" charset="0"/>
              <a:buChar char="•"/>
            </a:pPr>
            <a:r>
              <a:rPr lang="en-US" dirty="0"/>
              <a:t>Utilization</a:t>
            </a:r>
          </a:p>
          <a:p>
            <a:pPr marL="643459" lvl="1" indent="-342900">
              <a:buFont typeface="Arial" panose="020B0604020202020204" pitchFamily="34" charset="0"/>
              <a:buChar char="•"/>
            </a:pPr>
            <a:r>
              <a:rPr lang="en-US" dirty="0"/>
              <a:t>C-State residencies</a:t>
            </a:r>
          </a:p>
          <a:p>
            <a:pPr marL="643459" lvl="1" indent="-342900">
              <a:buFont typeface="Arial" panose="020B0604020202020204" pitchFamily="34" charset="0"/>
              <a:buChar char="•"/>
            </a:pPr>
            <a:r>
              <a:rPr lang="en-US" dirty="0" err="1"/>
              <a:t>Uop’s</a:t>
            </a:r>
            <a:endParaRPr lang="en-US" dirty="0"/>
          </a:p>
          <a:p>
            <a:pPr marL="643459" lvl="1" indent="-342900">
              <a:buFont typeface="Arial" panose="020B0604020202020204" pitchFamily="34" charset="0"/>
              <a:buChar char="•"/>
            </a:pPr>
            <a:r>
              <a:rPr lang="en-US" dirty="0"/>
              <a:t>Operation Mix</a:t>
            </a:r>
          </a:p>
          <a:p>
            <a:pPr marL="1104881" lvl="2" indent="-342900">
              <a:buFont typeface="Arial" panose="020B0604020202020204" pitchFamily="34" charset="0"/>
              <a:buChar char="•"/>
            </a:pPr>
            <a:r>
              <a:rPr lang="en-US" dirty="0"/>
              <a:t>Memory Loads / Stores</a:t>
            </a:r>
          </a:p>
          <a:p>
            <a:pPr marL="1104881" lvl="2" indent="-342900">
              <a:buFont typeface="Arial" panose="020B0604020202020204" pitchFamily="34" charset="0"/>
              <a:buChar char="•"/>
            </a:pPr>
            <a:r>
              <a:rPr lang="en-US" dirty="0"/>
              <a:t>Branch vs. FP instructions</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Memory</a:t>
            </a:r>
          </a:p>
          <a:p>
            <a:pPr marL="1104881" lvl="2" indent="-342900">
              <a:buFont typeface="Arial" panose="020B0604020202020204" pitchFamily="34" charset="0"/>
              <a:buChar char="•"/>
            </a:pPr>
            <a:r>
              <a:rPr lang="en-US" dirty="0"/>
              <a:t>DRAM and Intel® </a:t>
            </a:r>
            <a:r>
              <a:rPr lang="en-US" dirty="0" err="1"/>
              <a:t>Optane</a:t>
            </a:r>
            <a:r>
              <a:rPr lang="en-US" dirty="0"/>
              <a:t>™ DC Persistent Memory</a:t>
            </a:r>
          </a:p>
          <a:p>
            <a:pPr marL="1636152" lvl="3" indent="-342900">
              <a:buFont typeface="Arial" panose="020B0604020202020204" pitchFamily="34" charset="0"/>
              <a:buChar char="•"/>
            </a:pPr>
            <a:r>
              <a:rPr lang="en-US" dirty="0"/>
              <a:t>Throughput</a:t>
            </a:r>
          </a:p>
          <a:p>
            <a:pPr marL="1636152" lvl="3" indent="-342900">
              <a:buFont typeface="Arial" panose="020B0604020202020204" pitchFamily="34" charset="0"/>
              <a:buChar char="•"/>
            </a:pPr>
            <a:r>
              <a:rPr lang="en-US" dirty="0"/>
              <a:t>Queue Latencies</a:t>
            </a:r>
          </a:p>
          <a:p>
            <a:pPr marL="342900" indent="-342900">
              <a:buFont typeface="Arial" panose="020B0604020202020204" pitchFamily="34" charset="0"/>
              <a:buChar char="•"/>
            </a:pPr>
            <a:r>
              <a:rPr lang="en-US" dirty="0"/>
              <a:t>Last Level Cache</a:t>
            </a:r>
          </a:p>
          <a:p>
            <a:pPr marL="1104881" lvl="2" indent="-342900">
              <a:buFont typeface="Arial" panose="020B0604020202020204" pitchFamily="34" charset="0"/>
              <a:buChar char="•"/>
            </a:pPr>
            <a:r>
              <a:rPr lang="en-US" dirty="0"/>
              <a:t>Latency</a:t>
            </a:r>
          </a:p>
          <a:p>
            <a:pPr marL="1104881" lvl="2" indent="-342900">
              <a:buFont typeface="Arial" panose="020B0604020202020204" pitchFamily="34" charset="0"/>
              <a:buChar char="•"/>
            </a:pPr>
            <a:r>
              <a:rPr lang="en-US" dirty="0"/>
              <a:t>NUMA</a:t>
            </a:r>
          </a:p>
          <a:p>
            <a:pPr marL="342900" indent="-342900">
              <a:buFont typeface="Arial" panose="020B0604020202020204" pitchFamily="34" charset="0"/>
              <a:buChar char="•"/>
            </a:pPr>
            <a:r>
              <a:rPr lang="en-US" dirty="0"/>
              <a:t>Attached I/O devices</a:t>
            </a:r>
          </a:p>
          <a:p>
            <a:pPr marL="643459" lvl="1" indent="-342900">
              <a:buFont typeface="Arial" panose="020B0604020202020204" pitchFamily="34" charset="0"/>
              <a:buChar char="•"/>
            </a:pPr>
            <a:r>
              <a:rPr lang="en-US" dirty="0"/>
              <a:t>Disk throughput/IOPS</a:t>
            </a:r>
          </a:p>
          <a:p>
            <a:pPr marL="643459" lvl="1" indent="-342900">
              <a:buFont typeface="Arial" panose="020B0604020202020204" pitchFamily="34" charset="0"/>
              <a:buChar char="•"/>
            </a:pPr>
            <a:r>
              <a:rPr lang="en-US" dirty="0"/>
              <a:t>Queue Depth</a:t>
            </a:r>
          </a:p>
          <a:p>
            <a:pPr marL="643459" lvl="1" indent="-342900">
              <a:buFont typeface="Arial" panose="020B0604020202020204" pitchFamily="34" charset="0"/>
              <a:buChar char="•"/>
            </a:pPr>
            <a:r>
              <a:rPr lang="en-US" dirty="0"/>
              <a:t>Response latencies (Read and Write)</a:t>
            </a:r>
          </a:p>
        </p:txBody>
      </p:sp>
      <p:sp>
        <p:nvSpPr>
          <p:cNvPr id="5" name="Footer Placeholder 4"/>
          <p:cNvSpPr>
            <a:spLocks noGrp="1"/>
          </p:cNvSpPr>
          <p:nvPr>
            <p:ph type="ftr" sz="quarter" idx="3"/>
          </p:nvPr>
        </p:nvSpPr>
        <p:spPr/>
        <p:txBody>
          <a:bodyPr/>
          <a:lstStyle/>
          <a:p>
            <a:r>
              <a:rPr lang="en-US"/>
              <a:t>Intel Confidential</a:t>
            </a:r>
          </a:p>
        </p:txBody>
      </p:sp>
    </p:spTree>
    <p:extLst>
      <p:ext uri="{BB962C8B-B14F-4D97-AF65-F5344CB8AC3E}">
        <p14:creationId xmlns:p14="http://schemas.microsoft.com/office/powerpoint/2010/main" val="16693557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07B074DC-53A4-4939-84C7-45108117554F}" type="slidenum">
              <a:rPr lang="en-US" smtClean="0"/>
              <a:t>32</a:t>
            </a:fld>
            <a:endParaRPr lang="en-US"/>
          </a:p>
        </p:txBody>
      </p:sp>
      <p:sp>
        <p:nvSpPr>
          <p:cNvPr id="3" name="Title 2"/>
          <p:cNvSpPr>
            <a:spLocks noGrp="1"/>
          </p:cNvSpPr>
          <p:nvPr>
            <p:ph type="title"/>
          </p:nvPr>
        </p:nvSpPr>
        <p:spPr>
          <a:xfrm>
            <a:off x="607484" y="0"/>
            <a:ext cx="10972800" cy="1158240"/>
          </a:xfrm>
        </p:spPr>
        <p:txBody>
          <a:bodyPr/>
          <a:lstStyle/>
          <a:p>
            <a:r>
              <a:rPr lang="en-US" dirty="0"/>
              <a:t>Core View</a:t>
            </a:r>
            <a:br>
              <a:rPr lang="en-US" dirty="0"/>
            </a:br>
            <a:r>
              <a:rPr lang="en-US" sz="2400" dirty="0"/>
              <a:t>How are the core pipelines and private caches behaving?</a:t>
            </a:r>
            <a:endParaRPr lang="en-US" dirty="0"/>
          </a:p>
        </p:txBody>
      </p:sp>
      <p:sp>
        <p:nvSpPr>
          <p:cNvPr id="4" name="Content Placeholder 3"/>
          <p:cNvSpPr>
            <a:spLocks noGrp="1"/>
          </p:cNvSpPr>
          <p:nvPr>
            <p:ph sz="quarter" idx="13"/>
          </p:nvPr>
        </p:nvSpPr>
        <p:spPr>
          <a:xfrm>
            <a:off x="607484" y="1158240"/>
            <a:ext cx="10970683" cy="4921021"/>
          </a:xfrm>
        </p:spPr>
        <p:txBody>
          <a:bodyPr numCol="2"/>
          <a:lstStyle/>
          <a:p>
            <a:pPr marL="342900" indent="-342900">
              <a:buFont typeface="Arial" panose="020B0604020202020204" pitchFamily="34" charset="0"/>
              <a:buChar char="•"/>
            </a:pPr>
            <a:r>
              <a:rPr lang="en-US" dirty="0"/>
              <a:t>Core – Timeline</a:t>
            </a:r>
          </a:p>
          <a:p>
            <a:pPr marL="643459" lvl="1" indent="-342900">
              <a:buFont typeface="Arial" panose="020B0604020202020204" pitchFamily="34" charset="0"/>
              <a:buChar char="•"/>
            </a:pPr>
            <a:r>
              <a:rPr lang="en-US" dirty="0"/>
              <a:t>Frequency</a:t>
            </a:r>
          </a:p>
          <a:p>
            <a:pPr marL="643459" lvl="1" indent="-342900">
              <a:buFont typeface="Arial" panose="020B0604020202020204" pitchFamily="34" charset="0"/>
              <a:buChar char="•"/>
            </a:pPr>
            <a:r>
              <a:rPr lang="en-US" dirty="0"/>
              <a:t>CPI</a:t>
            </a:r>
          </a:p>
          <a:p>
            <a:pPr marL="643459" lvl="1" indent="-342900">
              <a:buFont typeface="Arial" panose="020B0604020202020204" pitchFamily="34" charset="0"/>
              <a:buChar char="•"/>
            </a:pPr>
            <a:r>
              <a:rPr lang="en-US" dirty="0"/>
              <a:t>C-State Residencies</a:t>
            </a:r>
          </a:p>
          <a:p>
            <a:pPr marL="643459" lvl="1" indent="-342900">
              <a:buFont typeface="Arial" panose="020B0604020202020204" pitchFamily="34" charset="0"/>
              <a:buChar char="•"/>
            </a:pPr>
            <a:r>
              <a:rPr lang="en-US" dirty="0" err="1"/>
              <a:t>uOPS</a:t>
            </a:r>
            <a:r>
              <a:rPr lang="en-US" dirty="0"/>
              <a:t> </a:t>
            </a:r>
          </a:p>
          <a:p>
            <a:pPr marL="643459" lvl="1" indent="-342900">
              <a:buFont typeface="Arial" panose="020B0604020202020204" pitchFamily="34" charset="0"/>
              <a:buChar char="•"/>
            </a:pPr>
            <a:r>
              <a:rPr lang="en-US" dirty="0"/>
              <a:t>Memory Ops</a:t>
            </a:r>
          </a:p>
          <a:p>
            <a:pPr marL="643459" lvl="1" indent="-342900">
              <a:buFont typeface="Arial" panose="020B0604020202020204" pitchFamily="34" charset="0"/>
              <a:buChar char="•"/>
            </a:pPr>
            <a:r>
              <a:rPr lang="en-US" dirty="0"/>
              <a:t>L1 and L2 Cache Miss</a:t>
            </a:r>
          </a:p>
        </p:txBody>
      </p:sp>
      <p:sp>
        <p:nvSpPr>
          <p:cNvPr id="5" name="Footer Placeholder 4"/>
          <p:cNvSpPr>
            <a:spLocks noGrp="1"/>
          </p:cNvSpPr>
          <p:nvPr>
            <p:ph type="ftr" sz="quarter" idx="3"/>
          </p:nvPr>
        </p:nvSpPr>
        <p:spPr/>
        <p:txBody>
          <a:bodyPr/>
          <a:lstStyle/>
          <a:p>
            <a:r>
              <a:rPr lang="en-US"/>
              <a:t>Intel Confidential</a:t>
            </a:r>
          </a:p>
        </p:txBody>
      </p:sp>
    </p:spTree>
    <p:extLst>
      <p:ext uri="{BB962C8B-B14F-4D97-AF65-F5344CB8AC3E}">
        <p14:creationId xmlns:p14="http://schemas.microsoft.com/office/powerpoint/2010/main" val="27752986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07B074DC-53A4-4939-84C7-45108117554F}" type="slidenum">
              <a:rPr lang="en-US" smtClean="0"/>
              <a:t>33</a:t>
            </a:fld>
            <a:endParaRPr lang="en-US"/>
          </a:p>
        </p:txBody>
      </p:sp>
      <p:sp>
        <p:nvSpPr>
          <p:cNvPr id="3" name="Title 2"/>
          <p:cNvSpPr>
            <a:spLocks noGrp="1"/>
          </p:cNvSpPr>
          <p:nvPr>
            <p:ph type="title"/>
          </p:nvPr>
        </p:nvSpPr>
        <p:spPr>
          <a:xfrm>
            <a:off x="607484" y="0"/>
            <a:ext cx="10972800" cy="1158240"/>
          </a:xfrm>
        </p:spPr>
        <p:txBody>
          <a:bodyPr/>
          <a:lstStyle/>
          <a:p>
            <a:r>
              <a:rPr lang="en-US" dirty="0"/>
              <a:t>Memory View</a:t>
            </a:r>
            <a:br>
              <a:rPr lang="en-US" dirty="0"/>
            </a:br>
            <a:r>
              <a:rPr lang="en-US" sz="2400" dirty="0"/>
              <a:t>How is the Memory sub-system behaving?</a:t>
            </a:r>
            <a:endParaRPr lang="en-US" dirty="0"/>
          </a:p>
        </p:txBody>
      </p:sp>
      <p:sp>
        <p:nvSpPr>
          <p:cNvPr id="4" name="Content Placeholder 3"/>
          <p:cNvSpPr>
            <a:spLocks noGrp="1"/>
          </p:cNvSpPr>
          <p:nvPr>
            <p:ph sz="quarter" idx="13"/>
          </p:nvPr>
        </p:nvSpPr>
        <p:spPr>
          <a:xfrm>
            <a:off x="607484" y="1158240"/>
            <a:ext cx="11236173" cy="4921021"/>
          </a:xfrm>
        </p:spPr>
        <p:txBody>
          <a:bodyPr numCol="2"/>
          <a:lstStyle/>
          <a:p>
            <a:pPr marL="342900" indent="-342900">
              <a:buFont typeface="Arial" panose="020B0604020202020204" pitchFamily="34" charset="0"/>
              <a:buChar char="•"/>
            </a:pPr>
            <a:r>
              <a:rPr lang="en-US" dirty="0"/>
              <a:t>System Level</a:t>
            </a:r>
          </a:p>
          <a:p>
            <a:pPr marL="643459" lvl="1" indent="-342900">
              <a:buFont typeface="Arial" panose="020B0604020202020204" pitchFamily="34" charset="0"/>
              <a:buChar char="•"/>
            </a:pPr>
            <a:r>
              <a:rPr lang="en-US" dirty="0"/>
              <a:t>Memory Consumption</a:t>
            </a:r>
          </a:p>
          <a:p>
            <a:pPr marL="643459" lvl="1" indent="-342900">
              <a:buFont typeface="Arial" panose="020B0604020202020204" pitchFamily="34" charset="0"/>
              <a:buChar char="•"/>
            </a:pPr>
            <a:r>
              <a:rPr lang="en-US" dirty="0"/>
              <a:t>Page Faults</a:t>
            </a:r>
          </a:p>
          <a:p>
            <a:pPr marL="643459" lvl="1" indent="-342900">
              <a:buFont typeface="Arial" panose="020B0604020202020204" pitchFamily="34" charset="0"/>
              <a:buChar char="•"/>
            </a:pPr>
            <a:r>
              <a:rPr lang="en-US" dirty="0"/>
              <a:t>DRAM Power</a:t>
            </a:r>
          </a:p>
          <a:p>
            <a:pPr marL="342900" indent="-342900">
              <a:buFont typeface="Arial" panose="020B0604020202020204" pitchFamily="34" charset="0"/>
              <a:buChar char="•"/>
            </a:pPr>
            <a:r>
              <a:rPr lang="en-US" dirty="0"/>
              <a:t>Per Socket – Per Channel</a:t>
            </a:r>
          </a:p>
          <a:p>
            <a:pPr marL="643459" lvl="1" indent="-342900">
              <a:buFont typeface="Arial" panose="020B0604020202020204" pitchFamily="34" charset="0"/>
              <a:buChar char="•"/>
            </a:pPr>
            <a:r>
              <a:rPr lang="en-US" dirty="0"/>
              <a:t>Memory Controller - DRAM</a:t>
            </a:r>
          </a:p>
          <a:p>
            <a:pPr marL="1104881" lvl="2" indent="-342900">
              <a:buFont typeface="Arial" panose="020B0604020202020204" pitchFamily="34" charset="0"/>
              <a:buChar char="•"/>
            </a:pPr>
            <a:r>
              <a:rPr lang="en-US" dirty="0"/>
              <a:t>Read / Write Throughput</a:t>
            </a:r>
          </a:p>
          <a:p>
            <a:pPr marL="1104881" lvl="2" indent="-342900">
              <a:buFont typeface="Arial" panose="020B0604020202020204" pitchFamily="34" charset="0"/>
              <a:buChar char="•"/>
            </a:pPr>
            <a:r>
              <a:rPr lang="en-US" dirty="0"/>
              <a:t>Read Ratio</a:t>
            </a:r>
          </a:p>
          <a:p>
            <a:pPr marL="1104881" lvl="2" indent="-342900">
              <a:buFont typeface="Arial" panose="020B0604020202020204" pitchFamily="34" charset="0"/>
              <a:buChar char="•"/>
            </a:pPr>
            <a:r>
              <a:rPr lang="en-US" dirty="0"/>
              <a:t>Read / Write Op Latency</a:t>
            </a:r>
          </a:p>
          <a:p>
            <a:pPr lvl="2" indent="0">
              <a:buNone/>
            </a:pPr>
            <a:endParaRPr lang="en-US" dirty="0"/>
          </a:p>
          <a:p>
            <a:pPr marL="643459" lvl="1" indent="-342900">
              <a:buFont typeface="Arial" panose="020B0604020202020204" pitchFamily="34" charset="0"/>
              <a:buChar char="•"/>
            </a:pPr>
            <a:r>
              <a:rPr lang="en-US" dirty="0"/>
              <a:t>Memory Controller – Intel® </a:t>
            </a:r>
            <a:r>
              <a:rPr lang="en-US" dirty="0" err="1"/>
              <a:t>Optane</a:t>
            </a:r>
            <a:r>
              <a:rPr lang="en-US" dirty="0"/>
              <a:t>™ DC Persistent Memory</a:t>
            </a:r>
          </a:p>
          <a:p>
            <a:pPr marL="1104881" lvl="2" indent="-342900">
              <a:buFont typeface="Arial" panose="020B0604020202020204" pitchFamily="34" charset="0"/>
              <a:buChar char="•"/>
            </a:pPr>
            <a:r>
              <a:rPr lang="en-US" dirty="0"/>
              <a:t>Read / Write Throughput</a:t>
            </a:r>
          </a:p>
          <a:p>
            <a:pPr marL="1104881" lvl="2" indent="-342900">
              <a:buFont typeface="Arial" panose="020B0604020202020204" pitchFamily="34" charset="0"/>
              <a:buChar char="•"/>
            </a:pPr>
            <a:r>
              <a:rPr lang="en-US" dirty="0"/>
              <a:t>Read Ratio</a:t>
            </a:r>
          </a:p>
          <a:p>
            <a:pPr marL="1104881" lvl="2" indent="-342900">
              <a:buFont typeface="Arial" panose="020B0604020202020204" pitchFamily="34" charset="0"/>
              <a:buChar char="•"/>
            </a:pPr>
            <a:r>
              <a:rPr lang="en-US" dirty="0"/>
              <a:t>Read / Write Op Latency</a:t>
            </a:r>
          </a:p>
          <a:p>
            <a:pPr marL="643459" lvl="1" indent="-342900">
              <a:buFont typeface="Arial" panose="020B0604020202020204" pitchFamily="34" charset="0"/>
              <a:buChar char="•"/>
            </a:pPr>
            <a:r>
              <a:rPr lang="en-US" dirty="0"/>
              <a:t>Intel® </a:t>
            </a:r>
            <a:r>
              <a:rPr lang="en-US" dirty="0" err="1"/>
              <a:t>Optane</a:t>
            </a:r>
            <a:r>
              <a:rPr lang="en-US" dirty="0"/>
              <a:t>™ DC Persistent Memory DIMM – Characterization</a:t>
            </a:r>
          </a:p>
          <a:p>
            <a:pPr marL="1104881" lvl="2" indent="-342900">
              <a:buFont typeface="Arial" panose="020B0604020202020204" pitchFamily="34" charset="0"/>
              <a:buChar char="•"/>
            </a:pPr>
            <a:r>
              <a:rPr lang="en-US" dirty="0"/>
              <a:t>Media Operations</a:t>
            </a:r>
          </a:p>
          <a:p>
            <a:pPr marL="1104881" lvl="2" indent="-342900">
              <a:buFont typeface="Arial" panose="020B0604020202020204" pitchFamily="34" charset="0"/>
              <a:buChar char="•"/>
            </a:pPr>
            <a:r>
              <a:rPr lang="en-US" dirty="0"/>
              <a:t>Controller Operations</a:t>
            </a:r>
          </a:p>
          <a:p>
            <a:pPr marL="1104881" lvl="2" indent="-342900">
              <a:buFont typeface="Arial" panose="020B0604020202020204" pitchFamily="34" charset="0"/>
              <a:buChar char="•"/>
            </a:pPr>
            <a:r>
              <a:rPr lang="en-US" dirty="0"/>
              <a:t>System Operations</a:t>
            </a:r>
          </a:p>
          <a:p>
            <a:pPr marL="1104881" lvl="2" indent="-342900">
              <a:buFont typeface="Arial" panose="020B0604020202020204" pitchFamily="34" charset="0"/>
              <a:buChar char="•"/>
            </a:pPr>
            <a:r>
              <a:rPr lang="en-US" dirty="0"/>
              <a:t>DIMM cache</a:t>
            </a:r>
          </a:p>
        </p:txBody>
      </p:sp>
      <p:sp>
        <p:nvSpPr>
          <p:cNvPr id="5" name="Footer Placeholder 4"/>
          <p:cNvSpPr>
            <a:spLocks noGrp="1"/>
          </p:cNvSpPr>
          <p:nvPr>
            <p:ph type="ftr" sz="quarter" idx="3"/>
          </p:nvPr>
        </p:nvSpPr>
        <p:spPr/>
        <p:txBody>
          <a:bodyPr/>
          <a:lstStyle/>
          <a:p>
            <a:r>
              <a:rPr lang="en-US" dirty="0"/>
              <a:t>Intel Confidential</a:t>
            </a:r>
          </a:p>
        </p:txBody>
      </p:sp>
    </p:spTree>
    <p:extLst>
      <p:ext uri="{BB962C8B-B14F-4D97-AF65-F5344CB8AC3E}">
        <p14:creationId xmlns:p14="http://schemas.microsoft.com/office/powerpoint/2010/main" val="4608594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07B074DC-53A4-4939-84C7-45108117554F}" type="slidenum">
              <a:rPr lang="en-US" smtClean="0"/>
              <a:t>34</a:t>
            </a:fld>
            <a:endParaRPr lang="en-US"/>
          </a:p>
        </p:txBody>
      </p:sp>
      <p:sp>
        <p:nvSpPr>
          <p:cNvPr id="3" name="Title 2"/>
          <p:cNvSpPr>
            <a:spLocks noGrp="1"/>
          </p:cNvSpPr>
          <p:nvPr>
            <p:ph type="title"/>
          </p:nvPr>
        </p:nvSpPr>
        <p:spPr>
          <a:xfrm>
            <a:off x="607484" y="0"/>
            <a:ext cx="10972800" cy="1158240"/>
          </a:xfrm>
        </p:spPr>
        <p:txBody>
          <a:bodyPr/>
          <a:lstStyle/>
          <a:p>
            <a:r>
              <a:rPr lang="en-US" dirty="0"/>
              <a:t>Disk View</a:t>
            </a:r>
            <a:br>
              <a:rPr lang="en-US" dirty="0"/>
            </a:br>
            <a:r>
              <a:rPr lang="en-US" sz="2400" dirty="0"/>
              <a:t>How are the attached disks behaving?</a:t>
            </a:r>
            <a:endParaRPr lang="en-US" dirty="0"/>
          </a:p>
        </p:txBody>
      </p:sp>
      <p:sp>
        <p:nvSpPr>
          <p:cNvPr id="4" name="Content Placeholder 3"/>
          <p:cNvSpPr>
            <a:spLocks noGrp="1"/>
          </p:cNvSpPr>
          <p:nvPr>
            <p:ph sz="quarter" idx="13"/>
          </p:nvPr>
        </p:nvSpPr>
        <p:spPr>
          <a:xfrm>
            <a:off x="607484" y="1158240"/>
            <a:ext cx="10970683" cy="4921021"/>
          </a:xfrm>
        </p:spPr>
        <p:txBody>
          <a:bodyPr numCol="2"/>
          <a:lstStyle/>
          <a:p>
            <a:pPr marL="342900" indent="-342900">
              <a:buFont typeface="Arial" panose="020B0604020202020204" pitchFamily="34" charset="0"/>
              <a:buChar char="•"/>
            </a:pPr>
            <a:r>
              <a:rPr lang="en-US" dirty="0"/>
              <a:t>For each attached storage device</a:t>
            </a:r>
          </a:p>
          <a:p>
            <a:pPr marL="643459" lvl="1" indent="-342900">
              <a:buFont typeface="Arial" panose="020B0604020202020204" pitchFamily="34" charset="0"/>
              <a:buChar char="•"/>
            </a:pPr>
            <a:r>
              <a:rPr lang="en-US" dirty="0"/>
              <a:t>Read / Write Throughput</a:t>
            </a:r>
          </a:p>
          <a:p>
            <a:pPr marL="643459" lvl="1" indent="-342900">
              <a:buFont typeface="Arial" panose="020B0604020202020204" pitchFamily="34" charset="0"/>
              <a:buChar char="•"/>
            </a:pPr>
            <a:r>
              <a:rPr lang="en-US" dirty="0"/>
              <a:t>Read / Write Operation Latency</a:t>
            </a:r>
          </a:p>
          <a:p>
            <a:pPr marL="643459" lvl="1" indent="-342900">
              <a:buFont typeface="Arial" panose="020B0604020202020204" pitchFamily="34" charset="0"/>
              <a:buChar char="•"/>
            </a:pPr>
            <a:r>
              <a:rPr lang="en-US" dirty="0"/>
              <a:t>Operation Mix</a:t>
            </a:r>
          </a:p>
          <a:p>
            <a:pPr marL="643459" lvl="1" indent="-342900">
              <a:buFont typeface="Arial" panose="020B0604020202020204" pitchFamily="34" charset="0"/>
              <a:buChar char="•"/>
            </a:pPr>
            <a:r>
              <a:rPr lang="en-US" dirty="0"/>
              <a:t>IOPS</a:t>
            </a:r>
          </a:p>
          <a:p>
            <a:pPr marL="643459" lvl="1" indent="-342900">
              <a:buFont typeface="Arial" panose="020B0604020202020204" pitchFamily="34" charset="0"/>
              <a:buChar char="•"/>
            </a:pPr>
            <a:r>
              <a:rPr lang="en-US" dirty="0"/>
              <a:t>Queue Depth</a:t>
            </a:r>
          </a:p>
          <a:p>
            <a:pPr marL="1104881" lvl="2" indent="-342900">
              <a:buFont typeface="Arial" panose="020B0604020202020204" pitchFamily="34" charset="0"/>
              <a:buChar char="•"/>
            </a:pPr>
            <a:r>
              <a:rPr lang="en-US" dirty="0"/>
              <a:t>Timeline</a:t>
            </a:r>
          </a:p>
          <a:p>
            <a:pPr marL="1104881" lvl="2" indent="-342900">
              <a:buFont typeface="Arial" panose="020B0604020202020204" pitchFamily="34" charset="0"/>
              <a:buChar char="•"/>
            </a:pPr>
            <a:r>
              <a:rPr lang="en-US" dirty="0"/>
              <a:t>Distribution</a:t>
            </a:r>
          </a:p>
          <a:p>
            <a:pPr marL="1104881" lvl="2" indent="-342900">
              <a:buFont typeface="Arial" panose="020B0604020202020204" pitchFamily="34" charset="0"/>
              <a:buChar char="•"/>
            </a:pPr>
            <a:endParaRPr lang="en-US" dirty="0"/>
          </a:p>
          <a:p>
            <a:pPr marL="643459" lvl="1" indent="-342900">
              <a:buFont typeface="Arial" panose="020B0604020202020204" pitchFamily="34" charset="0"/>
              <a:buChar char="•"/>
            </a:pPr>
            <a:r>
              <a:rPr lang="en-US" dirty="0"/>
              <a:t>Read / Write Block Size</a:t>
            </a:r>
          </a:p>
          <a:p>
            <a:pPr marL="1104881" lvl="2" indent="-342900">
              <a:buFont typeface="Arial" panose="020B0604020202020204" pitchFamily="34" charset="0"/>
              <a:buChar char="•"/>
            </a:pPr>
            <a:r>
              <a:rPr lang="en-US" dirty="0"/>
              <a:t>Timeline</a:t>
            </a:r>
          </a:p>
          <a:p>
            <a:pPr marL="1104881" lvl="2" indent="-342900">
              <a:buFont typeface="Arial" panose="020B0604020202020204" pitchFamily="34" charset="0"/>
              <a:buChar char="•"/>
            </a:pPr>
            <a:r>
              <a:rPr lang="en-US" dirty="0"/>
              <a:t>Distribution</a:t>
            </a:r>
          </a:p>
        </p:txBody>
      </p:sp>
      <p:sp>
        <p:nvSpPr>
          <p:cNvPr id="5" name="Footer Placeholder 4"/>
          <p:cNvSpPr>
            <a:spLocks noGrp="1"/>
          </p:cNvSpPr>
          <p:nvPr>
            <p:ph type="ftr" sz="quarter" idx="3"/>
          </p:nvPr>
        </p:nvSpPr>
        <p:spPr/>
        <p:txBody>
          <a:bodyPr/>
          <a:lstStyle/>
          <a:p>
            <a:r>
              <a:rPr lang="en-US"/>
              <a:t>Intel Confidential</a:t>
            </a:r>
          </a:p>
        </p:txBody>
      </p:sp>
    </p:spTree>
    <p:extLst>
      <p:ext uri="{BB962C8B-B14F-4D97-AF65-F5344CB8AC3E}">
        <p14:creationId xmlns:p14="http://schemas.microsoft.com/office/powerpoint/2010/main" val="318271418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07B074DC-53A4-4939-84C7-45108117554F}" type="slidenum">
              <a:rPr lang="en-US" smtClean="0"/>
              <a:t>35</a:t>
            </a:fld>
            <a:endParaRPr lang="en-US"/>
          </a:p>
        </p:txBody>
      </p:sp>
      <p:sp>
        <p:nvSpPr>
          <p:cNvPr id="6" name="Content Placeholder 5"/>
          <p:cNvSpPr>
            <a:spLocks noGrp="1"/>
          </p:cNvSpPr>
          <p:nvPr>
            <p:ph sz="half" idx="1"/>
          </p:nvPr>
        </p:nvSpPr>
        <p:spPr>
          <a:xfrm>
            <a:off x="607485" y="1158241"/>
            <a:ext cx="5342468" cy="5013960"/>
          </a:xfrm>
        </p:spPr>
        <p:txBody>
          <a:bodyPr>
            <a:normAutofit lnSpcReduction="10000"/>
          </a:bodyPr>
          <a:lstStyle/>
          <a:p>
            <a:pPr marL="342900" indent="-342900">
              <a:buFont typeface="Arial" panose="020B0604020202020204" pitchFamily="34" charset="0"/>
              <a:buChar char="•"/>
            </a:pPr>
            <a:r>
              <a:rPr lang="en-US" dirty="0"/>
              <a:t>Socket Level PCI-e</a:t>
            </a:r>
          </a:p>
          <a:p>
            <a:pPr marL="643459" lvl="1" indent="-342900">
              <a:buFont typeface="Arial" panose="020B0604020202020204" pitchFamily="34" charset="0"/>
              <a:buChar char="•"/>
            </a:pPr>
            <a:r>
              <a:rPr lang="en-US" dirty="0"/>
              <a:t>Bandwidth</a:t>
            </a:r>
          </a:p>
          <a:p>
            <a:pPr marL="643459" lvl="1" indent="-342900">
              <a:buFont typeface="Arial" panose="020B0604020202020204" pitchFamily="34" charset="0"/>
              <a:buChar char="•"/>
            </a:pPr>
            <a:r>
              <a:rPr lang="en-US" dirty="0"/>
              <a:t>Partial PCI Writes</a:t>
            </a:r>
          </a:p>
          <a:p>
            <a:pPr marL="643459" lvl="1" indent="-342900">
              <a:buFont typeface="Arial" panose="020B0604020202020204" pitchFamily="34" charset="0"/>
              <a:buChar char="•"/>
            </a:pPr>
            <a:r>
              <a:rPr lang="en-US" dirty="0"/>
              <a:t>I/O Cache Misses</a:t>
            </a:r>
          </a:p>
          <a:p>
            <a:pPr marL="342900" indent="-342900">
              <a:buFont typeface="Arial" panose="020B0604020202020204" pitchFamily="34" charset="0"/>
              <a:buChar char="•"/>
            </a:pPr>
            <a:r>
              <a:rPr lang="en-US" dirty="0"/>
              <a:t>Network</a:t>
            </a:r>
          </a:p>
          <a:p>
            <a:pPr marL="643459" lvl="1" indent="-342900">
              <a:buFont typeface="Arial" panose="020B0604020202020204" pitchFamily="34" charset="0"/>
              <a:buChar char="•"/>
            </a:pPr>
            <a:r>
              <a:rPr lang="en-US" dirty="0"/>
              <a:t>Ethernet</a:t>
            </a:r>
          </a:p>
          <a:p>
            <a:pPr marL="1104881" lvl="2" indent="-342900">
              <a:buFont typeface="Arial" panose="020B0604020202020204" pitchFamily="34" charset="0"/>
              <a:buChar char="•"/>
            </a:pPr>
            <a:r>
              <a:rPr lang="en-US" dirty="0"/>
              <a:t>Transmit / Receive Throughput</a:t>
            </a:r>
          </a:p>
          <a:p>
            <a:pPr marL="643459" lvl="1" indent="-342900">
              <a:buFont typeface="Arial" panose="020B0604020202020204" pitchFamily="34" charset="0"/>
              <a:buChar char="•"/>
            </a:pPr>
            <a:r>
              <a:rPr lang="en-US" dirty="0" err="1"/>
              <a:t>Infiniband</a:t>
            </a:r>
            <a:r>
              <a:rPr lang="en-US" dirty="0"/>
              <a:t> (where available)</a:t>
            </a:r>
          </a:p>
          <a:p>
            <a:pPr marL="1104881" lvl="2" indent="-342900">
              <a:buFont typeface="Arial" panose="020B0604020202020204" pitchFamily="34" charset="0"/>
              <a:buChar char="•"/>
            </a:pPr>
            <a:r>
              <a:rPr lang="en-US" dirty="0"/>
              <a:t>Overall Transmit / Receive Throughput</a:t>
            </a:r>
          </a:p>
          <a:p>
            <a:pPr marL="1104881" lvl="2" indent="-342900">
              <a:buFont typeface="Arial" panose="020B0604020202020204" pitchFamily="34" charset="0"/>
              <a:buChar char="•"/>
            </a:pPr>
            <a:r>
              <a:rPr lang="en-US" dirty="0"/>
              <a:t>RDMA Transmit / Receive Throughput</a:t>
            </a:r>
          </a:p>
          <a:p>
            <a:pPr marL="1104881" lvl="2" indent="-342900">
              <a:buFont typeface="Arial" panose="020B0604020202020204" pitchFamily="34" charset="0"/>
              <a:buChar char="•"/>
            </a:pPr>
            <a:r>
              <a:rPr lang="en-US" dirty="0"/>
              <a:t>RDMA Transmit / Receive Packet rate</a:t>
            </a:r>
          </a:p>
        </p:txBody>
      </p:sp>
      <p:sp>
        <p:nvSpPr>
          <p:cNvPr id="7" name="Content Placeholder 6"/>
          <p:cNvSpPr>
            <a:spLocks noGrp="1"/>
          </p:cNvSpPr>
          <p:nvPr>
            <p:ph sz="half" idx="13"/>
          </p:nvPr>
        </p:nvSpPr>
        <p:spPr>
          <a:xfrm>
            <a:off x="6237817" y="1158241"/>
            <a:ext cx="5340352" cy="5013960"/>
          </a:xfrm>
        </p:spPr>
        <p:txBody>
          <a:bodyPr/>
          <a:lstStyle/>
          <a:p>
            <a:pPr marL="342900" indent="-342900">
              <a:buFont typeface="Arial" panose="020B0604020202020204" pitchFamily="34" charset="0"/>
              <a:buChar char="•"/>
            </a:pPr>
            <a:r>
              <a:rPr lang="en-US" dirty="0"/>
              <a:t>UPI / QPI</a:t>
            </a:r>
          </a:p>
          <a:p>
            <a:pPr marL="643459" lvl="1" indent="-342900">
              <a:buFont typeface="Arial" panose="020B0604020202020204" pitchFamily="34" charset="0"/>
              <a:buChar char="•"/>
            </a:pPr>
            <a:r>
              <a:rPr lang="en-US" dirty="0"/>
              <a:t>Data Transmit Throughput</a:t>
            </a:r>
          </a:p>
          <a:p>
            <a:pPr marL="643459" lvl="1" indent="-342900">
              <a:buFont typeface="Arial" panose="020B0604020202020204" pitchFamily="34" charset="0"/>
              <a:buChar char="•"/>
            </a:pPr>
            <a:r>
              <a:rPr lang="en-US" dirty="0"/>
              <a:t>Half-width link, Transmit / Receive, utilization</a:t>
            </a:r>
          </a:p>
          <a:p>
            <a:pPr marL="643459" lvl="1" indent="-342900">
              <a:buFont typeface="Arial" panose="020B0604020202020204" pitchFamily="34" charset="0"/>
              <a:buChar char="•"/>
            </a:pPr>
            <a:r>
              <a:rPr lang="en-US" dirty="0"/>
              <a:t>Link Sleep State (where available)</a:t>
            </a:r>
          </a:p>
        </p:txBody>
      </p:sp>
      <p:sp>
        <p:nvSpPr>
          <p:cNvPr id="3" name="Title 2"/>
          <p:cNvSpPr>
            <a:spLocks noGrp="1"/>
          </p:cNvSpPr>
          <p:nvPr>
            <p:ph type="title"/>
          </p:nvPr>
        </p:nvSpPr>
        <p:spPr>
          <a:xfrm>
            <a:off x="609600" y="0"/>
            <a:ext cx="10972800" cy="1158240"/>
          </a:xfrm>
        </p:spPr>
        <p:txBody>
          <a:bodyPr/>
          <a:lstStyle/>
          <a:p>
            <a:r>
              <a:rPr lang="en-US" dirty="0"/>
              <a:t>I/O and Interconnect (QPI/UPI) Views</a:t>
            </a:r>
            <a:br>
              <a:rPr lang="en-US" dirty="0"/>
            </a:br>
            <a:r>
              <a:rPr lang="en-US" dirty="0"/>
              <a:t>	</a:t>
            </a:r>
            <a:r>
              <a:rPr lang="en-US" sz="2400" dirty="0"/>
              <a:t>How are the interconnects behaving?</a:t>
            </a:r>
            <a:endParaRPr lang="en-US" dirty="0"/>
          </a:p>
        </p:txBody>
      </p:sp>
      <p:sp>
        <p:nvSpPr>
          <p:cNvPr id="5" name="Footer Placeholder 4"/>
          <p:cNvSpPr>
            <a:spLocks noGrp="1"/>
          </p:cNvSpPr>
          <p:nvPr>
            <p:ph type="ftr" sz="quarter" idx="3"/>
          </p:nvPr>
        </p:nvSpPr>
        <p:spPr/>
        <p:txBody>
          <a:bodyPr/>
          <a:lstStyle/>
          <a:p>
            <a:r>
              <a:rPr lang="en-US"/>
              <a:t>Intel Confidential</a:t>
            </a:r>
          </a:p>
        </p:txBody>
      </p:sp>
    </p:spTree>
    <p:extLst>
      <p:ext uri="{BB962C8B-B14F-4D97-AF65-F5344CB8AC3E}">
        <p14:creationId xmlns:p14="http://schemas.microsoft.com/office/powerpoint/2010/main" val="238720271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667677981"/>
      </p:ext>
    </p:extLst>
  </p:cSld>
  <p:clrMapOvr>
    <a:masterClrMapping/>
  </p:clrMapOvr>
</p:sld>
</file>

<file path=ppt/theme/theme1.xml><?xml version="1.0" encoding="utf-8"?>
<a:theme xmlns:a="http://schemas.openxmlformats.org/drawingml/2006/main" name="Int_PPT Template_ClearPro_16x9">
  <a:themeElements>
    <a:clrScheme name="Intel Color Palette">
      <a:dk1>
        <a:sysClr val="windowText" lastClr="000000"/>
      </a:dk1>
      <a:lt1>
        <a:sysClr val="window" lastClr="FFFFFF"/>
      </a:lt1>
      <a:dk2>
        <a:srgbClr val="003C71"/>
      </a:dk2>
      <a:lt2>
        <a:srgbClr val="B1BABF"/>
      </a:lt2>
      <a:accent1>
        <a:srgbClr val="0071C5"/>
      </a:accent1>
      <a:accent2>
        <a:srgbClr val="00AEEF"/>
      </a:accent2>
      <a:accent3>
        <a:srgbClr val="F3D54E"/>
      </a:accent3>
      <a:accent4>
        <a:srgbClr val="FFA300"/>
      </a:accent4>
      <a:accent5>
        <a:srgbClr val="FC4C02"/>
      </a:accent5>
      <a:accent6>
        <a:srgbClr val="C3D600"/>
      </a:accent6>
      <a:hlink>
        <a:srgbClr val="0071C5"/>
      </a:hlink>
      <a:folHlink>
        <a:srgbClr val="00AEEF"/>
      </a:folHlink>
    </a:clrScheme>
    <a:fontScheme name="Intel Clear">
      <a:majorFont>
        <a:latin typeface="Intel Clear"/>
        <a:ea typeface=""/>
        <a:cs typeface=""/>
      </a:majorFont>
      <a:minorFont>
        <a:latin typeface="Intel Clear"/>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a:solidFill>
            <a:schemeClr val="tx2"/>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vert="horz" wrap="square" lIns="0" tIns="0" rIns="0" bIns="0" rtlCol="0">
        <a:spAutoFit/>
      </a:bodyPr>
      <a:lstStyle>
        <a:defPPr>
          <a:defRPr sz="1100" dirty="0" err="1" smtClean="0">
            <a:solidFill>
              <a:srgbClr val="003C71"/>
            </a:solidFill>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Intel_DPD_PPT_PREFERRED_Template_ClearPro_16x9_061715_2017</Template>
  <TotalTime>4414</TotalTime>
  <Words>1754</Words>
  <Application>Microsoft Office PowerPoint</Application>
  <PresentationFormat>Widescreen</PresentationFormat>
  <Paragraphs>418</Paragraphs>
  <Slides>36</Slides>
  <Notes>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36</vt:i4>
      </vt:variant>
    </vt:vector>
  </HeadingPairs>
  <TitlesOfParts>
    <vt:vector size="44" baseType="lpstr">
      <vt:lpstr>Wingdings</vt:lpstr>
      <vt:lpstr>Arial</vt:lpstr>
      <vt:lpstr>Courier New</vt:lpstr>
      <vt:lpstr>Intel Clear Pro</vt:lpstr>
      <vt:lpstr>Consolas</vt:lpstr>
      <vt:lpstr>Intel Clear</vt:lpstr>
      <vt:lpstr>Calibri</vt:lpstr>
      <vt:lpstr>Int_PPT Template_ClearPro_16x9</vt:lpstr>
      <vt:lpstr>Intel VTune™ Amplifier – Platform Profiler</vt:lpstr>
      <vt:lpstr>Updates in VPP 2019 release</vt:lpstr>
      <vt:lpstr>Agenda</vt:lpstr>
      <vt:lpstr>Goal of today’s meeting</vt:lpstr>
      <vt:lpstr>The Long &amp; Short of Performance Analysis Get the big picture first with a Snapshot or Platform Profiler</vt:lpstr>
      <vt:lpstr>Performance Optimization - Big picture first, then the details</vt:lpstr>
      <vt:lpstr>Platform Profiler</vt:lpstr>
      <vt:lpstr>Platform Profiler Identify system configuration issues</vt:lpstr>
      <vt:lpstr>PowerPoint Presentation</vt:lpstr>
      <vt:lpstr>PowerPoint Presentation</vt:lpstr>
      <vt:lpstr>PowerPoint Presentation</vt:lpstr>
      <vt:lpstr>PowerPoint Presentation</vt:lpstr>
      <vt:lpstr>PowerPoint Presentation</vt:lpstr>
      <vt:lpstr>Main components (and terminology)</vt:lpstr>
      <vt:lpstr>Workflow overview</vt:lpstr>
      <vt:lpstr>Installation</vt:lpstr>
      <vt:lpstr>Collect the profiles</vt:lpstr>
      <vt:lpstr>Quick-usage primer</vt:lpstr>
      <vt:lpstr>Collecting data (Linux and Windows) </vt:lpstr>
      <vt:lpstr>Upload the profiles</vt:lpstr>
      <vt:lpstr>Workflow overview</vt:lpstr>
      <vt:lpstr>Uploading data using command line</vt:lpstr>
      <vt:lpstr>Uploading data using web interface</vt:lpstr>
      <vt:lpstr>View the results</vt:lpstr>
      <vt:lpstr>Workflow overview</vt:lpstr>
      <vt:lpstr>Viewing and analyzing results</vt:lpstr>
      <vt:lpstr>navigate the results</vt:lpstr>
      <vt:lpstr>PowerPoint Presentation</vt:lpstr>
      <vt:lpstr>Explanation of Views</vt:lpstr>
      <vt:lpstr>Overview i.e. Opening View – How is the system behaving?</vt:lpstr>
      <vt:lpstr>Socket View - How is this socket behaving?</vt:lpstr>
      <vt:lpstr>Core View How are the core pipelines and private caches behaving?</vt:lpstr>
      <vt:lpstr>Memory View How is the Memory sub-system behaving?</vt:lpstr>
      <vt:lpstr>Disk View How are the attached disks behaving?</vt:lpstr>
      <vt:lpstr>I/O and Interconnect (QPI/UPI) Views  How are the interconnects behaving?</vt:lpstr>
      <vt:lpstr>PowerPoint Presentation</vt:lpstr>
    </vt:vector>
  </TitlesOfParts>
  <Company>Intel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Intel Performance Analysis for single node</dc:title>
  <dc:creator>Shankar, Bhanu</dc:creator>
  <cp:keywords>CTPClassification=CTP_IC:VisualMarkings=, CTPClassification=CTP_IC</cp:keywords>
  <cp:lastModifiedBy>Song, Kee SangX</cp:lastModifiedBy>
  <cp:revision>158</cp:revision>
  <dcterms:created xsi:type="dcterms:W3CDTF">2017-07-05T14:25:11Z</dcterms:created>
  <dcterms:modified xsi:type="dcterms:W3CDTF">2019-04-24T07:27:06Z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8d171c35-6212-455f-88d8-e2a23fdd040d</vt:lpwstr>
  </property>
  <property fmtid="{D5CDD505-2E9C-101B-9397-08002B2CF9AE}" pid="3" name="CTP_BU">
    <vt:lpwstr>NETWORK PLATFORMS GROUP</vt:lpwstr>
  </property>
  <property fmtid="{D5CDD505-2E9C-101B-9397-08002B2CF9AE}" pid="4" name="CTP_TimeStamp">
    <vt:lpwstr>2019-04-24 07:27:00Z</vt:lpwstr>
  </property>
  <property fmtid="{D5CDD505-2E9C-101B-9397-08002B2CF9AE}" pid="5" name="CTPClassification">
    <vt:lpwstr>CTP_IC</vt:lpwstr>
  </property>
  <property fmtid="{D5CDD505-2E9C-101B-9397-08002B2CF9AE}" pid="6" name="Jive_VersionGuid">
    <vt:lpwstr>dd66be01-c49d-4568-ab20-83ec33089e48</vt:lpwstr>
  </property>
  <property fmtid="{D5CDD505-2E9C-101B-9397-08002B2CF9AE}" pid="7" name="Offisync_UniqueId">
    <vt:lpwstr>2418901</vt:lpwstr>
  </property>
  <property fmtid="{D5CDD505-2E9C-101B-9397-08002B2CF9AE}" pid="8" name="Offisync_ServerID">
    <vt:lpwstr>d001a694-7c66-4352-b53b-895ffdce369f</vt:lpwstr>
  </property>
  <property fmtid="{D5CDD505-2E9C-101B-9397-08002B2CF9AE}" pid="9" name="Jive_LatestUserAccountName">
    <vt:lpwstr>sksobhee</vt:lpwstr>
  </property>
  <property fmtid="{D5CDD505-2E9C-101B-9397-08002B2CF9AE}" pid="10" name="Offisync_UpdateToken">
    <vt:lpwstr>1</vt:lpwstr>
  </property>
  <property fmtid="{D5CDD505-2E9C-101B-9397-08002B2CF9AE}" pid="11" name="Offisync_ProviderInitializationData">
    <vt:lpwstr>https://soco.intel.com</vt:lpwstr>
  </property>
  <property fmtid="{D5CDD505-2E9C-101B-9397-08002B2CF9AE}" pid="12" name="Jive_ModifiedButNotPublished">
    <vt:lpwstr>True</vt:lpwstr>
  </property>
</Properties>
</file>